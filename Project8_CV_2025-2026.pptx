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That number frames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
WHY IT IS A TRAP HERE SPECIFICALLY — So the shortcut is not noise the model might latch onto — it is a near-perfect predictor handed to the classifier for free, requiring no image content at all.  Any encoder, trained or not, is evaluated through this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
WHAT THIS DOES AND DOES NOT PROVE — It proves that the prescribed evaluation cannot distinguish encoders, because a channel exists that answers the question without them.  Every comparison run under this protocol — including the one the assignment asks for — is therefore uninformative about representation quality. That is the finding, and the rest of the talk follows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One block class everywhere; the predictor's smallness is a design constraint, not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'Never saw a label' is the sentence that lands. Then the pooling/head asymmetry.
TWO CONSEQUENCES WORTH STATING — And the same frozen encoder can be compared against a randomly initialised one on equal terms: with fine-tuning that comparison would measure adaptability, not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numbers only: 16 px per patch, and 196 tokens fixed by the positional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the bridge: geometry enters at tiling time, so that is where we intervened.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Show the vector, then say we measured what depth does rather than assuming it.
WHY NOT THE LAST BLOCK ONLY — Concatenating three depths lets the trained pooling decide how much to weigh each, instead of us deciding in advance.
THE USUAL INTERPRETATION, AND OUR CAUTION — We do NOT present it as a measured fact about our encoder: we measured the depth profile instead, and it says something more specific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random-encoder row is the control that makes the other two readable.
READ THE FIRST ROW AGAINST THE OTHERS — This probe rewards geometry, so what the numbers say is precise: DEPTH PROGRESSIVELY DISCARDS THE SIZE INFORMATION. Block 2 still carries it; block 11 has largely shed it.
WHY THIS MATTERS FOR OUR THESIS — Across EPOCHS the encoder unlearns the bounding-box shortcut. Across DEPTH it does the same thing within a single forward pass.  That is also the honest reason for concatenating three blocks rather than trusting the deepest one: they carry different information, and the trained pooling is better placed than we are to decide how much of each to use.  And it is a caution about the textbook reading of depth — on this data the deepest block is not simply “the most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
WHY INSTANCE-LEVEL MIL IS THE PRINCIPLED ANSWER — We verified the invariance before measuring anything: varying the bag from 8 to 128 tokens moves the output by 6×10⁻⁸.
THE HYPOTHESIS IT FALSIFIED — The proven invariance was real and insufficient. It removed the count but not the extent: tokens carry positional embeddings, so a large box includes peripheral positions. The mean changes not because the terms are more numerous, but because they are different ones.  An invariance proved on one channel does not protect against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0.1 % line is the one to say aloud: it is why the comparison is about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
WITH THE BIAS REMOVED — Asked “how much PAI-5 tissue is this single token?”, a random projection cannot answer and a pre-trained one can. This is the largest margin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first row, then the precision column: that is where the novelty differs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interior optimum is the interesting part: it is explained, not just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
NOT ONE LUCKY K — On PR-AUC of the minority class the gain reaches +32 % at z = 8.72.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
WHAT THE THREE ROWS SAY TOGETHER — I-JEPA reaches its quality by epoch 69 and spends the next two hundred epochs partly unlearning the shortcut.
NOT AN ARTEFACT OF CHECKPOINT CHOICE — On macro-F1 its z = 2.14 falls below our own 2.31 threshold — we say so rather than round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Do not read the table — point at the three lines that matter: frozen, five seeds, PR-AUC on the minority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Point 3 pre-empts the sharpest question about our error bars — say it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left column without softening it. The right column is short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26</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26</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26</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Shape 5"/>
          <p:cNvSpPr/>
          <p:nvPr/>
        </p:nvSpPr>
        <p:spPr>
          <a:xfrm>
            <a:off x="7543800" y="1188720"/>
            <a:ext cx="4087368" cy="2240280"/>
          </a:xfrm>
          <a:prstGeom prst="roundRect">
            <a:avLst>
              <a:gd name="adj" fmla="val 2857"/>
            </a:avLst>
          </a:prstGeom>
          <a:solidFill>
            <a:srgbClr val="F4F6F7"/>
          </a:solidFill>
          <a:ln/>
        </p:spPr>
      </p:sp>
      <p:sp>
        <p:nvSpPr>
          <p:cNvPr id="9" name="Text 6"/>
          <p:cNvSpPr txBox="1"/>
          <p:nvPr/>
        </p:nvSpPr>
        <p:spPr>
          <a:xfrm>
            <a:off x="7726680" y="131673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this matters for a CNN-free pipeline</a:t>
            </a:r>
            <a:endParaRPr lang="en-US" sz="1450" dirty="0"/>
          </a:p>
        </p:txBody>
      </p:sp>
      <p:sp>
        <p:nvSpPr>
          <p:cNvPr id="10" name="Text 7"/>
          <p:cNvSpPr txBox="1"/>
          <p:nvPr/>
        </p:nvSpPr>
        <p:spPr>
          <a:xfrm>
            <a:off x="7726680" y="1645920"/>
            <a:ext cx="3721608" cy="16184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randomly initialised ViT already encodes lesion intensity (R² = 0.99) and lesion size (R² = 0.89) with no training whatsoever. Architecture plus geometry starts close to the ceiling — before any learning happens.</a:t>
            </a:r>
            <a:endParaRPr lang="en-US" sz="1200" dirty="0"/>
          </a:p>
        </p:txBody>
      </p:sp>
      <p:sp>
        <p:nvSpPr>
          <p:cNvPr id="11" name="Shape 8"/>
          <p:cNvSpPr/>
          <p:nvPr/>
        </p:nvSpPr>
        <p:spPr>
          <a:xfrm>
            <a:off x="7543800" y="3611880"/>
            <a:ext cx="4087368" cy="2103120"/>
          </a:xfrm>
          <a:prstGeom prst="roundRect">
            <a:avLst>
              <a:gd name="adj" fmla="val 3043"/>
            </a:avLst>
          </a:prstGeom>
          <a:solidFill>
            <a:srgbClr val="FBF3F2"/>
          </a:solidFill>
          <a:ln/>
        </p:spPr>
      </p:sp>
      <p:sp>
        <p:nvSpPr>
          <p:cNvPr id="12" name="Text 9"/>
          <p:cNvSpPr txBox="1"/>
          <p:nvPr/>
        </p:nvSpPr>
        <p:spPr>
          <a:xfrm>
            <a:off x="7726680" y="373989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The consequence we had to confront</a:t>
            </a:r>
            <a:endParaRPr lang="en-US" sz="1450" dirty="0"/>
          </a:p>
        </p:txBody>
      </p:sp>
      <p:sp>
        <p:nvSpPr>
          <p:cNvPr id="13" name="Text 10"/>
          <p:cNvSpPr txBox="1"/>
          <p:nvPr/>
        </p:nvSpPr>
        <p:spPr>
          <a:xfrm>
            <a:off x="7726680" y="4069080"/>
            <a:ext cx="37216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Any evaluation that gives the model access to lesion size through a side channel is measuring the disease definition, not the representation. This is what happened, and detecting it is the core of this work.</a:t>
            </a:r>
            <a:endParaRPr lang="en-US" sz="1200" dirty="0"/>
          </a:p>
        </p:txBody>
      </p:sp>
      <p:sp>
        <p:nvSpPr>
          <p:cNvPr id="14" name="Text 11"/>
          <p:cNvSpPr txBox="1"/>
          <p:nvPr/>
        </p:nvSpPr>
        <p:spPr>
          <a:xfrm>
            <a:off x="566928" y="5943600"/>
            <a:ext cx="11057839" cy="274320"/>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Dataset: 2,746 panoramic radiographs · 6,741 annotated lesions · patient-level split (4,719 / 1,009 / 1,013)   —   Do et al., Data in Brief 54:110486 (2024)</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26</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20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26</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26</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20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network: two encoders and a deliberately small predictor</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26</a:t>
            </a:r>
            <a:endParaRPr lang="en-US" sz="1050" dirty="0"/>
          </a:p>
        </p:txBody>
      </p:sp>
      <p:sp>
        <p:nvSpPr>
          <p:cNvPr id="5" name="Shape 3"/>
          <p:cNvSpPr/>
          <p:nvPr/>
        </p:nvSpPr>
        <p:spPr>
          <a:xfrm>
            <a:off x="566928" y="1280160"/>
            <a:ext cx="3200400" cy="2286000"/>
          </a:xfrm>
          <a:prstGeom prst="roundRect">
            <a:avLst>
              <a:gd name="adj" fmla="val 2400"/>
            </a:avLst>
          </a:prstGeom>
          <a:solidFill>
            <a:srgbClr val="FFFFFF"/>
          </a:solidFill>
          <a:ln w="20320">
            <a:solidFill>
              <a:srgbClr val="0B3C49"/>
            </a:solidFill>
            <a:prstDash val="solid"/>
          </a:ln>
        </p:spPr>
      </p:sp>
      <p:sp>
        <p:nvSpPr>
          <p:cNvPr id="6" name="Text 4"/>
          <p:cNvSpPr txBox="1"/>
          <p:nvPr/>
        </p:nvSpPr>
        <p:spPr>
          <a:xfrm>
            <a:off x="658368" y="1389888"/>
            <a:ext cx="3017520" cy="256032"/>
          </a:xfrm>
          <a:prstGeom prst="rect">
            <a:avLst/>
          </a:prstGeom>
          <a:noFill/>
          <a:ln/>
        </p:spPr>
        <p:txBody>
          <a:bodyPr wrap="square" lIns="0" tIns="0" rIns="0" bIns="0" rtlCol="0" anchor="ctr"/>
          <a:lstStyle/>
          <a:p>
            <a:pPr algn="ctr" indent="0" marL="0">
              <a:buNone/>
            </a:pPr>
            <a:r>
              <a:rPr lang="en-US" sz="1250" b="1" dirty="0">
                <a:solidFill>
                  <a:srgbClr val="0B3C49"/>
                </a:solidFill>
                <a:latin typeface="Calibri" pitchFamily="34" charset="0"/>
                <a:ea typeface="Calibri" pitchFamily="34" charset="-122"/>
                <a:cs typeface="Calibri" pitchFamily="34" charset="-120"/>
              </a:rPr>
              <a:t>Context encoder</a:t>
            </a:r>
            <a:endParaRPr lang="en-US" sz="1250" dirty="0"/>
          </a:p>
        </p:txBody>
      </p:sp>
      <p:sp>
        <p:nvSpPr>
          <p:cNvPr id="7" name="Text 5"/>
          <p:cNvSpPr txBox="1"/>
          <p:nvPr/>
        </p:nvSpPr>
        <p:spPr>
          <a:xfrm>
            <a:off x="65836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ViT-S/16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patch embed 16×16 → 384</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12 × Block (384, 6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LayerNorm</a:t>
            </a:r>
            <a:endParaRPr lang="en-US" sz="1050" dirty="0"/>
          </a:p>
        </p:txBody>
      </p:sp>
      <p:sp>
        <p:nvSpPr>
          <p:cNvPr id="8" name="Text 6"/>
          <p:cNvSpPr txBox="1"/>
          <p:nvPr/>
        </p:nvSpPr>
        <p:spPr>
          <a:xfrm>
            <a:off x="658368" y="3200400"/>
            <a:ext cx="3017520" cy="256032"/>
          </a:xfrm>
          <a:prstGeom prst="rect">
            <a:avLst/>
          </a:prstGeom>
          <a:noFill/>
          <a:ln/>
        </p:spPr>
        <p:txBody>
          <a:bodyPr wrap="square" lIns="0" tIns="0" rIns="0" bIns="0" rtlCol="0" anchor="ctr"/>
          <a:lstStyle/>
          <a:p>
            <a:pPr algn="ctr" indent="0" marL="0">
              <a:buNone/>
            </a:pPr>
            <a:r>
              <a:rPr lang="en-US" sz="1150" b="1" dirty="0">
                <a:solidFill>
                  <a:srgbClr val="0B3C49"/>
                </a:solidFill>
                <a:latin typeface="Calibri" pitchFamily="34" charset="0"/>
                <a:ea typeface="Calibri" pitchFamily="34" charset="-122"/>
                <a:cs typeface="Calibri" pitchFamily="34" charset="-120"/>
              </a:rPr>
              <a:t>21,589,632 par.</a:t>
            </a:r>
            <a:endParaRPr lang="en-US" sz="1150" dirty="0"/>
          </a:p>
        </p:txBody>
      </p:sp>
      <p:sp>
        <p:nvSpPr>
          <p:cNvPr id="9" name="Shape 7"/>
          <p:cNvSpPr/>
          <p:nvPr/>
        </p:nvSpPr>
        <p:spPr>
          <a:xfrm>
            <a:off x="4087368" y="1280160"/>
            <a:ext cx="2743200" cy="2286000"/>
          </a:xfrm>
          <a:prstGeom prst="roundRect">
            <a:avLst>
              <a:gd name="adj" fmla="val 2400"/>
            </a:avLst>
          </a:prstGeom>
          <a:solidFill>
            <a:srgbClr val="FFFFFF"/>
          </a:solidFill>
          <a:ln w="20320">
            <a:solidFill>
              <a:srgbClr val="1F6F43"/>
            </a:solidFill>
            <a:prstDash val="solid"/>
          </a:ln>
        </p:spPr>
      </p:sp>
      <p:sp>
        <p:nvSpPr>
          <p:cNvPr id="10" name="Text 8"/>
          <p:cNvSpPr txBox="1"/>
          <p:nvPr/>
        </p:nvSpPr>
        <p:spPr>
          <a:xfrm>
            <a:off x="4178808" y="1389888"/>
            <a:ext cx="2560320" cy="256032"/>
          </a:xfrm>
          <a:prstGeom prst="rect">
            <a:avLst/>
          </a:prstGeom>
          <a:noFill/>
          <a:ln/>
        </p:spPr>
        <p:txBody>
          <a:bodyPr wrap="square" lIns="0" tIns="0" rIns="0" bIns="0" rtlCol="0" anchor="ctr"/>
          <a:lstStyle/>
          <a:p>
            <a:pPr algn="ctr" indent="0" marL="0">
              <a:buNone/>
            </a:pPr>
            <a:r>
              <a:rPr lang="en-US" sz="1250" b="1" dirty="0">
                <a:solidFill>
                  <a:srgbClr val="1F6F43"/>
                </a:solidFill>
                <a:latin typeface="Calibri" pitchFamily="34" charset="0"/>
                <a:ea typeface="Calibri" pitchFamily="34" charset="-122"/>
                <a:cs typeface="Calibri" pitchFamily="34" charset="-120"/>
              </a:rPr>
              <a:t>Predictor</a:t>
            </a:r>
            <a:endParaRPr lang="en-US" sz="1250" dirty="0"/>
          </a:p>
        </p:txBody>
      </p:sp>
      <p:sp>
        <p:nvSpPr>
          <p:cNvPr id="11" name="Text 9"/>
          <p:cNvSpPr txBox="1"/>
          <p:nvPr/>
        </p:nvSpPr>
        <p:spPr>
          <a:xfrm>
            <a:off x="4178808" y="1664208"/>
            <a:ext cx="25603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384 → 96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4 × Block (96, 3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96 → 384</a:t>
            </a:r>
            <a:endParaRPr lang="en-US" sz="1050" dirty="0"/>
          </a:p>
        </p:txBody>
      </p:sp>
      <p:sp>
        <p:nvSpPr>
          <p:cNvPr id="12" name="Text 10"/>
          <p:cNvSpPr txBox="1"/>
          <p:nvPr/>
        </p:nvSpPr>
        <p:spPr>
          <a:xfrm>
            <a:off x="4178808" y="3200400"/>
            <a:ext cx="2560320" cy="256032"/>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521,856 par.</a:t>
            </a:r>
            <a:endParaRPr lang="en-US" sz="1150" dirty="0"/>
          </a:p>
        </p:txBody>
      </p:sp>
      <p:sp>
        <p:nvSpPr>
          <p:cNvPr id="13" name="Shape 11"/>
          <p:cNvSpPr/>
          <p:nvPr/>
        </p:nvSpPr>
        <p:spPr>
          <a:xfrm>
            <a:off x="7150608" y="1280160"/>
            <a:ext cx="3200400" cy="2286000"/>
          </a:xfrm>
          <a:prstGeom prst="roundRect">
            <a:avLst>
              <a:gd name="adj" fmla="val 2400"/>
            </a:avLst>
          </a:prstGeom>
          <a:solidFill>
            <a:srgbClr val="FFFFFF"/>
          </a:solidFill>
          <a:ln w="20320">
            <a:solidFill>
              <a:srgbClr val="1C7293"/>
            </a:solidFill>
            <a:prstDash val="solid"/>
          </a:ln>
        </p:spPr>
      </p:sp>
      <p:sp>
        <p:nvSpPr>
          <p:cNvPr id="14" name="Text 12"/>
          <p:cNvSpPr txBox="1"/>
          <p:nvPr/>
        </p:nvSpPr>
        <p:spPr>
          <a:xfrm>
            <a:off x="7242048" y="1389888"/>
            <a:ext cx="3017520" cy="256032"/>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Target encoder</a:t>
            </a:r>
            <a:endParaRPr lang="en-US" sz="1250" dirty="0"/>
          </a:p>
        </p:txBody>
      </p:sp>
      <p:sp>
        <p:nvSpPr>
          <p:cNvPr id="15" name="Text 13"/>
          <p:cNvSpPr txBox="1"/>
          <p:nvPr/>
        </p:nvSpPr>
        <p:spPr>
          <a:xfrm>
            <a:off x="724204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identical architecture</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same 12 blocks, same widths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only the weight VALUES differ</a:t>
            </a:r>
            <a:endParaRPr lang="en-US" sz="1050" dirty="0"/>
          </a:p>
        </p:txBody>
      </p:sp>
      <p:sp>
        <p:nvSpPr>
          <p:cNvPr id="16" name="Text 14"/>
          <p:cNvSpPr txBox="1"/>
          <p:nvPr/>
        </p:nvSpPr>
        <p:spPr>
          <a:xfrm>
            <a:off x="7242048" y="3200400"/>
            <a:ext cx="3017520" cy="256032"/>
          </a:xfrm>
          <a:prstGeom prst="rect">
            <a:avLst/>
          </a:prstGeom>
          <a:noFill/>
          <a:ln/>
        </p:spPr>
        <p:txBody>
          <a:bodyPr wrap="square" lIns="0" tIns="0" rIns="0" bIns="0" rtlCol="0" anchor="ctr"/>
          <a:lstStyle/>
          <a:p>
            <a:pPr algn="ctr" indent="0" marL="0">
              <a:buNone/>
            </a:pPr>
            <a:r>
              <a:rPr lang="en-US" sz="1150" b="1" dirty="0">
                <a:solidFill>
                  <a:srgbClr val="1C7293"/>
                </a:solidFill>
                <a:latin typeface="Calibri" pitchFamily="34" charset="0"/>
                <a:ea typeface="Calibri" pitchFamily="34" charset="-122"/>
                <a:cs typeface="Calibri" pitchFamily="34" charset="-120"/>
              </a:rPr>
              <a:t>21,589,632 par.</a:t>
            </a:r>
            <a:endParaRPr lang="en-US" sz="1150" dirty="0"/>
          </a:p>
        </p:txBody>
      </p:sp>
      <p:sp>
        <p:nvSpPr>
          <p:cNvPr id="17" name="Text 15"/>
          <p:cNvSpPr txBox="1"/>
          <p:nvPr/>
        </p:nvSpPr>
        <p:spPr>
          <a:xfrm>
            <a:off x="3767328" y="3657600"/>
            <a:ext cx="5943600" cy="27432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EMA:  θtarget ← τ·θtarget + (1−τ)·θcontext</a:t>
            </a:r>
            <a:endParaRPr lang="en-US" sz="1200" dirty="0"/>
          </a:p>
        </p:txBody>
      </p:sp>
      <p:sp>
        <p:nvSpPr>
          <p:cNvPr id="18" name="Shape 16"/>
          <p:cNvSpPr/>
          <p:nvPr/>
        </p:nvSpPr>
        <p:spPr>
          <a:xfrm>
            <a:off x="566928" y="4069080"/>
            <a:ext cx="5486400" cy="1920240"/>
          </a:xfrm>
          <a:prstGeom prst="roundRect">
            <a:avLst>
              <a:gd name="adj" fmla="val 3333"/>
            </a:avLst>
          </a:prstGeom>
          <a:solidFill>
            <a:srgbClr val="F4F6F7"/>
          </a:solidFill>
          <a:ln/>
        </p:spPr>
      </p:sp>
      <p:sp>
        <p:nvSpPr>
          <p:cNvPr id="19" name="Text 17"/>
          <p:cNvSpPr txBox="1"/>
          <p:nvPr/>
        </p:nvSpPr>
        <p:spPr>
          <a:xfrm>
            <a:off x="749808" y="419709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One block class, three instantiations</a:t>
            </a:r>
            <a:endParaRPr lang="en-US" sz="1450" dirty="0"/>
          </a:p>
        </p:txBody>
      </p:sp>
      <p:sp>
        <p:nvSpPr>
          <p:cNvPr id="20" name="Text 18"/>
          <p:cNvSpPr txBox="1"/>
          <p:nvPr/>
        </p:nvSpPr>
        <p:spPr>
          <a:xfrm>
            <a:off x="749808" y="4526280"/>
            <a:ext cx="512064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same Block — LayerNorm, multi-head attention, residual, LayerNorm, MLP (d→4d→d), residual — is used everywhere. The predictor is not a different architecture: it is the same one at width 96 instead of 384, repeated 4 times instead of 12.</a:t>
            </a:r>
            <a:endParaRPr lang="en-US" sz="1200" dirty="0"/>
          </a:p>
        </p:txBody>
      </p:sp>
      <p:sp>
        <p:nvSpPr>
          <p:cNvPr id="21" name="Shape 19"/>
          <p:cNvSpPr/>
          <p:nvPr/>
        </p:nvSpPr>
        <p:spPr>
          <a:xfrm>
            <a:off x="6263640" y="4069080"/>
            <a:ext cx="5367528" cy="1920240"/>
          </a:xfrm>
          <a:prstGeom prst="roundRect">
            <a:avLst>
              <a:gd name="adj" fmla="val 3333"/>
            </a:avLst>
          </a:prstGeom>
          <a:solidFill>
            <a:srgbClr val="F1F6F2"/>
          </a:solidFill>
          <a:ln/>
        </p:spPr>
      </p:sp>
      <p:sp>
        <p:nvSpPr>
          <p:cNvPr id="22" name="Text 20"/>
          <p:cNvSpPr txBox="1"/>
          <p:nvPr/>
        </p:nvSpPr>
        <p:spPr>
          <a:xfrm>
            <a:off x="6446520" y="4197096"/>
            <a:ext cx="500176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predictor is only 2.4 % of an encoder</a:t>
            </a:r>
            <a:endParaRPr lang="en-US" sz="1450" dirty="0"/>
          </a:p>
        </p:txBody>
      </p:sp>
      <p:sp>
        <p:nvSpPr>
          <p:cNvPr id="23" name="Text 21"/>
          <p:cNvSpPr txBox="1"/>
          <p:nvPr/>
        </p:nvSpPr>
        <p:spPr>
          <a:xfrm>
            <a:off x="6446520" y="4526280"/>
            <a:ext cx="500176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assignment asks for a SHALLOW predictor, and the reason is structural. If the predictor were capable enough to guess the targets on its own, the encoder would never be forced to build useful representations. The 384→96→384 bottleneck prevents that by construction.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“frozen” means, and what is actually trained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 21.6 M par.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Head — 5.3 M par.</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Encoder frozen, as required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no backbone weight moves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assignment requires the representations to be evaluated FROZEN. After pre-training, no weight of the backbone is updated again — not by the classifier's gradient, not by fine-tuning.</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2468880"/>
                <a:gridCol w="2011680"/>
                <a:gridCol w="3108960"/>
                <a:gridCol w="3474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During pre-training</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Downstream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Context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521,856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Target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C7293"/>
                          </a:solidFill>
                          <a:latin typeface="Calibri" pitchFamily="34" charset="0"/>
                          <a:ea typeface="Calibri" pitchFamily="34" charset="-122"/>
                          <a:cs typeface="Calibri" pitchFamily="34" charset="-120"/>
                        </a:rPr>
                        <a:t>EMA only, no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C7293"/>
                          </a:solidFill>
                          <a:latin typeface="Calibri" pitchFamily="34" charset="0"/>
                          <a:ea typeface="Calibri" pitchFamily="34" charset="-122"/>
                          <a:cs typeface="Calibri" pitchFamily="34" charset="-120"/>
                        </a:rPr>
                        <a:t>FROZEN — this is what we ship</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Head (flat)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5486400" cy="1554480"/>
          </a:xfrm>
          <a:prstGeom prst="roundRect">
            <a:avLst>
              <a:gd name="adj" fmla="val 4118"/>
            </a:avLst>
          </a:prstGeom>
          <a:solidFill>
            <a:srgbClr val="E4F0F2"/>
          </a:solidFill>
          <a:ln/>
        </p:spPr>
      </p:sp>
      <p:sp>
        <p:nvSpPr>
          <p:cNvPr id="20" name="Text 17"/>
          <p:cNvSpPr txBox="1"/>
          <p:nvPr/>
        </p:nvSpPr>
        <p:spPr>
          <a:xfrm>
            <a:off x="749808" y="4562856"/>
            <a:ext cx="5120640" cy="274320"/>
          </a:xfrm>
          <a:prstGeom prst="rect">
            <a:avLst/>
          </a:prstGeom>
          <a:noFill/>
          <a:ln/>
        </p:spPr>
        <p:txBody>
          <a:bodyPr wrap="square" lIns="0" tIns="0" rIns="0" bIns="0" rtlCol="0" anchor="ctr"/>
          <a:lstStyle/>
          <a:p>
            <a:pPr indent="0" marL="0">
              <a:buNone/>
            </a:pPr>
            <a:r>
              <a:rPr lang="en-US" sz="1450" b="1" dirty="0">
                <a:solidFill>
                  <a:srgbClr val="1C7293"/>
                </a:solidFill>
                <a:latin typeface="Cambria" pitchFamily="34" charset="0"/>
                <a:ea typeface="Cambria" pitchFamily="34" charset="-122"/>
                <a:cs typeface="Cambria" pitchFamily="34" charset="-120"/>
              </a:rPr>
              <a:t>Two consequences worth stating</a:t>
            </a:r>
            <a:endParaRPr lang="en-US" sz="1450" dirty="0"/>
          </a:p>
        </p:txBody>
      </p:sp>
      <p:sp>
        <p:nvSpPr>
          <p:cNvPr id="21" name="Text 18"/>
          <p:cNvSpPr txBox="1"/>
          <p:nvPr/>
        </p:nvSpPr>
        <p:spPr>
          <a:xfrm>
            <a:off x="749808" y="4892040"/>
            <a:ext cx="5120640"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encoder we deliver never saw a label — not one, at any point.</a:t>
            </a:r>
            <a:endParaRPr lang="en-US" sz="1200" dirty="0"/>
          </a:p>
        </p:txBody>
      </p:sp>
      <p:sp>
        <p:nvSpPr>
          <p:cNvPr id="22" name="Shape 19"/>
          <p:cNvSpPr/>
          <p:nvPr/>
        </p:nvSpPr>
        <p:spPr>
          <a:xfrm>
            <a:off x="6263640" y="4434840"/>
            <a:ext cx="5367528" cy="1554480"/>
          </a:xfrm>
          <a:prstGeom prst="roundRect">
            <a:avLst>
              <a:gd name="adj" fmla="val 4118"/>
            </a:avLst>
          </a:prstGeom>
          <a:solidFill>
            <a:srgbClr val="F4F6F7"/>
          </a:solidFill>
          <a:ln/>
        </p:spPr>
      </p:sp>
      <p:sp>
        <p:nvSpPr>
          <p:cNvPr id="23" name="Text 20"/>
          <p:cNvSpPr txBox="1"/>
          <p:nvPr/>
        </p:nvSpPr>
        <p:spPr>
          <a:xfrm>
            <a:off x="6446520" y="4562856"/>
            <a:ext cx="500176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trainable part is smaller than it looks</a:t>
            </a:r>
            <a:endParaRPr lang="en-US" sz="1450" dirty="0"/>
          </a:p>
        </p:txBody>
      </p:sp>
      <p:sp>
        <p:nvSpPr>
          <p:cNvPr id="24" name="Text 21"/>
          <p:cNvSpPr txBox="1"/>
          <p:nvPr/>
        </p:nvSpPr>
        <p:spPr>
          <a:xfrm>
            <a:off x="6446520" y="4892040"/>
            <a:ext cx="500176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5,319,939 parameters downstream — and 5,316,480 of them are the pooling. The classifier itself is 3,459: a single Linear from 1,152 to 3. Almost all downstream capacity sits in deciding HOW to aggregate tokens, not in classifying.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SPATIAL DECOMPOSITION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From a 224 px window to 196 tokens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ViT-S/16 patch embedding</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224 px input, fixed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14 × 14 = 196 tokens, always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26</a:t>
            </a:r>
            <a:endParaRPr lang="en-US" sz="1050" dirty="0"/>
          </a:p>
        </p:txBody>
      </p:sp>
      <p:sp>
        <p:nvSpPr>
          <p:cNvPr id="17" name="Text 15"/>
          <p:cNvSpPr txBox="1"/>
          <p:nvPr/>
        </p:nvSpPr>
        <p:spPr>
          <a:xfrm>
            <a:off x="566928" y="1691640"/>
            <a:ext cx="3566160" cy="566928"/>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The window is cut into a regular grid of square patches. Each patch becomes exactly one token — no pooling, no overlap, no resizing at this stage.</a:t>
            </a:r>
            <a:endParaRPr lang="en-US" sz="1250" dirty="0"/>
          </a:p>
        </p:txBody>
      </p:sp>
      <p:sp>
        <p:nvSpPr>
          <p:cNvPr id="18" name="Shape 16"/>
          <p:cNvSpPr/>
          <p:nvPr/>
        </p:nvSpPr>
        <p:spPr>
          <a:xfrm>
            <a:off x="822960" y="2395728"/>
            <a:ext cx="1920240" cy="1920240"/>
          </a:xfrm>
          <a:prstGeom prst="rect">
            <a:avLst/>
          </a:prstGeom>
          <a:solidFill>
            <a:srgbClr val="F4F6F7"/>
          </a:solidFill>
          <a:ln w="17780">
            <a:solidFill>
              <a:srgbClr val="0B3C49"/>
            </a:solidFill>
            <a:prstDash val="solid"/>
          </a:ln>
        </p:spPr>
      </p:sp>
      <p:sp>
        <p:nvSpPr>
          <p:cNvPr id="19" name="Shape 17"/>
          <p:cNvSpPr/>
          <p:nvPr/>
        </p:nvSpPr>
        <p:spPr>
          <a:xfrm>
            <a:off x="960120" y="2395728"/>
            <a:ext cx="0" cy="1920240"/>
          </a:xfrm>
          <a:prstGeom prst="line">
            <a:avLst/>
          </a:prstGeom>
          <a:noFill/>
          <a:ln w="6350">
            <a:solidFill>
              <a:srgbClr val="D6DBDF"/>
            </a:solidFill>
            <a:prstDash val="solid"/>
          </a:ln>
        </p:spPr>
      </p:sp>
      <p:sp>
        <p:nvSpPr>
          <p:cNvPr id="20" name="Shape 18"/>
          <p:cNvSpPr/>
          <p:nvPr/>
        </p:nvSpPr>
        <p:spPr>
          <a:xfrm>
            <a:off x="822960" y="2532888"/>
            <a:ext cx="1920240" cy="0"/>
          </a:xfrm>
          <a:prstGeom prst="line">
            <a:avLst/>
          </a:prstGeom>
          <a:noFill/>
          <a:ln w="6350">
            <a:solidFill>
              <a:srgbClr val="D6DBDF"/>
            </a:solidFill>
            <a:prstDash val="solid"/>
          </a:ln>
        </p:spPr>
      </p:sp>
      <p:sp>
        <p:nvSpPr>
          <p:cNvPr id="21" name="Shape 19"/>
          <p:cNvSpPr/>
          <p:nvPr/>
        </p:nvSpPr>
        <p:spPr>
          <a:xfrm>
            <a:off x="1097280" y="2395728"/>
            <a:ext cx="0" cy="1920240"/>
          </a:xfrm>
          <a:prstGeom prst="line">
            <a:avLst/>
          </a:prstGeom>
          <a:noFill/>
          <a:ln w="6350">
            <a:solidFill>
              <a:srgbClr val="D6DBDF"/>
            </a:solidFill>
            <a:prstDash val="solid"/>
          </a:ln>
        </p:spPr>
      </p:sp>
      <p:sp>
        <p:nvSpPr>
          <p:cNvPr id="22" name="Shape 20"/>
          <p:cNvSpPr/>
          <p:nvPr/>
        </p:nvSpPr>
        <p:spPr>
          <a:xfrm>
            <a:off x="822960" y="2670048"/>
            <a:ext cx="1920240" cy="0"/>
          </a:xfrm>
          <a:prstGeom prst="line">
            <a:avLst/>
          </a:prstGeom>
          <a:noFill/>
          <a:ln w="6350">
            <a:solidFill>
              <a:srgbClr val="D6DBDF"/>
            </a:solidFill>
            <a:prstDash val="solid"/>
          </a:ln>
        </p:spPr>
      </p:sp>
      <p:sp>
        <p:nvSpPr>
          <p:cNvPr id="23" name="Shape 21"/>
          <p:cNvSpPr/>
          <p:nvPr/>
        </p:nvSpPr>
        <p:spPr>
          <a:xfrm>
            <a:off x="1234440" y="2395728"/>
            <a:ext cx="0" cy="1920240"/>
          </a:xfrm>
          <a:prstGeom prst="line">
            <a:avLst/>
          </a:prstGeom>
          <a:noFill/>
          <a:ln w="6350">
            <a:solidFill>
              <a:srgbClr val="D6DBDF"/>
            </a:solidFill>
            <a:prstDash val="solid"/>
          </a:ln>
        </p:spPr>
      </p:sp>
      <p:sp>
        <p:nvSpPr>
          <p:cNvPr id="24" name="Shape 22"/>
          <p:cNvSpPr/>
          <p:nvPr/>
        </p:nvSpPr>
        <p:spPr>
          <a:xfrm>
            <a:off x="822960" y="2807208"/>
            <a:ext cx="1920240" cy="0"/>
          </a:xfrm>
          <a:prstGeom prst="line">
            <a:avLst/>
          </a:prstGeom>
          <a:noFill/>
          <a:ln w="6350">
            <a:solidFill>
              <a:srgbClr val="D6DBDF"/>
            </a:solidFill>
            <a:prstDash val="solid"/>
          </a:ln>
        </p:spPr>
      </p:sp>
      <p:sp>
        <p:nvSpPr>
          <p:cNvPr id="25" name="Shape 23"/>
          <p:cNvSpPr/>
          <p:nvPr/>
        </p:nvSpPr>
        <p:spPr>
          <a:xfrm>
            <a:off x="1371600" y="2395728"/>
            <a:ext cx="0" cy="1920240"/>
          </a:xfrm>
          <a:prstGeom prst="line">
            <a:avLst/>
          </a:prstGeom>
          <a:noFill/>
          <a:ln w="6350">
            <a:solidFill>
              <a:srgbClr val="D6DBDF"/>
            </a:solidFill>
            <a:prstDash val="solid"/>
          </a:ln>
        </p:spPr>
      </p:sp>
      <p:sp>
        <p:nvSpPr>
          <p:cNvPr id="26" name="Shape 24"/>
          <p:cNvSpPr/>
          <p:nvPr/>
        </p:nvSpPr>
        <p:spPr>
          <a:xfrm>
            <a:off x="822960" y="2944368"/>
            <a:ext cx="1920240" cy="0"/>
          </a:xfrm>
          <a:prstGeom prst="line">
            <a:avLst/>
          </a:prstGeom>
          <a:noFill/>
          <a:ln w="6350">
            <a:solidFill>
              <a:srgbClr val="D6DBDF"/>
            </a:solidFill>
            <a:prstDash val="solid"/>
          </a:ln>
        </p:spPr>
      </p:sp>
      <p:sp>
        <p:nvSpPr>
          <p:cNvPr id="27" name="Shape 25"/>
          <p:cNvSpPr/>
          <p:nvPr/>
        </p:nvSpPr>
        <p:spPr>
          <a:xfrm>
            <a:off x="1508760" y="2395728"/>
            <a:ext cx="0" cy="1920240"/>
          </a:xfrm>
          <a:prstGeom prst="line">
            <a:avLst/>
          </a:prstGeom>
          <a:noFill/>
          <a:ln w="6350">
            <a:solidFill>
              <a:srgbClr val="D6DBDF"/>
            </a:solidFill>
            <a:prstDash val="solid"/>
          </a:ln>
        </p:spPr>
      </p:sp>
      <p:sp>
        <p:nvSpPr>
          <p:cNvPr id="28" name="Shape 26"/>
          <p:cNvSpPr/>
          <p:nvPr/>
        </p:nvSpPr>
        <p:spPr>
          <a:xfrm>
            <a:off x="822960" y="3081528"/>
            <a:ext cx="1920240" cy="0"/>
          </a:xfrm>
          <a:prstGeom prst="line">
            <a:avLst/>
          </a:prstGeom>
          <a:noFill/>
          <a:ln w="6350">
            <a:solidFill>
              <a:srgbClr val="D6DBDF"/>
            </a:solidFill>
            <a:prstDash val="solid"/>
          </a:ln>
        </p:spPr>
      </p:sp>
      <p:sp>
        <p:nvSpPr>
          <p:cNvPr id="29" name="Shape 27"/>
          <p:cNvSpPr/>
          <p:nvPr/>
        </p:nvSpPr>
        <p:spPr>
          <a:xfrm>
            <a:off x="1645920" y="2395728"/>
            <a:ext cx="0" cy="1920240"/>
          </a:xfrm>
          <a:prstGeom prst="line">
            <a:avLst/>
          </a:prstGeom>
          <a:noFill/>
          <a:ln w="6350">
            <a:solidFill>
              <a:srgbClr val="D6DBDF"/>
            </a:solidFill>
            <a:prstDash val="solid"/>
          </a:ln>
        </p:spPr>
      </p:sp>
      <p:sp>
        <p:nvSpPr>
          <p:cNvPr id="30" name="Shape 28"/>
          <p:cNvSpPr/>
          <p:nvPr/>
        </p:nvSpPr>
        <p:spPr>
          <a:xfrm>
            <a:off x="822960" y="3218688"/>
            <a:ext cx="1920240" cy="0"/>
          </a:xfrm>
          <a:prstGeom prst="line">
            <a:avLst/>
          </a:prstGeom>
          <a:noFill/>
          <a:ln w="6350">
            <a:solidFill>
              <a:srgbClr val="D6DBDF"/>
            </a:solidFill>
            <a:prstDash val="solid"/>
          </a:ln>
        </p:spPr>
      </p:sp>
      <p:sp>
        <p:nvSpPr>
          <p:cNvPr id="31" name="Shape 29"/>
          <p:cNvSpPr/>
          <p:nvPr/>
        </p:nvSpPr>
        <p:spPr>
          <a:xfrm>
            <a:off x="1783080" y="2395728"/>
            <a:ext cx="0" cy="1920240"/>
          </a:xfrm>
          <a:prstGeom prst="line">
            <a:avLst/>
          </a:prstGeom>
          <a:noFill/>
          <a:ln w="6350">
            <a:solidFill>
              <a:srgbClr val="D6DBDF"/>
            </a:solidFill>
            <a:prstDash val="solid"/>
          </a:ln>
        </p:spPr>
      </p:sp>
      <p:sp>
        <p:nvSpPr>
          <p:cNvPr id="32" name="Shape 30"/>
          <p:cNvSpPr/>
          <p:nvPr/>
        </p:nvSpPr>
        <p:spPr>
          <a:xfrm>
            <a:off x="822960" y="3355848"/>
            <a:ext cx="1920240" cy="0"/>
          </a:xfrm>
          <a:prstGeom prst="line">
            <a:avLst/>
          </a:prstGeom>
          <a:noFill/>
          <a:ln w="6350">
            <a:solidFill>
              <a:srgbClr val="D6DBDF"/>
            </a:solidFill>
            <a:prstDash val="solid"/>
          </a:ln>
        </p:spPr>
      </p:sp>
      <p:sp>
        <p:nvSpPr>
          <p:cNvPr id="33" name="Shape 31"/>
          <p:cNvSpPr/>
          <p:nvPr/>
        </p:nvSpPr>
        <p:spPr>
          <a:xfrm>
            <a:off x="1920240" y="2395728"/>
            <a:ext cx="0" cy="1920240"/>
          </a:xfrm>
          <a:prstGeom prst="line">
            <a:avLst/>
          </a:prstGeom>
          <a:noFill/>
          <a:ln w="6350">
            <a:solidFill>
              <a:srgbClr val="D6DBDF"/>
            </a:solidFill>
            <a:prstDash val="solid"/>
          </a:ln>
        </p:spPr>
      </p:sp>
      <p:sp>
        <p:nvSpPr>
          <p:cNvPr id="34" name="Shape 32"/>
          <p:cNvSpPr/>
          <p:nvPr/>
        </p:nvSpPr>
        <p:spPr>
          <a:xfrm>
            <a:off x="822960" y="3493008"/>
            <a:ext cx="1920240" cy="0"/>
          </a:xfrm>
          <a:prstGeom prst="line">
            <a:avLst/>
          </a:prstGeom>
          <a:noFill/>
          <a:ln w="6350">
            <a:solidFill>
              <a:srgbClr val="D6DBDF"/>
            </a:solidFill>
            <a:prstDash val="solid"/>
          </a:ln>
        </p:spPr>
      </p:sp>
      <p:sp>
        <p:nvSpPr>
          <p:cNvPr id="35" name="Shape 33"/>
          <p:cNvSpPr/>
          <p:nvPr/>
        </p:nvSpPr>
        <p:spPr>
          <a:xfrm>
            <a:off x="2057400" y="2395728"/>
            <a:ext cx="0" cy="1920240"/>
          </a:xfrm>
          <a:prstGeom prst="line">
            <a:avLst/>
          </a:prstGeom>
          <a:noFill/>
          <a:ln w="6350">
            <a:solidFill>
              <a:srgbClr val="D6DBDF"/>
            </a:solidFill>
            <a:prstDash val="solid"/>
          </a:ln>
        </p:spPr>
      </p:sp>
      <p:sp>
        <p:nvSpPr>
          <p:cNvPr id="36" name="Shape 34"/>
          <p:cNvSpPr/>
          <p:nvPr/>
        </p:nvSpPr>
        <p:spPr>
          <a:xfrm>
            <a:off x="822960" y="3630168"/>
            <a:ext cx="1920240" cy="0"/>
          </a:xfrm>
          <a:prstGeom prst="line">
            <a:avLst/>
          </a:prstGeom>
          <a:noFill/>
          <a:ln w="6350">
            <a:solidFill>
              <a:srgbClr val="D6DBDF"/>
            </a:solidFill>
            <a:prstDash val="solid"/>
          </a:ln>
        </p:spPr>
      </p:sp>
      <p:sp>
        <p:nvSpPr>
          <p:cNvPr id="37" name="Shape 35"/>
          <p:cNvSpPr/>
          <p:nvPr/>
        </p:nvSpPr>
        <p:spPr>
          <a:xfrm>
            <a:off x="2194560" y="2395728"/>
            <a:ext cx="0" cy="1920240"/>
          </a:xfrm>
          <a:prstGeom prst="line">
            <a:avLst/>
          </a:prstGeom>
          <a:noFill/>
          <a:ln w="6350">
            <a:solidFill>
              <a:srgbClr val="D6DBDF"/>
            </a:solidFill>
            <a:prstDash val="solid"/>
          </a:ln>
        </p:spPr>
      </p:sp>
      <p:sp>
        <p:nvSpPr>
          <p:cNvPr id="38" name="Shape 36"/>
          <p:cNvSpPr/>
          <p:nvPr/>
        </p:nvSpPr>
        <p:spPr>
          <a:xfrm>
            <a:off x="822960" y="3767328"/>
            <a:ext cx="1920240" cy="0"/>
          </a:xfrm>
          <a:prstGeom prst="line">
            <a:avLst/>
          </a:prstGeom>
          <a:noFill/>
          <a:ln w="6350">
            <a:solidFill>
              <a:srgbClr val="D6DBDF"/>
            </a:solidFill>
            <a:prstDash val="solid"/>
          </a:ln>
        </p:spPr>
      </p:sp>
      <p:sp>
        <p:nvSpPr>
          <p:cNvPr id="39" name="Shape 37"/>
          <p:cNvSpPr/>
          <p:nvPr/>
        </p:nvSpPr>
        <p:spPr>
          <a:xfrm>
            <a:off x="2331720" y="2395728"/>
            <a:ext cx="0" cy="1920240"/>
          </a:xfrm>
          <a:prstGeom prst="line">
            <a:avLst/>
          </a:prstGeom>
          <a:noFill/>
          <a:ln w="6350">
            <a:solidFill>
              <a:srgbClr val="D6DBDF"/>
            </a:solidFill>
            <a:prstDash val="solid"/>
          </a:ln>
        </p:spPr>
      </p:sp>
      <p:sp>
        <p:nvSpPr>
          <p:cNvPr id="40" name="Shape 38"/>
          <p:cNvSpPr/>
          <p:nvPr/>
        </p:nvSpPr>
        <p:spPr>
          <a:xfrm>
            <a:off x="822960" y="3904488"/>
            <a:ext cx="1920240" cy="0"/>
          </a:xfrm>
          <a:prstGeom prst="line">
            <a:avLst/>
          </a:prstGeom>
          <a:noFill/>
          <a:ln w="6350">
            <a:solidFill>
              <a:srgbClr val="D6DBDF"/>
            </a:solidFill>
            <a:prstDash val="solid"/>
          </a:ln>
        </p:spPr>
      </p:sp>
      <p:sp>
        <p:nvSpPr>
          <p:cNvPr id="41" name="Shape 39"/>
          <p:cNvSpPr/>
          <p:nvPr/>
        </p:nvSpPr>
        <p:spPr>
          <a:xfrm>
            <a:off x="2468880" y="2395728"/>
            <a:ext cx="0" cy="1920240"/>
          </a:xfrm>
          <a:prstGeom prst="line">
            <a:avLst/>
          </a:prstGeom>
          <a:noFill/>
          <a:ln w="6350">
            <a:solidFill>
              <a:srgbClr val="D6DBDF"/>
            </a:solidFill>
            <a:prstDash val="solid"/>
          </a:ln>
        </p:spPr>
      </p:sp>
      <p:sp>
        <p:nvSpPr>
          <p:cNvPr id="42" name="Shape 40"/>
          <p:cNvSpPr/>
          <p:nvPr/>
        </p:nvSpPr>
        <p:spPr>
          <a:xfrm>
            <a:off x="822960" y="4041648"/>
            <a:ext cx="1920240" cy="0"/>
          </a:xfrm>
          <a:prstGeom prst="line">
            <a:avLst/>
          </a:prstGeom>
          <a:noFill/>
          <a:ln w="6350">
            <a:solidFill>
              <a:srgbClr val="D6DBDF"/>
            </a:solidFill>
            <a:prstDash val="solid"/>
          </a:ln>
        </p:spPr>
      </p:sp>
      <p:sp>
        <p:nvSpPr>
          <p:cNvPr id="43" name="Shape 41"/>
          <p:cNvSpPr/>
          <p:nvPr/>
        </p:nvSpPr>
        <p:spPr>
          <a:xfrm>
            <a:off x="2606040" y="2395728"/>
            <a:ext cx="0" cy="1920240"/>
          </a:xfrm>
          <a:prstGeom prst="line">
            <a:avLst/>
          </a:prstGeom>
          <a:noFill/>
          <a:ln w="6350">
            <a:solidFill>
              <a:srgbClr val="D6DBDF"/>
            </a:solidFill>
            <a:prstDash val="solid"/>
          </a:ln>
        </p:spPr>
      </p:sp>
      <p:sp>
        <p:nvSpPr>
          <p:cNvPr id="44" name="Shape 42"/>
          <p:cNvSpPr/>
          <p:nvPr/>
        </p:nvSpPr>
        <p:spPr>
          <a:xfrm>
            <a:off x="822960" y="4178808"/>
            <a:ext cx="1920240" cy="0"/>
          </a:xfrm>
          <a:prstGeom prst="line">
            <a:avLst/>
          </a:prstGeom>
          <a:noFill/>
          <a:ln w="6350">
            <a:solidFill>
              <a:srgbClr val="D6DBDF"/>
            </a:solidFill>
            <a:prstDash val="solid"/>
          </a:ln>
        </p:spPr>
      </p:sp>
      <p:sp>
        <p:nvSpPr>
          <p:cNvPr id="45" name="Shape 43"/>
          <p:cNvSpPr/>
          <p:nvPr/>
        </p:nvSpPr>
        <p:spPr>
          <a:xfrm>
            <a:off x="1508760" y="2944368"/>
            <a:ext cx="137160" cy="137160"/>
          </a:xfrm>
          <a:prstGeom prst="rect">
            <a:avLst/>
          </a:prstGeom>
          <a:solidFill>
            <a:srgbClr val="1F6F43"/>
          </a:solidFill>
          <a:ln/>
        </p:spPr>
      </p:sp>
      <p:sp>
        <p:nvSpPr>
          <p:cNvPr id="46" name="Shape 44"/>
          <p:cNvSpPr/>
          <p:nvPr/>
        </p:nvSpPr>
        <p:spPr>
          <a:xfrm>
            <a:off x="1645920" y="3012948"/>
            <a:ext cx="960120" cy="-182880"/>
          </a:xfrm>
          <a:prstGeom prst="line">
            <a:avLst/>
          </a:prstGeom>
          <a:noFill/>
          <a:ln w="15240">
            <a:solidFill>
              <a:srgbClr val="1F6F43"/>
            </a:solidFill>
            <a:prstDash val="solid"/>
            <a:tailEnd type="triangle"/>
          </a:ln>
        </p:spPr>
      </p:sp>
      <p:sp>
        <p:nvSpPr>
          <p:cNvPr id="47" name="Text 45"/>
          <p:cNvSpPr txBox="1"/>
          <p:nvPr/>
        </p:nvSpPr>
        <p:spPr>
          <a:xfrm>
            <a:off x="2852928" y="2697480"/>
            <a:ext cx="1325880" cy="685800"/>
          </a:xfrm>
          <a:prstGeom prst="rect">
            <a:avLst/>
          </a:prstGeom>
          <a:noFill/>
          <a:ln/>
        </p:spPr>
        <p:txBody>
          <a:bodyPr wrap="square" lIns="0" tIns="0" rIns="0" bIns="0" rtlCol="0" anchor="ctr"/>
          <a:lstStyle/>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one patch</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16 × 16 px</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 one token</a:t>
            </a:r>
            <a:endParaRPr lang="en-US" sz="1100" dirty="0"/>
          </a:p>
        </p:txBody>
      </p:sp>
      <p:sp>
        <p:nvSpPr>
          <p:cNvPr id="48" name="Text 46"/>
          <p:cNvSpPr txBox="1"/>
          <p:nvPr/>
        </p:nvSpPr>
        <p:spPr>
          <a:xfrm>
            <a:off x="822960" y="4389120"/>
            <a:ext cx="1920240" cy="219456"/>
          </a:xfrm>
          <a:prstGeom prst="rect">
            <a:avLst/>
          </a:prstGeom>
          <a:noFill/>
          <a:ln/>
        </p:spPr>
        <p:txBody>
          <a:bodyPr wrap="square" lIns="0" tIns="0" rIns="0" bIns="0" rtlCol="0" anchor="ctr"/>
          <a:lstStyle/>
          <a:p>
            <a:pPr algn="ctr" indent="0" marL="0">
              <a:buNone/>
            </a:pPr>
            <a:r>
              <a:rPr lang="en-US" sz="1100" dirty="0">
                <a:solidFill>
                  <a:srgbClr val="0B3C49"/>
                </a:solidFill>
                <a:latin typeface="Calibri" pitchFamily="34" charset="0"/>
                <a:ea typeface="Calibri" pitchFamily="34" charset="-122"/>
                <a:cs typeface="Calibri" pitchFamily="34" charset="-120"/>
              </a:rPr>
              <a:t>224 px  ·  14 × 14 cells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06240" y="2331720"/>
          <a:ext cx="7406640" cy="914400"/>
        </p:xfrm>
        <a:graphic>
          <a:graphicData uri="http://schemas.openxmlformats.org/drawingml/2006/table">
            <a:tbl>
              <a:tblPr/>
              <a:tblGrid>
                <a:gridCol w="1737360"/>
                <a:gridCol w="1371600"/>
                <a:gridCol w="42976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Quantity</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cannot change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Input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224 × 224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crop, chosen so lesion scale is preserved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Patch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16 × 16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Conv2d kernel = stride = 16 → exact, non-overlapping tiling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14 × 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224 ÷ 16 = 14, with no remainder and no padding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Tokens per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0B3C49"/>
                          </a:solidFill>
                          <a:latin typeface="Calibri" pitchFamily="34" charset="0"/>
                          <a:ea typeface="Calibri" pitchFamily="34" charset="-122"/>
                          <a:cs typeface="Calibri" pitchFamily="34" charset="-120"/>
                        </a:rPr>
                        <a:t>196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the positional embedding has exactly 196 entries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50" name="Shape 47"/>
          <p:cNvSpPr/>
          <p:nvPr/>
        </p:nvSpPr>
        <p:spPr>
          <a:xfrm>
            <a:off x="4206240" y="4114800"/>
            <a:ext cx="7406640" cy="868680"/>
          </a:xfrm>
          <a:prstGeom prst="roundRect">
            <a:avLst>
              <a:gd name="adj" fmla="val 7368"/>
            </a:avLst>
          </a:prstGeom>
          <a:solidFill>
            <a:srgbClr val="F4F6F7"/>
          </a:solidFill>
          <a:ln/>
        </p:spPr>
      </p:sp>
      <p:sp>
        <p:nvSpPr>
          <p:cNvPr id="51" name="Text 48"/>
          <p:cNvSpPr txBox="1"/>
          <p:nvPr/>
        </p:nvSpPr>
        <p:spPr>
          <a:xfrm>
            <a:off x="4389120" y="4242816"/>
            <a:ext cx="704088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grid is fixed by construction, not by convention</a:t>
            </a:r>
            <a:endParaRPr lang="en-US" sz="1450" dirty="0"/>
          </a:p>
        </p:txBody>
      </p:sp>
      <p:sp>
        <p:nvSpPr>
          <p:cNvPr id="52" name="Text 49"/>
          <p:cNvSpPr txBox="1"/>
          <p:nvPr/>
        </p:nvSpPr>
        <p:spPr>
          <a:xfrm>
            <a:off x="4389120" y="4572000"/>
            <a:ext cx="7040880" cy="2468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model could not accept a different grid without interpolating its positional embedding: 196 is baked into the architecture. Verified empirically — input (2, 3, 224, 224) gives tokens (2, 196, 384).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BACK TO THE THESIS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bias enters at tiling time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Nothing learned yet</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Just the 16 px grid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tokens covered by the box</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26</a:t>
            </a:r>
            <a:endParaRPr lang="en-US" sz="1050" dirty="0"/>
          </a:p>
        </p:txBody>
      </p:sp>
      <p:sp>
        <p:nvSpPr>
          <p:cNvPr id="17" name="Text 15"/>
          <p:cNvSpPr txBox="1"/>
          <p:nvPr/>
        </p:nvSpPr>
        <p:spPr>
          <a:xfrm>
            <a:off x="566928" y="1691640"/>
            <a:ext cx="6035040" cy="329184"/>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patch is 16 px wide. The median lesion box measures: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6035040" cy="914400"/>
        </p:xfrm>
        <a:graphic>
          <a:graphicData uri="http://schemas.openxmlformats.org/drawingml/2006/table">
            <a:tbl>
              <a:tblPr/>
              <a:tblGrid>
                <a:gridCol w="1737360"/>
                <a:gridCol w="1508760"/>
                <a:gridCol w="1463040"/>
                <a:gridCol w="1325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patches per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tokens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3977640"/>
            <a:ext cx="6035040" cy="365760"/>
          </a:xfrm>
          <a:prstGeom prst="rect">
            <a:avLst/>
          </a:prstGeom>
          <a:noFill/>
          <a:ln/>
        </p:spPr>
        <p:txBody>
          <a:bodyPr wrap="square" lIns="0" tIns="0" rIns="0" bIns="0" rtlCol="0" anchor="ctr"/>
          <a:lstStyle/>
          <a:p>
            <a:pPr indent="0" marL="0">
              <a:buNone/>
            </a:pPr>
            <a:r>
              <a:rPr lang="en-US" sz="1400" b="1" dirty="0">
                <a:solidFill>
                  <a:srgbClr val="A62B1F"/>
                </a:solidFill>
                <a:latin typeface="Calibri" pitchFamily="34" charset="0"/>
                <a:ea typeface="Calibri" pitchFamily="34" charset="-122"/>
                <a:cs typeface="Calibri" pitchFamily="34" charset="-120"/>
              </a:rPr>
              <a:t>The grade is written into how many cells the box covers.</a:t>
            </a:r>
            <a:endParaRPr lang="en-US" sz="1400" dirty="0"/>
          </a:p>
        </p:txBody>
      </p:sp>
      <p:sp>
        <p:nvSpPr>
          <p:cNvPr id="20" name="Shape 17"/>
          <p:cNvSpPr/>
          <p:nvPr/>
        </p:nvSpPr>
        <p:spPr>
          <a:xfrm>
            <a:off x="6766560" y="1691640"/>
            <a:ext cx="4864608" cy="2377440"/>
          </a:xfrm>
          <a:prstGeom prst="roundRect">
            <a:avLst>
              <a:gd name="adj" fmla="val 2692"/>
            </a:avLst>
          </a:prstGeom>
          <a:solidFill>
            <a:srgbClr val="FBF3F2"/>
          </a:solidFill>
          <a:ln/>
        </p:spPr>
      </p:sp>
      <p:sp>
        <p:nvSpPr>
          <p:cNvPr id="21" name="Text 18"/>
          <p:cNvSpPr txBox="1"/>
          <p:nvPr/>
        </p:nvSpPr>
        <p:spPr>
          <a:xfrm>
            <a:off x="6949440" y="1819656"/>
            <a:ext cx="449884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Neither the head nor the encoder introduces it</a:t>
            </a:r>
            <a:endParaRPr lang="en-US" sz="1450" dirty="0"/>
          </a:p>
        </p:txBody>
      </p:sp>
      <p:sp>
        <p:nvSpPr>
          <p:cNvPr id="22" name="Text 19"/>
          <p:cNvSpPr txBox="1"/>
          <p:nvPr/>
        </p:nvSpPr>
        <p:spPr>
          <a:xfrm>
            <a:off x="6949440" y="2148840"/>
            <a:ext cx="449884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shortcut is already present the moment the window is cut into a grid — before a single weight is applied. No architecture choice downstream can remove something that entered upstream of it.</a:t>
            </a:r>
            <a:endParaRPr lang="en-US" sz="1200" dirty="0"/>
          </a:p>
        </p:txBody>
      </p:sp>
      <p:sp>
        <p:nvSpPr>
          <p:cNvPr id="23" name="Shape 20"/>
          <p:cNvSpPr/>
          <p:nvPr/>
        </p:nvSpPr>
        <p:spPr>
          <a:xfrm>
            <a:off x="6766560" y="4526280"/>
            <a:ext cx="4864608" cy="1554480"/>
          </a:xfrm>
          <a:prstGeom prst="roundRect">
            <a:avLst>
              <a:gd name="adj" fmla="val 4118"/>
            </a:avLst>
          </a:prstGeom>
          <a:solidFill>
            <a:srgbClr val="F1F6F2"/>
          </a:solidFill>
          <a:ln/>
        </p:spPr>
      </p:sp>
      <p:sp>
        <p:nvSpPr>
          <p:cNvPr id="24" name="Text 21"/>
          <p:cNvSpPr txBox="1"/>
          <p:nvPr/>
        </p:nvSpPr>
        <p:spPr>
          <a:xfrm>
            <a:off x="6949440" y="4654296"/>
            <a:ext cx="44988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Which is why the fix had to be there too</a:t>
            </a:r>
            <a:endParaRPr lang="en-US" sz="1450" dirty="0"/>
          </a:p>
        </p:txBody>
      </p:sp>
      <p:sp>
        <p:nvSpPr>
          <p:cNvPr id="25" name="Text 22"/>
          <p:cNvSpPr txBox="1"/>
          <p:nvPr/>
        </p:nvSpPr>
        <p:spPr>
          <a:xfrm>
            <a:off x="6949440" y="4983480"/>
            <a:ext cx="449884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did not change the encoder, the head, or the loss. We changed which tokens the box selects — the one stage where the leak occurs.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one latent vector actually contains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3 blocks concatenated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196 tokens × 1,152 d per lesion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26</a:t>
            </a:r>
            <a:endParaRPr lang="en-US" sz="1050" dirty="0"/>
          </a:p>
        </p:txBody>
      </p:sp>
      <p:sp>
        <p:nvSpPr>
          <p:cNvPr id="17" name="Text 15"/>
          <p:cNvSpPr txBox="1"/>
          <p:nvPr/>
        </p:nvSpPr>
        <p:spPr>
          <a:xfrm>
            <a:off x="566928" y="1691640"/>
            <a:ext cx="11057839" cy="438912"/>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Each 224 px window becomes a 14×14 grid of 196 tokens. We do not take the last block alone: we concatenate three depths, so every token is 1,152 numbers in three contiguous sections.</a:t>
            </a:r>
            <a:endParaRPr lang="en-US" sz="1350" dirty="0"/>
          </a:p>
        </p:txBody>
      </p:sp>
      <p:sp>
        <p:nvSpPr>
          <p:cNvPr id="18" name="Shape 16"/>
          <p:cNvSpPr/>
          <p:nvPr/>
        </p:nvSpPr>
        <p:spPr>
          <a:xfrm>
            <a:off x="566928" y="2468880"/>
            <a:ext cx="3649370" cy="566928"/>
          </a:xfrm>
          <a:prstGeom prst="rect">
            <a:avLst/>
          </a:prstGeom>
          <a:solidFill>
            <a:srgbClr val="FFFFFF"/>
          </a:solidFill>
          <a:ln w="20320">
            <a:solidFill>
              <a:srgbClr val="0B3C49"/>
            </a:solidFill>
            <a:prstDash val="solid"/>
          </a:ln>
        </p:spPr>
      </p:sp>
      <p:sp>
        <p:nvSpPr>
          <p:cNvPr id="19" name="Text 17"/>
          <p:cNvSpPr txBox="1"/>
          <p:nvPr/>
        </p:nvSpPr>
        <p:spPr>
          <a:xfrm>
            <a:off x="566928"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x₁ … x₃₈₄</a:t>
            </a:r>
            <a:endParaRPr lang="en-US" sz="1300" dirty="0"/>
          </a:p>
        </p:txBody>
      </p:sp>
      <p:sp>
        <p:nvSpPr>
          <p:cNvPr id="20" name="Text 18"/>
          <p:cNvSpPr txBox="1"/>
          <p:nvPr/>
        </p:nvSpPr>
        <p:spPr>
          <a:xfrm>
            <a:off x="566928" y="3090672"/>
            <a:ext cx="364937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Block 2</a:t>
            </a:r>
            <a:endParaRPr lang="en-US" sz="1200" dirty="0"/>
          </a:p>
        </p:txBody>
      </p:sp>
      <p:sp>
        <p:nvSpPr>
          <p:cNvPr id="21" name="Text 19"/>
          <p:cNvSpPr txBox="1"/>
          <p:nvPr/>
        </p:nvSpPr>
        <p:spPr>
          <a:xfrm>
            <a:off x="566928"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2" name="Shape 20"/>
          <p:cNvSpPr/>
          <p:nvPr/>
        </p:nvSpPr>
        <p:spPr>
          <a:xfrm>
            <a:off x="4252874" y="2468880"/>
            <a:ext cx="3649370" cy="566928"/>
          </a:xfrm>
          <a:prstGeom prst="rect">
            <a:avLst/>
          </a:prstGeom>
          <a:solidFill>
            <a:srgbClr val="FFFFFF"/>
          </a:solidFill>
          <a:ln w="20320">
            <a:solidFill>
              <a:srgbClr val="1C7293"/>
            </a:solidFill>
            <a:prstDash val="solid"/>
          </a:ln>
        </p:spPr>
      </p:sp>
      <p:sp>
        <p:nvSpPr>
          <p:cNvPr id="23" name="Text 21"/>
          <p:cNvSpPr txBox="1"/>
          <p:nvPr/>
        </p:nvSpPr>
        <p:spPr>
          <a:xfrm>
            <a:off x="4252874"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x₃₈₅ … x₇₆₈</a:t>
            </a:r>
            <a:endParaRPr lang="en-US" sz="1300" dirty="0"/>
          </a:p>
        </p:txBody>
      </p:sp>
      <p:sp>
        <p:nvSpPr>
          <p:cNvPr id="24" name="Text 22"/>
          <p:cNvSpPr txBox="1"/>
          <p:nvPr/>
        </p:nvSpPr>
        <p:spPr>
          <a:xfrm>
            <a:off x="4252874" y="3090672"/>
            <a:ext cx="364937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Block 7</a:t>
            </a:r>
            <a:endParaRPr lang="en-US" sz="1200" dirty="0"/>
          </a:p>
        </p:txBody>
      </p:sp>
      <p:sp>
        <p:nvSpPr>
          <p:cNvPr id="25" name="Text 23"/>
          <p:cNvSpPr txBox="1"/>
          <p:nvPr/>
        </p:nvSpPr>
        <p:spPr>
          <a:xfrm>
            <a:off x="4252874"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6" name="Shape 24"/>
          <p:cNvSpPr/>
          <p:nvPr/>
        </p:nvSpPr>
        <p:spPr>
          <a:xfrm>
            <a:off x="7938821" y="2468880"/>
            <a:ext cx="3649370" cy="566928"/>
          </a:xfrm>
          <a:prstGeom prst="rect">
            <a:avLst/>
          </a:prstGeom>
          <a:solidFill>
            <a:srgbClr val="FFFFFF"/>
          </a:solidFill>
          <a:ln w="20320">
            <a:solidFill>
              <a:srgbClr val="1F6F43"/>
            </a:solidFill>
            <a:prstDash val="solid"/>
          </a:ln>
        </p:spPr>
      </p:sp>
      <p:sp>
        <p:nvSpPr>
          <p:cNvPr id="27" name="Text 25"/>
          <p:cNvSpPr txBox="1"/>
          <p:nvPr/>
        </p:nvSpPr>
        <p:spPr>
          <a:xfrm>
            <a:off x="7938821"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x₇₆₉ … x₁₁₅₂</a:t>
            </a:r>
            <a:endParaRPr lang="en-US" sz="1300" dirty="0"/>
          </a:p>
        </p:txBody>
      </p:sp>
      <p:sp>
        <p:nvSpPr>
          <p:cNvPr id="28" name="Text 26"/>
          <p:cNvSpPr txBox="1"/>
          <p:nvPr/>
        </p:nvSpPr>
        <p:spPr>
          <a:xfrm>
            <a:off x="7938821" y="3090672"/>
            <a:ext cx="3649370" cy="237744"/>
          </a:xfrm>
          <a:prstGeom prst="rect">
            <a:avLst/>
          </a:prstGeom>
          <a:noFill/>
          <a:ln/>
        </p:spPr>
        <p:txBody>
          <a:bodyPr wrap="square" lIns="0" tIns="0" rIns="0" bIns="0" rtlCol="0" anchor="ctr"/>
          <a:lstStyle/>
          <a:p>
            <a:pPr algn="ctr" indent="0" marL="0">
              <a:buNone/>
            </a:pPr>
            <a:r>
              <a:rPr lang="en-US" sz="1200" b="1" dirty="0">
                <a:solidFill>
                  <a:srgbClr val="1F6F43"/>
                </a:solidFill>
                <a:latin typeface="Calibri" pitchFamily="34" charset="0"/>
                <a:ea typeface="Calibri" pitchFamily="34" charset="-122"/>
                <a:cs typeface="Calibri" pitchFamily="34" charset="-120"/>
              </a:rPr>
              <a:t>Block 11</a:t>
            </a:r>
            <a:endParaRPr lang="en-US" sz="1200" dirty="0"/>
          </a:p>
        </p:txBody>
      </p:sp>
      <p:sp>
        <p:nvSpPr>
          <p:cNvPr id="29" name="Text 27"/>
          <p:cNvSpPr txBox="1"/>
          <p:nvPr/>
        </p:nvSpPr>
        <p:spPr>
          <a:xfrm>
            <a:off x="7938821"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30" name="Text 28"/>
          <p:cNvSpPr txBox="1"/>
          <p:nvPr/>
        </p:nvSpPr>
        <p:spPr>
          <a:xfrm>
            <a:off x="566928" y="2176272"/>
            <a:ext cx="11057839" cy="237744"/>
          </a:xfrm>
          <a:prstGeom prst="rect">
            <a:avLst/>
          </a:prstGeom>
          <a:noFill/>
          <a:ln/>
        </p:spPr>
        <p:txBody>
          <a:bodyPr wrap="square" lIns="0" tIns="0" rIns="0" bIns="0" rtlCol="0" anchor="ctr"/>
          <a:lstStyle/>
          <a:p>
            <a:pPr algn="ctr" indent="0" marL="0">
              <a:buNone/>
            </a:pPr>
            <a:r>
              <a:rPr lang="en-US" sz="1300" b="1" dirty="0">
                <a:solidFill>
                  <a:srgbClr val="0B3C49"/>
                </a:solidFill>
                <a:latin typeface="Calibri" pitchFamily="34" charset="0"/>
                <a:ea typeface="Calibri" pitchFamily="34" charset="-122"/>
                <a:cs typeface="Calibri" pitchFamily="34" charset="-120"/>
              </a:rPr>
              <a:t>tᵢ  ∈  ℝ¹¹⁵²        i ∈ [1, 196]</a:t>
            </a:r>
            <a:endParaRPr lang="en-US" sz="1300" dirty="0"/>
          </a:p>
        </p:txBody>
      </p:sp>
      <p:sp>
        <p:nvSpPr>
          <p:cNvPr id="31" name="Shape 29"/>
          <p:cNvSpPr/>
          <p:nvPr/>
        </p:nvSpPr>
        <p:spPr>
          <a:xfrm>
            <a:off x="566928" y="3794760"/>
            <a:ext cx="5486400" cy="2103120"/>
          </a:xfrm>
          <a:prstGeom prst="roundRect">
            <a:avLst>
              <a:gd name="adj" fmla="val 3043"/>
            </a:avLst>
          </a:prstGeom>
          <a:solidFill>
            <a:srgbClr val="F4F6F7"/>
          </a:solidFill>
          <a:ln/>
        </p:spPr>
      </p:sp>
      <p:sp>
        <p:nvSpPr>
          <p:cNvPr id="32" name="Text 30"/>
          <p:cNvSpPr txBox="1"/>
          <p:nvPr/>
        </p:nvSpPr>
        <p:spPr>
          <a:xfrm>
            <a:off x="749808" y="392277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not the last block only</a:t>
            </a:r>
            <a:endParaRPr lang="en-US" sz="1450" dirty="0"/>
          </a:p>
        </p:txBody>
      </p:sp>
      <p:sp>
        <p:nvSpPr>
          <p:cNvPr id="33" name="Text 31"/>
          <p:cNvSpPr txBox="1"/>
          <p:nvPr/>
        </p:nvSpPr>
        <p:spPr>
          <a:xfrm>
            <a:off x="749808" y="4251960"/>
            <a:ext cx="5120640"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last block is the most COMPRESSED: it has discarded whatever the pre-training objective did not need. With a linear head — which is what the assignment's protocol uses — an intermediate block reads better.</a:t>
            </a:r>
            <a:endParaRPr lang="en-US" sz="1200" dirty="0"/>
          </a:p>
        </p:txBody>
      </p:sp>
      <p:sp>
        <p:nvSpPr>
          <p:cNvPr id="34" name="Shape 32"/>
          <p:cNvSpPr/>
          <p:nvPr/>
        </p:nvSpPr>
        <p:spPr>
          <a:xfrm>
            <a:off x="6263640" y="3794760"/>
            <a:ext cx="5367528" cy="2103120"/>
          </a:xfrm>
          <a:prstGeom prst="roundRect">
            <a:avLst>
              <a:gd name="adj" fmla="val 3043"/>
            </a:avLst>
          </a:prstGeom>
          <a:solidFill>
            <a:srgbClr val="FDF7EC"/>
          </a:solidFill>
          <a:ln/>
        </p:spPr>
      </p:sp>
      <p:sp>
        <p:nvSpPr>
          <p:cNvPr id="35" name="Text 33"/>
          <p:cNvSpPr txBox="1"/>
          <p:nvPr/>
        </p:nvSpPr>
        <p:spPr>
          <a:xfrm>
            <a:off x="6446520" y="392277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usual interpretation, and our caution</a:t>
            </a:r>
            <a:endParaRPr lang="en-US" sz="1450" dirty="0"/>
          </a:p>
        </p:txBody>
      </p:sp>
      <p:sp>
        <p:nvSpPr>
          <p:cNvPr id="36" name="Text 34"/>
          <p:cNvSpPr txBox="1"/>
          <p:nvPr/>
        </p:nvSpPr>
        <p:spPr>
          <a:xfrm>
            <a:off x="6446520" y="4251960"/>
            <a:ext cx="500176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Textbooks read depth as low-level texture → mid-level structure → high-level semantics. It is a reasonable motivation for taking three depths.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depth actually does,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Three encoders, 0 / 69 / 179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One another, block by block</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k-NN probe, no trained parameters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26</a:t>
            </a:r>
            <a:endParaRPr lang="en-US" sz="1050" dirty="0"/>
          </a:p>
        </p:txBody>
      </p:sp>
      <p:sp>
        <p:nvSpPr>
          <p:cNvPr id="17" name="Text 15"/>
          <p:cNvSpPr txBox="1"/>
          <p:nvPr/>
        </p:nvSpPr>
        <p:spPr>
          <a:xfrm>
            <a:off x="566928" y="1691640"/>
            <a:ext cx="67665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A parameter-free k-NN probe read each block separately. The random encoder is the control: with untrained weights, depth should carry no structure — and it does not.</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766560" cy="914400"/>
        </p:xfrm>
        <a:graphic>
          <a:graphicData uri="http://schemas.openxmlformats.org/drawingml/2006/table">
            <a:tbl>
              <a:tblPr/>
              <a:tblGrid>
                <a:gridCol w="1828800"/>
                <a:gridCol w="777240"/>
                <a:gridCol w="1143000"/>
                <a:gridCol w="1143000"/>
                <a:gridCol w="114300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Encoder</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7</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11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spread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Random init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0.7626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finale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0.6782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0.4043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0.3845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0.294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completa</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0.6400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0.4910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0.4892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0.151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023360"/>
            <a:ext cx="6766560" cy="1920240"/>
          </a:xfrm>
          <a:prstGeom prst="roundRect">
            <a:avLst>
              <a:gd name="adj" fmla="val 3333"/>
            </a:avLst>
          </a:prstGeom>
          <a:solidFill>
            <a:srgbClr val="F4F6F7"/>
          </a:solidFill>
          <a:ln/>
        </p:spPr>
      </p:sp>
      <p:sp>
        <p:nvSpPr>
          <p:cNvPr id="20" name="Text 17"/>
          <p:cNvSpPr txBox="1"/>
          <p:nvPr/>
        </p:nvSpPr>
        <p:spPr>
          <a:xfrm>
            <a:off x="749808" y="4151376"/>
            <a:ext cx="640080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Read the first row against the others</a:t>
            </a:r>
            <a:endParaRPr lang="en-US" sz="1450" dirty="0"/>
          </a:p>
        </p:txBody>
      </p:sp>
      <p:sp>
        <p:nvSpPr>
          <p:cNvPr id="21" name="Text 18"/>
          <p:cNvSpPr txBox="1"/>
          <p:nvPr/>
        </p:nvSpPr>
        <p:spPr>
          <a:xfrm>
            <a:off x="749808" y="4480560"/>
            <a:ext cx="640080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untrained weights the three blocks are indistinguishable — spread 0.005. On trained ones block 2 is worth nearly twice block 11.</a:t>
            </a:r>
            <a:endParaRPr lang="en-US" sz="1200" dirty="0"/>
          </a:p>
        </p:txBody>
      </p:sp>
      <p:sp>
        <p:nvSpPr>
          <p:cNvPr id="22" name="Shape 19"/>
          <p:cNvSpPr/>
          <p:nvPr/>
        </p:nvSpPr>
        <p:spPr>
          <a:xfrm>
            <a:off x="7543800" y="1691640"/>
            <a:ext cx="4087368" cy="4023360"/>
          </a:xfrm>
          <a:prstGeom prst="roundRect">
            <a:avLst>
              <a:gd name="adj" fmla="val 1591"/>
            </a:avLst>
          </a:prstGeom>
          <a:solidFill>
            <a:srgbClr val="F1F6F2"/>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this matters for our thesis</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is the same story as the training trajectory, seen along a different axis.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26</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20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HEAD  ·  DESIGN CHOICE</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classifier is 3,459 parameters — and that is the point</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Linear 1,152 → 3</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Encoder: 21.6 M · pooling: 5.3 M</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5 seeds per cell</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26</a:t>
            </a:r>
            <a:endParaRPr lang="en-US" sz="1050" dirty="0"/>
          </a:p>
        </p:txBody>
      </p:sp>
      <p:sp>
        <p:nvSpPr>
          <p:cNvPr id="17" name="Text 15"/>
          <p:cNvSpPr txBox="1"/>
          <p:nvPr/>
        </p:nvSpPr>
        <p:spPr>
          <a:xfrm>
            <a:off x="566928" y="1691640"/>
            <a:ext cx="594360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final stage takes the aggregated vector and maps it to three logits — one per PAI grade. A single fully-connected layer, nothing else.</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943600" cy="914400"/>
        </p:xfrm>
        <a:graphic>
          <a:graphicData uri="http://schemas.openxmlformats.org/drawingml/2006/table">
            <a:tbl>
              <a:tblPr/>
              <a:tblGrid>
                <a:gridCol w="2286000"/>
                <a:gridCol w="2011680"/>
                <a:gridCol w="16459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Classifier head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023360"/>
            <a:ext cx="5943600" cy="36576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Of everything trained downstream, the classifier is one part in a thousand.</a:t>
            </a:r>
            <a:endParaRPr lang="en-US" sz="1300" dirty="0"/>
          </a:p>
        </p:txBody>
      </p:sp>
      <p:sp>
        <p:nvSpPr>
          <p:cNvPr id="20" name="Shape 17"/>
          <p:cNvSpPr/>
          <p:nvPr/>
        </p:nvSpPr>
        <p:spPr>
          <a:xfrm>
            <a:off x="6675120" y="1691640"/>
            <a:ext cx="4956048" cy="2286000"/>
          </a:xfrm>
          <a:prstGeom prst="roundRect">
            <a:avLst>
              <a:gd name="adj" fmla="val 2800"/>
            </a:avLst>
          </a:prstGeom>
          <a:solidFill>
            <a:srgbClr val="F1F6F2"/>
          </a:solidFill>
          <a:ln/>
        </p:spPr>
      </p:sp>
      <p:sp>
        <p:nvSpPr>
          <p:cNvPr id="21" name="Text 18"/>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Small on purpose, not for lack of capacity</a:t>
            </a:r>
            <a:endParaRPr lang="en-US" sz="1450" dirty="0"/>
          </a:p>
        </p:txBody>
      </p:sp>
      <p:sp>
        <p:nvSpPr>
          <p:cNvPr id="22" name="Text 19"/>
          <p:cNvSpPr txBox="1"/>
          <p:nvPr/>
        </p:nvSpPr>
        <p:spPr>
          <a:xfrm>
            <a:off x="6858000" y="2148840"/>
            <a:ext cx="45902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large head could reconstruct information the encoder had discarded, and the comparison would then measure the head, not the representation. Keeping it linear forces the answer to be already present in the frozen vector.</a:t>
            </a:r>
            <a:endParaRPr lang="en-US" sz="1200" dirty="0"/>
          </a:p>
        </p:txBody>
      </p:sp>
      <p:sp>
        <p:nvSpPr>
          <p:cNvPr id="23" name="Shape 20"/>
          <p:cNvSpPr/>
          <p:nvPr/>
        </p:nvSpPr>
        <p:spPr>
          <a:xfrm>
            <a:off x="6675120" y="4434840"/>
            <a:ext cx="4956048" cy="1645920"/>
          </a:xfrm>
          <a:prstGeom prst="roundRect">
            <a:avLst>
              <a:gd name="adj" fmla="val 3889"/>
            </a:avLst>
          </a:prstGeom>
          <a:solidFill>
            <a:srgbClr val="F4F6F7"/>
          </a:solidFill>
          <a:ln/>
        </p:spPr>
      </p:sp>
      <p:sp>
        <p:nvSpPr>
          <p:cNvPr id="24" name="Text 21"/>
          <p:cNvSpPr txBox="1"/>
          <p:nvPr/>
        </p:nvSpPr>
        <p:spPr>
          <a:xfrm>
            <a:off x="6858000" y="45628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And what the 5 seeds change</a:t>
            </a:r>
            <a:endParaRPr lang="en-US" sz="1450" dirty="0"/>
          </a:p>
        </p:txBody>
      </p:sp>
      <p:sp>
        <p:nvSpPr>
          <p:cNvPr id="25" name="Text 22"/>
          <p:cNvSpPr txBox="1"/>
          <p:nvPr/>
        </p:nvSpPr>
        <p:spPr>
          <a:xfrm>
            <a:off x="6858000" y="4892040"/>
            <a:ext cx="4590288" cy="10241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Head initialisation, batch order, and — for the sampling methods — which views are drawn. Not the encoder, not the split, not the test set.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26</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20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17 / 26</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20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18 / 26</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4</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α sweep: more rebalancing is not better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values of α</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19 / 26</a:t>
            </a:r>
            <a:endParaRPr lang="en-US" sz="1050" dirty="0"/>
          </a:p>
        </p:txBody>
      </p:sp>
      <p:sp>
        <p:nvSpPr>
          <p:cNvPr id="17" name="Text 15"/>
          <p:cNvSpPr txBox="1"/>
          <p:nvPr/>
        </p:nvSpPr>
        <p:spPr>
          <a:xfrm>
            <a:off x="566928" y="1691640"/>
            <a:ext cx="58521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α sets how many views each class receives. Screening on 3 seeds, then the two finalists re-measured on 5 seeds disjoint from the screening ones.</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852160" cy="914400"/>
        </p:xfrm>
        <a:graphic>
          <a:graphicData uri="http://schemas.openxmlformats.org/drawingml/2006/table">
            <a:tbl>
              <a:tblPr/>
              <a:tblGrid>
                <a:gridCol w="777240"/>
                <a:gridCol w="1691640"/>
                <a:gridCol w="1691640"/>
                <a:gridCol w="16916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views per class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instances/epoch</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1 / 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 / 2 / 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2 /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3 / 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389120"/>
            <a:ext cx="5852160" cy="502920"/>
          </a:xfrm>
          <a:prstGeom prst="rect">
            <a:avLst/>
          </a:prstGeom>
          <a:noFill/>
          <a:ln/>
        </p:spPr>
        <p:txBody>
          <a:bodyPr wrap="square" lIns="0" tIns="0" rIns="0" bIns="0" rtlCol="0" anchor="ctr"/>
          <a:lstStyle/>
          <a:p>
            <a:pPr indent="0" marL="0">
              <a:lnSpc>
                <a:spcPts val="1900"/>
              </a:lnSpc>
              <a:buNone/>
            </a:pPr>
            <a:r>
              <a:rPr lang="en-US" sz="1300" b="1" dirty="0">
                <a:solidFill>
                  <a:srgbClr val="0B3C49"/>
                </a:solidFill>
                <a:latin typeface="Calibri" pitchFamily="34" charset="0"/>
                <a:ea typeface="Calibri" pitchFamily="34" charset="-122"/>
                <a:cs typeface="Calibri" pitchFamily="34" charset="-120"/>
              </a:rPr>
              <a:t>α = 0.5 beats α = 1.0 by +0.0125, at 2.2 standard errors. Doubling the instances makes it worse.</a:t>
            </a:r>
            <a:endParaRPr lang="en-US" sz="1300" dirty="0"/>
          </a:p>
        </p:txBody>
      </p:sp>
      <p:sp>
        <p:nvSpPr>
          <p:cNvPr id="20" name="Shape 17"/>
          <p:cNvSpPr/>
          <p:nvPr/>
        </p:nvSpPr>
        <p:spPr>
          <a:xfrm>
            <a:off x="6903720" y="1691640"/>
            <a:ext cx="4727448" cy="2377440"/>
          </a:xfrm>
          <a:prstGeom prst="roundRect">
            <a:avLst>
              <a:gd name="adj" fmla="val 2692"/>
            </a:avLst>
          </a:prstGeom>
          <a:solidFill>
            <a:srgbClr val="F4F6F7"/>
          </a:solidFill>
          <a:ln/>
        </p:spPr>
      </p:sp>
      <p:sp>
        <p:nvSpPr>
          <p:cNvPr id="21" name="Text 18"/>
          <p:cNvSpPr txBox="1"/>
          <p:nvPr/>
        </p:nvSpPr>
        <p:spPr>
          <a:xfrm>
            <a:off x="7086600" y="1819656"/>
            <a:ext cx="43616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the optimum is interior</a:t>
            </a:r>
            <a:endParaRPr lang="en-US" sz="1450" dirty="0"/>
          </a:p>
        </p:txBody>
      </p:sp>
      <p:sp>
        <p:nvSpPr>
          <p:cNvPr id="22" name="Text 19"/>
          <p:cNvSpPr txBox="1"/>
          <p:nvPr/>
        </p:nvSpPr>
        <p:spPr>
          <a:xfrm>
            <a:off x="7086600" y="2148840"/>
            <a:ext cx="436168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views are subsets of the SAME lesion, so they are strongly correlated. With ICC ρ = 0.9864, seven views of a PAI 5 are worth 1.01 independent samples: they move the decision boundary without adding information.</a:t>
            </a:r>
            <a:endParaRPr lang="en-US" sz="1200" dirty="0"/>
          </a:p>
        </p:txBody>
      </p:sp>
      <p:sp>
        <p:nvSpPr>
          <p:cNvPr id="23" name="Shape 20"/>
          <p:cNvSpPr/>
          <p:nvPr/>
        </p:nvSpPr>
        <p:spPr>
          <a:xfrm>
            <a:off x="6903720" y="4572000"/>
            <a:ext cx="4727448" cy="1463040"/>
          </a:xfrm>
          <a:prstGeom prst="roundRect">
            <a:avLst>
              <a:gd name="adj" fmla="val 4375"/>
            </a:avLst>
          </a:prstGeom>
          <a:solidFill>
            <a:srgbClr val="F1F6F2"/>
          </a:solidFill>
          <a:ln/>
        </p:spPr>
      </p:sp>
      <p:sp>
        <p:nvSpPr>
          <p:cNvPr id="24" name="Text 21"/>
          <p:cNvSpPr txBox="1"/>
          <p:nvPr/>
        </p:nvSpPr>
        <p:spPr>
          <a:xfrm>
            <a:off x="7086600" y="4700016"/>
            <a:ext cx="43616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Reproducible three times</a:t>
            </a:r>
            <a:endParaRPr lang="en-US" sz="1450" dirty="0"/>
          </a:p>
        </p:txBody>
      </p:sp>
      <p:sp>
        <p:nvSpPr>
          <p:cNvPr id="25" name="Text 22"/>
          <p:cNvSpPr txBox="1"/>
          <p:nvPr/>
        </p:nvSpPr>
        <p:spPr>
          <a:xfrm>
            <a:off x="7086600" y="5029200"/>
            <a:ext cx="4361688" cy="841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α = 0.5 was measured independently three times — 0.8813 / 0.8814 / 0.8797 — with a maximum spread of 0.0017.</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20 / 26</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21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22 / 26</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23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Three safeguards against reporting a number we could not defend.</a:t>
            </a:r>
            <a:endParaRPr lang="en-US" sz="1400" dirty="0"/>
          </a:p>
        </p:txBody>
      </p:sp>
      <p:sp>
        <p:nvSpPr>
          <p:cNvPr id="6" name="Shape 4"/>
          <p:cNvSpPr/>
          <p:nvPr/>
        </p:nvSpPr>
        <p:spPr>
          <a:xfrm>
            <a:off x="566928" y="1837944"/>
            <a:ext cx="329184" cy="329184"/>
          </a:xfrm>
          <a:prstGeom prst="ellipse">
            <a:avLst/>
          </a:prstGeom>
          <a:solidFill>
            <a:srgbClr val="0B3C49"/>
          </a:solidFill>
          <a:ln/>
        </p:spPr>
      </p:sp>
      <p:sp>
        <p:nvSpPr>
          <p:cNvPr id="7" name="Text 5"/>
          <p:cNvSpPr txBox="1"/>
          <p:nvPr/>
        </p:nvSpPr>
        <p:spPr>
          <a:xfrm>
            <a:off x="566928"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69848" y="17830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Selection never touches the test set</a:t>
            </a:r>
            <a:endParaRPr lang="en-US" sz="1500" dirty="0"/>
          </a:p>
        </p:txBody>
      </p:sp>
      <p:sp>
        <p:nvSpPr>
          <p:cNvPr id="9" name="Text 7"/>
          <p:cNvSpPr txBox="1"/>
          <p:nvPr/>
        </p:nvSpPr>
        <p:spPr>
          <a:xfrm>
            <a:off x="1069848" y="2167128"/>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Checkpoint chosen on validation. Learning rate chosen on validation — 3e-4 measured worse there: −0.0304, z = −2.98.</a:t>
            </a:r>
            <a:endParaRPr lang="en-US" sz="1250" dirty="0"/>
          </a:p>
        </p:txBody>
      </p:sp>
      <p:sp>
        <p:nvSpPr>
          <p:cNvPr id="10" name="Shape 8"/>
          <p:cNvSpPr/>
          <p:nvPr/>
        </p:nvSpPr>
        <p:spPr>
          <a:xfrm>
            <a:off x="566928" y="3136392"/>
            <a:ext cx="329184" cy="329184"/>
          </a:xfrm>
          <a:prstGeom prst="ellipse">
            <a:avLst/>
          </a:prstGeom>
          <a:solidFill>
            <a:srgbClr val="0B3C49"/>
          </a:solidFill>
          <a:ln/>
        </p:spPr>
      </p:sp>
      <p:sp>
        <p:nvSpPr>
          <p:cNvPr id="11" name="Text 9"/>
          <p:cNvSpPr txBox="1"/>
          <p:nvPr/>
        </p:nvSpPr>
        <p:spPr>
          <a:xfrm>
            <a:off x="566928" y="3136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69848" y="3081528"/>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Disjoint seeds for the α sweep</a:t>
            </a:r>
            <a:endParaRPr lang="en-US" sz="1500" dirty="0"/>
          </a:p>
        </p:txBody>
      </p:sp>
      <p:sp>
        <p:nvSpPr>
          <p:cNvPr id="13" name="Text 11"/>
          <p:cNvSpPr txBox="1"/>
          <p:nvPr/>
        </p:nvSpPr>
        <p:spPr>
          <a:xfrm>
            <a:off x="1069848" y="3465576"/>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The two finalists were re-measured on five seeds disjoint from the screening ones. Selecting and reporting on the same seeds inflates the winner by about one standard deviation.</a:t>
            </a:r>
            <a:endParaRPr lang="en-US" sz="1250" dirty="0"/>
          </a:p>
        </p:txBody>
      </p:sp>
      <p:sp>
        <p:nvSpPr>
          <p:cNvPr id="14" name="Shape 12"/>
          <p:cNvSpPr/>
          <p:nvPr/>
        </p:nvSpPr>
        <p:spPr>
          <a:xfrm>
            <a:off x="566928" y="4434840"/>
            <a:ext cx="329184" cy="329184"/>
          </a:xfrm>
          <a:prstGeom prst="ellipse">
            <a:avLst/>
          </a:prstGeom>
          <a:solidFill>
            <a:srgbClr val="8A5A12"/>
          </a:solidFill>
          <a:ln/>
        </p:spPr>
      </p:sp>
      <p:sp>
        <p:nvSpPr>
          <p:cNvPr id="15" name="Text 13"/>
          <p:cNvSpPr txBox="1"/>
          <p:nvPr/>
        </p:nvSpPr>
        <p:spPr>
          <a:xfrm>
            <a:off x="566928" y="4434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69848" y="4379976"/>
            <a:ext cx="10424160" cy="365760"/>
          </a:xfrm>
          <a:prstGeom prst="rect">
            <a:avLst/>
          </a:prstGeom>
          <a:noFill/>
          <a:ln/>
        </p:spPr>
        <p:txBody>
          <a:bodyPr wrap="square" lIns="0" tIns="0" rIns="0" bIns="0" rtlCol="0" anchor="ctr"/>
          <a:lstStyle/>
          <a:p>
            <a:pPr indent="0" marL="0">
              <a:buNone/>
            </a:pPr>
            <a:r>
              <a:rPr lang="en-US" sz="1500" b="1" dirty="0">
                <a:solidFill>
                  <a:srgbClr val="8A5A12"/>
                </a:solidFill>
                <a:latin typeface="Calibri" pitchFamily="34" charset="0"/>
                <a:ea typeface="Calibri" pitchFamily="34" charset="-122"/>
                <a:cs typeface="Calibri" pitchFamily="34" charset="-120"/>
              </a:rPr>
              <a:t>The ± is reproducibility, not generalisation</a:t>
            </a:r>
            <a:endParaRPr lang="en-US" sz="1500" dirty="0"/>
          </a:p>
        </p:txBody>
      </p:sp>
      <p:sp>
        <p:nvSpPr>
          <p:cNvPr id="17" name="Text 15"/>
          <p:cNvSpPr txBox="1"/>
          <p:nvPr/>
        </p:nvSpPr>
        <p:spPr>
          <a:xfrm>
            <a:off x="1069848" y="4764024"/>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It is the spread across five seeds. It does NOT capture test-set sampling error, which with 112 PAI-5 lesions is roughly 0.021 — ten times larger.</a:t>
            </a:r>
            <a:endParaRPr lang="en-US" sz="1250" dirty="0"/>
          </a:p>
        </p:txBody>
      </p:sp>
      <p:sp>
        <p:nvSpPr>
          <p:cNvPr id="18" name="Text 16"/>
          <p:cNvSpPr txBox="1"/>
          <p:nvPr/>
        </p:nvSpPr>
        <p:spPr>
          <a:xfrm>
            <a:off x="566928" y="5623560"/>
            <a:ext cx="11057839" cy="41148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Differences below 0.021 are reproducible — not proven to generalise. We say which is which.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24 / 26</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10515600" cy="45720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Declared limitations, and what comes next</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25 / 26</a:t>
            </a:r>
            <a:endParaRPr lang="en-US" sz="1050" dirty="0"/>
          </a:p>
        </p:txBody>
      </p:sp>
      <p:sp>
        <p:nvSpPr>
          <p:cNvPr id="5" name="Shape 3"/>
          <p:cNvSpPr/>
          <p:nvPr/>
        </p:nvSpPr>
        <p:spPr>
          <a:xfrm>
            <a:off x="566928" y="1234440"/>
            <a:ext cx="5394960" cy="457200"/>
          </a:xfrm>
          <a:prstGeom prst="roundRect">
            <a:avLst>
              <a:gd name="adj" fmla="val 12000"/>
            </a:avLst>
          </a:prstGeom>
          <a:solidFill>
            <a:srgbClr val="FDF7EC"/>
          </a:solidFill>
          <a:ln/>
        </p:spPr>
      </p:sp>
      <p:sp>
        <p:nvSpPr>
          <p:cNvPr id="6" name="Text 4"/>
          <p:cNvSpPr txBox="1"/>
          <p:nvPr/>
        </p:nvSpPr>
        <p:spPr>
          <a:xfrm>
            <a:off x="749808" y="1325880"/>
            <a:ext cx="5029200" cy="292608"/>
          </a:xfrm>
          <a:prstGeom prst="rect">
            <a:avLst/>
          </a:prstGeom>
          <a:noFill/>
          <a:ln/>
        </p:spPr>
        <p:txBody>
          <a:bodyPr wrap="square" lIns="0" tIns="0" rIns="0" bIns="0" rtlCol="0" anchor="ctr"/>
          <a:lstStyle/>
          <a:p>
            <a:pPr indent="0" marL="0">
              <a:buNone/>
            </a:pPr>
            <a:r>
              <a:rPr lang="en-US" sz="1600" b="1" dirty="0">
                <a:solidFill>
                  <a:srgbClr val="8A5A12"/>
                </a:solidFill>
                <a:latin typeface="Cambria" pitchFamily="34" charset="0"/>
                <a:ea typeface="Cambria" pitchFamily="34" charset="-122"/>
                <a:cs typeface="Cambria" pitchFamily="34" charset="-120"/>
              </a:rPr>
              <a:t>Declared limitations</a:t>
            </a:r>
            <a:endParaRPr lang="en-US" sz="1600" dirty="0"/>
          </a:p>
        </p:txBody>
      </p:sp>
      <p:sp>
        <p:nvSpPr>
          <p:cNvPr id="7" name="Shape 5"/>
          <p:cNvSpPr/>
          <p:nvPr/>
        </p:nvSpPr>
        <p:spPr>
          <a:xfrm>
            <a:off x="749808" y="1938528"/>
            <a:ext cx="137160" cy="137160"/>
          </a:xfrm>
          <a:prstGeom prst="ellipse">
            <a:avLst/>
          </a:prstGeom>
          <a:solidFill>
            <a:srgbClr val="8A5A12"/>
          </a:solidFill>
          <a:ln/>
        </p:spPr>
      </p:sp>
      <p:sp>
        <p:nvSpPr>
          <p:cNvPr id="8" name="Text 6"/>
          <p:cNvSpPr txBox="1"/>
          <p:nvPr/>
        </p:nvSpPr>
        <p:spPr>
          <a:xfrm>
            <a:off x="1024128"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Checkpoint selection</a:t>
            </a:r>
            <a:endParaRPr lang="en-US" sz="1300" dirty="0"/>
          </a:p>
        </p:txBody>
      </p:sp>
      <p:sp>
        <p:nvSpPr>
          <p:cNvPr id="9" name="Text 7"/>
          <p:cNvSpPr txBox="1"/>
          <p:nvPr/>
        </p:nvSpPr>
        <p:spPr>
          <a:xfrm>
            <a:off x="1024128"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Better on the criterion we selected it with, worse on size-blind readings — the same bias we denounce.</a:t>
            </a:r>
            <a:endParaRPr lang="en-US" sz="1150" dirty="0"/>
          </a:p>
        </p:txBody>
      </p:sp>
      <p:sp>
        <p:nvSpPr>
          <p:cNvPr id="10" name="Shape 8"/>
          <p:cNvSpPr/>
          <p:nvPr/>
        </p:nvSpPr>
        <p:spPr>
          <a:xfrm>
            <a:off x="749808" y="2944368"/>
            <a:ext cx="137160" cy="137160"/>
          </a:xfrm>
          <a:prstGeom prst="ellipse">
            <a:avLst/>
          </a:prstGeom>
          <a:solidFill>
            <a:srgbClr val="8A5A12"/>
          </a:solidFill>
          <a:ln/>
        </p:spPr>
      </p:sp>
      <p:sp>
        <p:nvSpPr>
          <p:cNvPr id="11" name="Text 9"/>
          <p:cNvSpPr txBox="1"/>
          <p:nvPr/>
        </p:nvSpPr>
        <p:spPr>
          <a:xfrm>
            <a:off x="1024128"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α sweep on a fixed encoder</a:t>
            </a:r>
            <a:endParaRPr lang="en-US" sz="1300" dirty="0"/>
          </a:p>
        </p:txBody>
      </p:sp>
      <p:sp>
        <p:nvSpPr>
          <p:cNvPr id="12" name="Text 10"/>
          <p:cNvSpPr txBox="1"/>
          <p:nvPr/>
        </p:nvSpPr>
        <p:spPr>
          <a:xfrm>
            <a:off x="1024128"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Deliberate, to isolate the parameter — but it means the sweep is not encoder-agnostic.</a:t>
            </a:r>
            <a:endParaRPr lang="en-US" sz="1150" dirty="0"/>
          </a:p>
        </p:txBody>
      </p:sp>
      <p:sp>
        <p:nvSpPr>
          <p:cNvPr id="13" name="Shape 11"/>
          <p:cNvSpPr/>
          <p:nvPr/>
        </p:nvSpPr>
        <p:spPr>
          <a:xfrm>
            <a:off x="749808" y="3950208"/>
            <a:ext cx="137160" cy="137160"/>
          </a:xfrm>
          <a:prstGeom prst="ellipse">
            <a:avLst/>
          </a:prstGeom>
          <a:solidFill>
            <a:srgbClr val="8A5A12"/>
          </a:solidFill>
          <a:ln/>
        </p:spPr>
      </p:sp>
      <p:sp>
        <p:nvSpPr>
          <p:cNvPr id="14" name="Text 12"/>
          <p:cNvSpPr txBox="1"/>
          <p:nvPr/>
        </p:nvSpPr>
        <p:spPr>
          <a:xfrm>
            <a:off x="1024128"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 is not generalisation</a:t>
            </a:r>
            <a:endParaRPr lang="en-US" sz="1300" dirty="0"/>
          </a:p>
        </p:txBody>
      </p:sp>
      <p:sp>
        <p:nvSpPr>
          <p:cNvPr id="15" name="Text 13"/>
          <p:cNvSpPr txBox="1"/>
          <p:nvPr/>
        </p:nvSpPr>
        <p:spPr>
          <a:xfrm>
            <a:off x="1024128"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Spread across seeds; test sampling error is ten times larger.</a:t>
            </a:r>
            <a:endParaRPr lang="en-US" sz="1150" dirty="0"/>
          </a:p>
        </p:txBody>
      </p:sp>
      <p:sp>
        <p:nvSpPr>
          <p:cNvPr id="16" name="Shape 14"/>
          <p:cNvSpPr/>
          <p:nvPr/>
        </p:nvSpPr>
        <p:spPr>
          <a:xfrm>
            <a:off x="749808" y="4956048"/>
            <a:ext cx="137160" cy="137160"/>
          </a:xfrm>
          <a:prstGeom prst="ellipse">
            <a:avLst/>
          </a:prstGeom>
          <a:solidFill>
            <a:srgbClr val="8A5A12"/>
          </a:solidFill>
          <a:ln/>
        </p:spPr>
      </p:sp>
      <p:sp>
        <p:nvSpPr>
          <p:cNvPr id="17" name="Text 15"/>
          <p:cNvSpPr txBox="1"/>
          <p:nvPr/>
        </p:nvSpPr>
        <p:spPr>
          <a:xfrm>
            <a:off x="1024128" y="489204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SMOTE not measured</a:t>
            </a:r>
            <a:endParaRPr lang="en-US" sz="1300" dirty="0"/>
          </a:p>
        </p:txBody>
      </p:sp>
      <p:sp>
        <p:nvSpPr>
          <p:cNvPr id="18" name="Text 16"/>
          <p:cNvSpPr txBox="1"/>
          <p:nvPr/>
        </p:nvSpPr>
        <p:spPr>
          <a:xfrm>
            <a:off x="1024128" y="518464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Not among the baselines of the final grid.</a:t>
            </a:r>
            <a:endParaRPr lang="en-US" sz="1150" dirty="0"/>
          </a:p>
        </p:txBody>
      </p:sp>
      <p:sp>
        <p:nvSpPr>
          <p:cNvPr id="19" name="Shape 17"/>
          <p:cNvSpPr/>
          <p:nvPr/>
        </p:nvSpPr>
        <p:spPr>
          <a:xfrm>
            <a:off x="6263640" y="1234440"/>
            <a:ext cx="5394960" cy="457200"/>
          </a:xfrm>
          <a:prstGeom prst="roundRect">
            <a:avLst>
              <a:gd name="adj" fmla="val 12000"/>
            </a:avLst>
          </a:prstGeom>
          <a:solidFill>
            <a:srgbClr val="F1F6F2"/>
          </a:solidFill>
          <a:ln/>
        </p:spPr>
      </p:sp>
      <p:sp>
        <p:nvSpPr>
          <p:cNvPr id="20" name="Text 18"/>
          <p:cNvSpPr txBox="1"/>
          <p:nvPr/>
        </p:nvSpPr>
        <p:spPr>
          <a:xfrm>
            <a:off x="6446520" y="1325880"/>
            <a:ext cx="5029200" cy="292608"/>
          </a:xfrm>
          <a:prstGeom prst="rect">
            <a:avLst/>
          </a:prstGeom>
          <a:noFill/>
          <a:ln/>
        </p:spPr>
        <p:txBody>
          <a:bodyPr wrap="square" lIns="0" tIns="0" rIns="0" bIns="0" rtlCol="0" anchor="ctr"/>
          <a:lstStyle/>
          <a:p>
            <a:pPr indent="0" marL="0">
              <a:buNone/>
            </a:pPr>
            <a:r>
              <a:rPr lang="en-US" sz="1600" b="1" dirty="0">
                <a:solidFill>
                  <a:srgbClr val="1F6F43"/>
                </a:solidFill>
                <a:latin typeface="Cambria" pitchFamily="34" charset="0"/>
                <a:ea typeface="Cambria" pitchFamily="34" charset="-122"/>
                <a:cs typeface="Cambria" pitchFamily="34" charset="-120"/>
              </a:rPr>
              <a:t>Future work</a:t>
            </a:r>
            <a:endParaRPr lang="en-US" sz="1600" dirty="0"/>
          </a:p>
        </p:txBody>
      </p:sp>
      <p:sp>
        <p:nvSpPr>
          <p:cNvPr id="21" name="Shape 19"/>
          <p:cNvSpPr/>
          <p:nvPr/>
        </p:nvSpPr>
        <p:spPr>
          <a:xfrm>
            <a:off x="6446520" y="1938528"/>
            <a:ext cx="137160" cy="137160"/>
          </a:xfrm>
          <a:prstGeom prst="ellipse">
            <a:avLst/>
          </a:prstGeom>
          <a:solidFill>
            <a:srgbClr val="1F6F43"/>
          </a:solidFill>
          <a:ln/>
        </p:spPr>
      </p:sp>
      <p:sp>
        <p:nvSpPr>
          <p:cNvPr id="22" name="Text 20"/>
          <p:cNvSpPr txBox="1"/>
          <p:nvPr/>
        </p:nvSpPr>
        <p:spPr>
          <a:xfrm>
            <a:off x="6720840"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Remove the box from inference</a:t>
            </a:r>
            <a:endParaRPr lang="en-US" sz="1300" dirty="0"/>
          </a:p>
        </p:txBody>
      </p:sp>
      <p:sp>
        <p:nvSpPr>
          <p:cNvPr id="23" name="Text 21"/>
          <p:cNvSpPr txBox="1"/>
          <p:nvPr/>
        </p:nvSpPr>
        <p:spPr>
          <a:xfrm>
            <a:off x="6720840"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Detection and grading end to end. In real use nobody draws the bounding box — drawing it is already the diagnosis.</a:t>
            </a:r>
            <a:endParaRPr lang="en-US" sz="1150" dirty="0"/>
          </a:p>
        </p:txBody>
      </p:sp>
      <p:sp>
        <p:nvSpPr>
          <p:cNvPr id="24" name="Shape 22"/>
          <p:cNvSpPr/>
          <p:nvPr/>
        </p:nvSpPr>
        <p:spPr>
          <a:xfrm>
            <a:off x="6446520" y="2944368"/>
            <a:ext cx="137160" cy="137160"/>
          </a:xfrm>
          <a:prstGeom prst="ellipse">
            <a:avLst/>
          </a:prstGeom>
          <a:solidFill>
            <a:srgbClr val="1F6F43"/>
          </a:solidFill>
          <a:ln/>
        </p:spPr>
      </p:sp>
      <p:sp>
        <p:nvSpPr>
          <p:cNvPr id="25" name="Text 23"/>
          <p:cNvSpPr txBox="1"/>
          <p:nvPr/>
        </p:nvSpPr>
        <p:spPr>
          <a:xfrm>
            <a:off x="6720840"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Per-token MIL as the default head</a:t>
            </a:r>
            <a:endParaRPr lang="en-US" sz="1300" dirty="0"/>
          </a:p>
        </p:txBody>
      </p:sp>
      <p:sp>
        <p:nvSpPr>
          <p:cNvPr id="26" name="Text 24"/>
          <p:cNvSpPr txBox="1"/>
          <p:nvPr/>
        </p:nvSpPr>
        <p:spPr>
          <a:xfrm>
            <a:off x="6720840"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It gives the largest margin we measured: +28.8 % on fixed count.</a:t>
            </a:r>
            <a:endParaRPr lang="en-US" sz="1150" dirty="0"/>
          </a:p>
        </p:txBody>
      </p:sp>
      <p:sp>
        <p:nvSpPr>
          <p:cNvPr id="27" name="Shape 25"/>
          <p:cNvSpPr/>
          <p:nvPr/>
        </p:nvSpPr>
        <p:spPr>
          <a:xfrm>
            <a:off x="6446520" y="3950208"/>
            <a:ext cx="137160" cy="137160"/>
          </a:xfrm>
          <a:prstGeom prst="ellipse">
            <a:avLst/>
          </a:prstGeom>
          <a:solidFill>
            <a:srgbClr val="1F6F43"/>
          </a:solidFill>
          <a:ln/>
        </p:spPr>
      </p:sp>
      <p:sp>
        <p:nvSpPr>
          <p:cNvPr id="28" name="Text 26"/>
          <p:cNvSpPr txBox="1"/>
          <p:nvPr/>
        </p:nvSpPr>
        <p:spPr>
          <a:xfrm>
            <a:off x="6720840"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Explicit anti-collapse term</a:t>
            </a:r>
            <a:endParaRPr lang="en-US" sz="1300" dirty="0"/>
          </a:p>
        </p:txBody>
      </p:sp>
      <p:sp>
        <p:nvSpPr>
          <p:cNvPr id="29" name="Text 27"/>
          <p:cNvSpPr txBox="1"/>
          <p:nvPr/>
        </p:nvSpPr>
        <p:spPr>
          <a:xfrm>
            <a:off x="6720840"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Variance-covariance regularisation, instead of relying on the EMA alone.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26 / 26</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2026-09-01T18:02:56Z</dcterms:created>
  <dcterms:modified xsi:type="dcterms:W3CDTF">2026-09-01T18:02:56Z</dcterms:modified>
</cp:coreProperties>
</file>