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Sheet1!$B$2:$B$3</c:f>
              <c:numCache>
                <c:formatCode>General</c:formatCode>
                <c:ptCount val="2"/>
                <c:pt idx="0">
                  <c:v>0.7851</c:v>
                </c:pt>
                <c:pt idx="1">
                  <c:v>0.4014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Sheet1!$C$2:$C$3</c:f>
              <c:numCache>
                <c:formatCode>General</c:formatCode>
                <c:ptCount val="2"/>
                <c:pt idx="0">
                  <c:v>0.757</c:v>
                </c:pt>
                <c:pt idx="1">
                  <c:v>0.5171</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8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Sheet1!$B$2:$B$5</c:f>
              <c:numCache>
                <c:formatCode>General</c:formatCode>
                <c:ptCount val="4"/>
                <c:pt idx="0">
                  <c:v>0.3621</c:v>
                </c:pt>
                <c:pt idx="1">
                  <c:v>0.3861</c:v>
                </c:pt>
                <c:pt idx="2">
                  <c:v>0.3823</c:v>
                </c:pt>
                <c:pt idx="3">
                  <c:v>0.374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Sheet1!$C$2:$C$5</c:f>
              <c:numCache>
                <c:formatCode>General</c:formatCode>
                <c:ptCount val="4"/>
                <c:pt idx="0">
                  <c:v>0.3792</c:v>
                </c:pt>
                <c:pt idx="1">
                  <c:v>0.4713</c:v>
                </c:pt>
                <c:pt idx="2">
                  <c:v>0.5031</c:v>
                </c:pt>
                <c:pt idx="3">
                  <c:v>0.4553</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Read the boxed sentence aloud: it is the whole talk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Point at the strip explanation — it is how they will follow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Land hard on 0.7567 with two thresholds. That number frames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Name Multiple Instance Learning explicitly — it shows we placed the problem in the literature.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The most important slide. Pause after 'within 0.0003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Show, do not read. Left column: bag changes with class. Right: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The two 'tie' rows are the evidence, not the weakness.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Say the invariance was verified BEFORE measuring — it shows method, not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bars: bias present, random wins. Right bars: bias gone, gap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table is the argument: only our method is both latent-space and non-inventing.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 s. Table first, then the interior optimum, then the ICC explanation for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Grey bars random, green I-JEPA. First two groups tie; the K groups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Stress: one encoder, two readings. Then the unselected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right-hand box pre-empts the sharpest question about our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numbered claims, then the closing line. Do not add anything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Leave on screen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 / 16</a:t>
            </a:r>
            <a:endParaRPr lang="en-US" sz="1050" dirty="0"/>
          </a:p>
        </p:txBody>
      </p:sp>
      <p:sp>
        <p:nvSpPr>
          <p:cNvPr id="3" name="Shape 1"/>
          <p:cNvSpPr/>
          <p:nvPr/>
        </p:nvSpPr>
        <p:spPr>
          <a:xfrm>
            <a:off x="0" y="0"/>
            <a:ext cx="12191695" cy="2148840"/>
          </a:xfrm>
          <a:prstGeom prst="rect">
            <a:avLst/>
          </a:prstGeom>
          <a:solidFill>
            <a:srgbClr val="0B3C49"/>
          </a:solidFill>
          <a:ln/>
        </p:spPr>
      </p:sp>
      <p:sp>
        <p:nvSpPr>
          <p:cNvPr id="4" name="Text 2"/>
          <p:cNvSpPr txBox="1"/>
          <p:nvPr/>
        </p:nvSpPr>
        <p:spPr>
          <a:xfrm>
            <a:off x="566928" y="502920"/>
            <a:ext cx="11057839" cy="1143000"/>
          </a:xfrm>
          <a:prstGeom prst="rect">
            <a:avLst/>
          </a:prstGeom>
          <a:noFill/>
          <a:ln/>
        </p:spPr>
        <p:txBody>
          <a:bodyPr wrap="square" lIns="0" tIns="0" rIns="0" bIns="0" rtlCol="0" anchor="ctr"/>
          <a:lstStyle/>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Self-Supervised Latent Representations for</a:t>
            </a:r>
            <a:endParaRPr lang="en-US" sz="2800" dirty="0"/>
          </a:p>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Imbalanced Apical Periodontitis Grading</a:t>
            </a:r>
            <a:endParaRPr lang="en-US" sz="2800" dirty="0"/>
          </a:p>
        </p:txBody>
      </p:sp>
      <p:sp>
        <p:nvSpPr>
          <p:cNvPr id="5" name="Text 3"/>
          <p:cNvSpPr txBox="1"/>
          <p:nvPr/>
        </p:nvSpPr>
        <p:spPr>
          <a:xfrm>
            <a:off x="566928" y="1691640"/>
            <a:ext cx="11057839" cy="274320"/>
          </a:xfrm>
          <a:prstGeom prst="rect">
            <a:avLst/>
          </a:prstGeom>
          <a:noFill/>
          <a:ln/>
        </p:spPr>
        <p:txBody>
          <a:bodyPr wrap="square" lIns="0" tIns="0" rIns="0" bIns="0" rtlCol="0" anchor="ctr"/>
          <a:lstStyle/>
          <a:p>
            <a:pPr indent="0" marL="0">
              <a:buNone/>
            </a:pPr>
            <a:r>
              <a:rPr lang="en-US" sz="1350" dirty="0">
                <a:solidFill>
                  <a:srgbClr val="AFC7D0"/>
                </a:solidFill>
                <a:latin typeface="Calibri" pitchFamily="34" charset="0"/>
                <a:ea typeface="Calibri" pitchFamily="34" charset="-122"/>
                <a:cs typeface="Calibri" pitchFamily="34" charset="-120"/>
              </a:rPr>
              <a:t>Project 8  ·  Computer Vision A.A. 2025-2026</a:t>
            </a:r>
            <a:endParaRPr lang="en-US" sz="1350" dirty="0"/>
          </a:p>
        </p:txBody>
      </p:sp>
      <p:sp>
        <p:nvSpPr>
          <p:cNvPr id="6" name="Text 4"/>
          <p:cNvSpPr txBox="1"/>
          <p:nvPr/>
        </p:nvSpPr>
        <p:spPr>
          <a:xfrm>
            <a:off x="566928" y="2651760"/>
            <a:ext cx="512064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Team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p:txBody>
      </p:sp>
      <p:sp>
        <p:nvSpPr>
          <p:cNvPr id="7" name="Text 5"/>
          <p:cNvSpPr txBox="1"/>
          <p:nvPr/>
        </p:nvSpPr>
        <p:spPr>
          <a:xfrm>
            <a:off x="6309360" y="2651760"/>
            <a:ext cx="530352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Course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Prof. Irene Amerini</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Sapienza Università di Roma · ALCOR Lab</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September 11, 2026</a:t>
            </a:r>
            <a:endParaRPr lang="en-US" sz="1250" dirty="0"/>
          </a:p>
        </p:txBody>
      </p:sp>
      <p:sp>
        <p:nvSpPr>
          <p:cNvPr id="8" name="Shape 6"/>
          <p:cNvSpPr/>
          <p:nvPr/>
        </p:nvSpPr>
        <p:spPr>
          <a:xfrm>
            <a:off x="566928" y="4343400"/>
            <a:ext cx="11057839" cy="1051560"/>
          </a:xfrm>
          <a:prstGeom prst="roundRect">
            <a:avLst>
              <a:gd name="adj" fmla="val 6957"/>
            </a:avLst>
          </a:prstGeom>
          <a:solidFill>
            <a:srgbClr val="F1F4F6"/>
          </a:solidFill>
          <a:ln/>
        </p:spPr>
      </p:sp>
      <p:sp>
        <p:nvSpPr>
          <p:cNvPr id="9" name="Text 7"/>
          <p:cNvSpPr txBox="1"/>
          <p:nvPr/>
        </p:nvSpPr>
        <p:spPr>
          <a:xfrm>
            <a:off x="795528" y="4526280"/>
            <a:ext cx="10600639" cy="731520"/>
          </a:xfrm>
          <a:prstGeom prst="rect">
            <a:avLst/>
          </a:prstGeom>
          <a:noFill/>
          <a:ln/>
        </p:spPr>
        <p:txBody>
          <a:bodyPr wrap="square" lIns="0" tIns="0" rIns="0" bIns="0" rtlCol="0" anchor="ctr"/>
          <a:lstStyle/>
          <a:p>
            <a:pPr indent="0" marL="0">
              <a:lnSpc>
                <a:spcPts val="2100"/>
              </a:lnSpc>
              <a:buNone/>
            </a:pPr>
            <a:r>
              <a:rPr lang="en-US" sz="1400" b="1" dirty="0">
                <a:solidFill>
                  <a:srgbClr val="0B3C49"/>
                </a:solidFill>
                <a:latin typeface="Calibri" pitchFamily="34" charset="0"/>
                <a:ea typeface="Calibri" pitchFamily="34" charset="-122"/>
                <a:cs typeface="Calibri" pitchFamily="34" charset="-120"/>
              </a:rPr>
              <a:t>In one sentence:  </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grading this disease is largely a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geometric</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task, and that fact quietly breaks the evaluation protocol the assignment prescribes. This talk shows how we detected it, removed it, and what the encoder is worth once it is gone.</a:t>
            </a:r>
            <a:endParaRPr lang="en-US" sz="1400" dirty="0"/>
          </a:p>
        </p:txBody>
      </p:sp>
      <p:sp>
        <p:nvSpPr>
          <p:cNvPr id="10" name="Text 8"/>
          <p:cNvSpPr txBox="1"/>
          <p:nvPr/>
        </p:nvSpPr>
        <p:spPr>
          <a:xfrm>
            <a:off x="566928" y="5852160"/>
            <a:ext cx="11057839" cy="256032"/>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PyTorch  ·  github.com/Gennaro-finance/Computer_Vision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ARE GOING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Outline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 / 16</a:t>
            </a:r>
            <a:endParaRPr lang="en-US" sz="1050" dirty="0"/>
          </a:p>
        </p:txBody>
      </p:sp>
      <p:sp>
        <p:nvSpPr>
          <p:cNvPr id="5" name="Shape 3"/>
          <p:cNvSpPr/>
          <p:nvPr/>
        </p:nvSpPr>
        <p:spPr>
          <a:xfrm>
            <a:off x="566928" y="1399032"/>
            <a:ext cx="310896" cy="310896"/>
          </a:xfrm>
          <a:prstGeom prst="ellipse">
            <a:avLst/>
          </a:prstGeom>
          <a:solidFill>
            <a:srgbClr val="A62B1F"/>
          </a:solidFill>
          <a:ln/>
        </p:spPr>
      </p:sp>
      <p:sp>
        <p:nvSpPr>
          <p:cNvPr id="6" name="Text 4"/>
          <p:cNvSpPr txBox="1"/>
          <p:nvPr/>
        </p:nvSpPr>
        <p:spPr>
          <a:xfrm>
            <a:off x="566928" y="1399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3716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 problem is geometric   </a:t>
            </a:r>
            <a:pPr indent="0" marL="0">
              <a:buNone/>
            </a:pPr>
            <a:r>
              <a:rPr lang="en-US" sz="1250" dirty="0">
                <a:solidFill>
                  <a:srgbClr val="58626C"/>
                </a:solidFill>
                <a:latin typeface="Calibri" pitchFamily="34" charset="0"/>
                <a:ea typeface="Calibri" pitchFamily="34" charset="-122"/>
                <a:cs typeface="Calibri" pitchFamily="34" charset="-120"/>
              </a:rPr>
              <a:t>PAI grade is defined by lesion size</a:t>
            </a:r>
            <a:endParaRPr lang="en-US" sz="1500" dirty="0"/>
          </a:p>
        </p:txBody>
      </p:sp>
      <p:sp>
        <p:nvSpPr>
          <p:cNvPr id="8" name="Shape 6"/>
          <p:cNvSpPr/>
          <p:nvPr/>
        </p:nvSpPr>
        <p:spPr>
          <a:xfrm>
            <a:off x="566928" y="1947672"/>
            <a:ext cx="310896" cy="310896"/>
          </a:xfrm>
          <a:prstGeom prst="ellipse">
            <a:avLst/>
          </a:prstGeom>
          <a:solidFill>
            <a:srgbClr val="A62B1F"/>
          </a:solidFill>
          <a:ln/>
        </p:spPr>
      </p:sp>
      <p:sp>
        <p:nvSpPr>
          <p:cNvPr id="9" name="Text 7"/>
          <p:cNvSpPr txBox="1"/>
          <p:nvPr/>
        </p:nvSpPr>
        <p:spPr>
          <a:xfrm>
            <a:off x="566928" y="19476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24128" y="19202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Therefore: bag-size bias   </a:t>
            </a:r>
            <a:pPr indent="0" marL="0">
              <a:buNone/>
            </a:pPr>
            <a:r>
              <a:rPr lang="en-US" sz="1250" dirty="0">
                <a:solidFill>
                  <a:srgbClr val="58626C"/>
                </a:solidFill>
                <a:latin typeface="Calibri" pitchFamily="34" charset="0"/>
                <a:ea typeface="Calibri" pitchFamily="34" charset="-122"/>
                <a:cs typeface="Calibri" pitchFamily="34" charset="-120"/>
              </a:rPr>
              <a:t>The assignment's protocol lets the label leak through token count</a:t>
            </a:r>
            <a:endParaRPr lang="en-US" sz="1500" dirty="0"/>
          </a:p>
        </p:txBody>
      </p:sp>
      <p:sp>
        <p:nvSpPr>
          <p:cNvPr id="11" name="Shape 9"/>
          <p:cNvSpPr/>
          <p:nvPr/>
        </p:nvSpPr>
        <p:spPr>
          <a:xfrm>
            <a:off x="566928" y="2496312"/>
            <a:ext cx="310896" cy="310896"/>
          </a:xfrm>
          <a:prstGeom prst="ellipse">
            <a:avLst/>
          </a:prstGeom>
          <a:solidFill>
            <a:srgbClr val="1F6F43"/>
          </a:solidFill>
          <a:ln/>
        </p:spPr>
      </p:sp>
      <p:sp>
        <p:nvSpPr>
          <p:cNvPr id="12" name="Text 10"/>
          <p:cNvSpPr txBox="1"/>
          <p:nvPr/>
        </p:nvSpPr>
        <p:spPr>
          <a:xfrm>
            <a:off x="566928" y="24963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24128" y="24688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Removing the bias   </a:t>
            </a:r>
            <a:pPr indent="0" marL="0">
              <a:buNone/>
            </a:pPr>
            <a:r>
              <a:rPr lang="en-US" sz="1250" dirty="0">
                <a:solidFill>
                  <a:srgbClr val="58626C"/>
                </a:solidFill>
                <a:latin typeface="Calibri" pitchFamily="34" charset="0"/>
                <a:ea typeface="Calibri" pitchFamily="34" charset="-122"/>
                <a:cs typeface="Calibri" pitchFamily="34" charset="-120"/>
              </a:rPr>
              <a:t>Fixed-count protocol + a two-factor control</a:t>
            </a:r>
            <a:endParaRPr lang="en-US" sz="1500" dirty="0"/>
          </a:p>
        </p:txBody>
      </p:sp>
      <p:sp>
        <p:nvSpPr>
          <p:cNvPr id="14" name="Shape 12"/>
          <p:cNvSpPr/>
          <p:nvPr/>
        </p:nvSpPr>
        <p:spPr>
          <a:xfrm>
            <a:off x="566928" y="3044952"/>
            <a:ext cx="310896" cy="310896"/>
          </a:xfrm>
          <a:prstGeom prst="ellipse">
            <a:avLst/>
          </a:prstGeom>
          <a:solidFill>
            <a:srgbClr val="1C7293"/>
          </a:solidFill>
          <a:ln/>
        </p:spPr>
      </p:sp>
      <p:sp>
        <p:nvSpPr>
          <p:cNvPr id="15" name="Text 13"/>
          <p:cNvSpPr txBox="1"/>
          <p:nvPr/>
        </p:nvSpPr>
        <p:spPr>
          <a:xfrm>
            <a:off x="566928" y="3044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1024128" y="301752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Classification heads   </a:t>
            </a:r>
            <a:pPr indent="0" marL="0">
              <a:buNone/>
            </a:pPr>
            <a:r>
              <a:rPr lang="en-US" sz="1250" dirty="0">
                <a:solidFill>
                  <a:srgbClr val="58626C"/>
                </a:solidFill>
                <a:latin typeface="Calibri" pitchFamily="34" charset="0"/>
                <a:ea typeface="Calibri" pitchFamily="34" charset="-122"/>
                <a:cs typeface="Calibri" pitchFamily="34" charset="-120"/>
              </a:rPr>
              <a:t>Flat, attention pooling, instance-level MIL</a:t>
            </a:r>
            <a:endParaRPr lang="en-US" sz="1500" dirty="0"/>
          </a:p>
        </p:txBody>
      </p:sp>
      <p:sp>
        <p:nvSpPr>
          <p:cNvPr id="17" name="Shape 15"/>
          <p:cNvSpPr/>
          <p:nvPr/>
        </p:nvSpPr>
        <p:spPr>
          <a:xfrm>
            <a:off x="566928" y="3593592"/>
            <a:ext cx="310896" cy="310896"/>
          </a:xfrm>
          <a:prstGeom prst="ellipse">
            <a:avLst/>
          </a:prstGeom>
          <a:solidFill>
            <a:srgbClr val="1C7293"/>
          </a:solidFill>
          <a:ln/>
        </p:spPr>
      </p:sp>
      <p:sp>
        <p:nvSpPr>
          <p:cNvPr id="18" name="Text 16"/>
          <p:cNvSpPr txBox="1"/>
          <p:nvPr/>
        </p:nvSpPr>
        <p:spPr>
          <a:xfrm>
            <a:off x="566928" y="35935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1024128" y="356616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Our novelty   </a:t>
            </a:r>
            <a:pPr indent="0" marL="0">
              <a:buNone/>
            </a:pPr>
            <a:r>
              <a:rPr lang="en-US" sz="1250" dirty="0">
                <a:solidFill>
                  <a:srgbClr val="58626C"/>
                </a:solidFill>
                <a:latin typeface="Calibri" pitchFamily="34" charset="0"/>
                <a:ea typeface="Calibri" pitchFamily="34" charset="-122"/>
                <a:cs typeface="Calibri" pitchFamily="34" charset="-120"/>
              </a:rPr>
              <a:t>Balanced token sampling — rebalancing inside latent space</a:t>
            </a:r>
            <a:endParaRPr lang="en-US" sz="1500" dirty="0"/>
          </a:p>
        </p:txBody>
      </p:sp>
      <p:sp>
        <p:nvSpPr>
          <p:cNvPr id="20" name="Shape 18"/>
          <p:cNvSpPr/>
          <p:nvPr/>
        </p:nvSpPr>
        <p:spPr>
          <a:xfrm>
            <a:off x="566928" y="4142232"/>
            <a:ext cx="310896" cy="310896"/>
          </a:xfrm>
          <a:prstGeom prst="ellipse">
            <a:avLst/>
          </a:prstGeom>
          <a:solidFill>
            <a:srgbClr val="1F6F43"/>
          </a:solidFill>
          <a:ln/>
        </p:spPr>
      </p:sp>
      <p:sp>
        <p:nvSpPr>
          <p:cNvPr id="21" name="Text 19"/>
          <p:cNvSpPr txBox="1"/>
          <p:nvPr/>
        </p:nvSpPr>
        <p:spPr>
          <a:xfrm>
            <a:off x="566928" y="4142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1024128" y="41148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Results   </a:t>
            </a:r>
            <a:pPr indent="0" marL="0">
              <a:buNone/>
            </a:pPr>
            <a:r>
              <a:rPr lang="en-US" sz="1250" dirty="0">
                <a:solidFill>
                  <a:srgbClr val="58626C"/>
                </a:solidFill>
                <a:latin typeface="Calibri" pitchFamily="34" charset="0"/>
                <a:ea typeface="Calibri" pitchFamily="34" charset="-122"/>
                <a:cs typeface="Calibri" pitchFamily="34" charset="-120"/>
              </a:rPr>
              <a:t>What the frozen encoder is actually worth</a:t>
            </a:r>
            <a:endParaRPr lang="en-US" sz="1500" dirty="0"/>
          </a:p>
        </p:txBody>
      </p:sp>
      <p:sp>
        <p:nvSpPr>
          <p:cNvPr id="23" name="Shape 21"/>
          <p:cNvSpPr/>
          <p:nvPr/>
        </p:nvSpPr>
        <p:spPr>
          <a:xfrm>
            <a:off x="566928" y="4690872"/>
            <a:ext cx="310896" cy="310896"/>
          </a:xfrm>
          <a:prstGeom prst="ellipse">
            <a:avLst/>
          </a:prstGeom>
          <a:solidFill>
            <a:srgbClr val="0B3C49"/>
          </a:solidFill>
          <a:ln/>
        </p:spPr>
      </p:sp>
      <p:sp>
        <p:nvSpPr>
          <p:cNvPr id="24" name="Text 22"/>
          <p:cNvSpPr txBox="1"/>
          <p:nvPr/>
        </p:nvSpPr>
        <p:spPr>
          <a:xfrm>
            <a:off x="566928" y="4690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5" name="Text 23"/>
          <p:cNvSpPr txBox="1"/>
          <p:nvPr/>
        </p:nvSpPr>
        <p:spPr>
          <a:xfrm>
            <a:off x="1024128" y="46634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Conclusions   </a:t>
            </a:r>
            <a:pPr indent="0" marL="0">
              <a:buNone/>
            </a:pPr>
            <a:r>
              <a:rPr lang="en-US" sz="1250" dirty="0">
                <a:solidFill>
                  <a:srgbClr val="58626C"/>
                </a:solidFill>
                <a:latin typeface="Calibri" pitchFamily="34" charset="0"/>
                <a:ea typeface="Calibri" pitchFamily="34" charset="-122"/>
                <a:cs typeface="Calibri" pitchFamily="34" charset="-120"/>
              </a:rPr>
              <a:t>Findings, declared limits, future work</a:t>
            </a:r>
            <a:endParaRPr lang="en-US" sz="1500" dirty="0"/>
          </a:p>
        </p:txBody>
      </p:sp>
      <p:sp>
        <p:nvSpPr>
          <p:cNvPr id="26" name="Shape 24"/>
          <p:cNvSpPr/>
          <p:nvPr/>
        </p:nvSpPr>
        <p:spPr>
          <a:xfrm>
            <a:off x="566928" y="5349240"/>
            <a:ext cx="11057839" cy="914400"/>
          </a:xfrm>
          <a:prstGeom prst="roundRect">
            <a:avLst>
              <a:gd name="adj" fmla="val 7000"/>
            </a:avLst>
          </a:prstGeom>
          <a:solidFill>
            <a:srgbClr val="F1F4F6"/>
          </a:solidFill>
          <a:ln/>
        </p:spPr>
      </p:sp>
      <p:sp>
        <p:nvSpPr>
          <p:cNvPr id="27" name="Text 25"/>
          <p:cNvSpPr txBox="1"/>
          <p:nvPr/>
        </p:nvSpPr>
        <p:spPr>
          <a:xfrm>
            <a:off x="749808" y="5477256"/>
            <a:ext cx="10692079"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How to read every result slide</a:t>
            </a:r>
            <a:endParaRPr lang="en-US" sz="1450" dirty="0"/>
          </a:p>
        </p:txBody>
      </p:sp>
      <p:sp>
        <p:nvSpPr>
          <p:cNvPr id="28" name="Text 26"/>
          <p:cNvSpPr txBox="1"/>
          <p:nvPr/>
        </p:nvSpPr>
        <p:spPr>
          <a:xfrm>
            <a:off x="749808" y="5806440"/>
            <a:ext cx="10692079" cy="2926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Each analytical slide opens with the same strip: which MODEL, what it is COMPARED WITH, under which PROTOCOL, on which METRIC. Nine protocols and four related metrics appear in this work — the strip tells you at a glance which pair you are looking at.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problem is geometric</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3 / 16</a:t>
            </a:r>
            <a:endParaRPr lang="en-US" sz="1050" dirty="0"/>
          </a:p>
        </p:txBody>
      </p:sp>
      <p:sp>
        <p:nvSpPr>
          <p:cNvPr id="5" name="Text 3"/>
          <p:cNvSpPr txBox="1"/>
          <p:nvPr/>
        </p:nvSpPr>
        <p:spPr>
          <a:xfrm>
            <a:off x="566928" y="1188720"/>
            <a:ext cx="6675120" cy="777240"/>
          </a:xfrm>
          <a:prstGeom prst="rect">
            <a:avLst/>
          </a:prstGeom>
          <a:noFill/>
          <a:ln/>
        </p:spPr>
        <p:txBody>
          <a:bodyPr wrap="square" lIns="0" tIns="0" rIns="0" bIns="0" rtlCol="0" anchor="ctr"/>
          <a:lstStyle/>
          <a:p>
            <a:pPr indent="0" marL="0">
              <a:lnSpc>
                <a:spcPts val="2100"/>
              </a:lnSpc>
              <a:buNone/>
            </a:pPr>
            <a:r>
              <a:rPr lang="en-US" sz="1450" dirty="0">
                <a:solidFill>
                  <a:srgbClr val="111418"/>
                </a:solidFill>
                <a:latin typeface="Calibri" pitchFamily="34" charset="0"/>
                <a:ea typeface="Calibri" pitchFamily="34" charset="-122"/>
                <a:cs typeface="Calibri" pitchFamily="34" charset="-120"/>
              </a:rPr>
              <a:t>The Periapical Index grades apical periodontitis 3 &lt; 4 &lt; 5. Clinically, the grade is read from </a:t>
            </a:r>
            <a:pPr indent="0" marL="0">
              <a:lnSpc>
                <a:spcPts val="2100"/>
              </a:lnSpc>
              <a:buNone/>
            </a:pPr>
            <a:r>
              <a:rPr lang="en-US" sz="1450" b="1" dirty="0">
                <a:solidFill>
                  <a:srgbClr val="A62B1F"/>
                </a:solidFill>
                <a:latin typeface="Calibri" pitchFamily="34" charset="0"/>
                <a:ea typeface="Calibri" pitchFamily="34" charset="-122"/>
                <a:cs typeface="Calibri" pitchFamily="34" charset="-120"/>
              </a:rPr>
              <a:t>how large and how dark</a:t>
            </a:r>
            <a:pPr indent="0" marL="0">
              <a:lnSpc>
                <a:spcPts val="2100"/>
              </a:lnSpc>
              <a:buNone/>
            </a:pPr>
            <a:r>
              <a:rPr lang="en-US" sz="1450" dirty="0">
                <a:solidFill>
                  <a:srgbClr val="111418"/>
                </a:solidFill>
                <a:latin typeface="Calibri" pitchFamily="34" charset="0"/>
                <a:ea typeface="Calibri" pitchFamily="34" charset="-122"/>
                <a:cs typeface="Calibri" pitchFamily="34" charset="-120"/>
              </a:rPr>
              <a:t> the periapical radiolucency is. Size is not a correlate of the label — it is close to the definition of the label.</a:t>
            </a:r>
            <a:endParaRPr lang="en-US" sz="14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675120" cy="914400"/>
        </p:xfrm>
        <a:graphic>
          <a:graphicData uri="http://schemas.openxmlformats.org/drawingml/2006/table">
            <a:tbl>
              <a:tblPr/>
              <a:tblGrid>
                <a:gridCol w="1691640"/>
                <a:gridCol w="1691640"/>
                <a:gridCol w="1965960"/>
                <a:gridCol w="132588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Median bbox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 box (14×14 grid)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Share of dataset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63.5 %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26.0 %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10.5 %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7" name="Text 4"/>
          <p:cNvSpPr txBox="1"/>
          <p:nvPr/>
        </p:nvSpPr>
        <p:spPr>
          <a:xfrm>
            <a:off x="566928" y="3886200"/>
            <a:ext cx="6675120" cy="457200"/>
          </a:xfrm>
          <a:prstGeom prst="rect">
            <a:avLst/>
          </a:prstGeom>
          <a:noFill/>
          <a:ln/>
        </p:spPr>
        <p:txBody>
          <a:bodyPr wrap="square" lIns="0" tIns="0" rIns="0" bIns="0" rtlCol="0" anchor="ctr"/>
          <a:lstStyle/>
          <a:p>
            <a:pPr indent="0" marL="0">
              <a:buNone/>
            </a:pPr>
            <a:r>
              <a:rPr lang="en-US" sz="1350" b="1" dirty="0">
                <a:solidFill>
                  <a:srgbClr val="A62B1F"/>
                </a:solidFill>
                <a:latin typeface="Calibri" pitchFamily="34" charset="0"/>
                <a:ea typeface="Calibri" pitchFamily="34" charset="-122"/>
                <a:cs typeface="Calibri" pitchFamily="34" charset="-120"/>
              </a:rPr>
              <a:t>Two thresholds on the box side alone — no network at all — already reach macro-F1 0.7567 on the test set.</a:t>
            </a:r>
            <a:endParaRPr lang="en-US" sz="1350" dirty="0"/>
          </a:p>
        </p:txBody>
      </p:sp>
      <p:sp>
        <p:nvSpPr>
          <p:cNvPr id="8" name="Shape 5"/>
          <p:cNvSpPr/>
          <p:nvPr/>
        </p:nvSpPr>
        <p:spPr>
          <a:xfrm>
            <a:off x="7543800" y="1188720"/>
            <a:ext cx="4087368" cy="2240280"/>
          </a:xfrm>
          <a:prstGeom prst="roundRect">
            <a:avLst>
              <a:gd name="adj" fmla="val 2857"/>
            </a:avLst>
          </a:prstGeom>
          <a:solidFill>
            <a:srgbClr val="F4F6F7"/>
          </a:solidFill>
          <a:ln/>
        </p:spPr>
      </p:sp>
      <p:sp>
        <p:nvSpPr>
          <p:cNvPr id="9" name="Text 6"/>
          <p:cNvSpPr txBox="1"/>
          <p:nvPr/>
        </p:nvSpPr>
        <p:spPr>
          <a:xfrm>
            <a:off x="7726680" y="131673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this matters for a CNN-free pipeline</a:t>
            </a:r>
            <a:endParaRPr lang="en-US" sz="1450" dirty="0"/>
          </a:p>
        </p:txBody>
      </p:sp>
      <p:sp>
        <p:nvSpPr>
          <p:cNvPr id="10" name="Text 7"/>
          <p:cNvSpPr txBox="1"/>
          <p:nvPr/>
        </p:nvSpPr>
        <p:spPr>
          <a:xfrm>
            <a:off x="7726680" y="1645920"/>
            <a:ext cx="3721608" cy="161848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 randomly initialised ViT already encodes lesion intensity (R² = 0.99) and lesion size (R² = 0.89) with no training whatsoever. Architecture plus geometry starts close to the ceiling — before any learning happens.</a:t>
            </a:r>
            <a:endParaRPr lang="en-US" sz="1150" dirty="0"/>
          </a:p>
        </p:txBody>
      </p:sp>
      <p:sp>
        <p:nvSpPr>
          <p:cNvPr id="11" name="Shape 8"/>
          <p:cNvSpPr/>
          <p:nvPr/>
        </p:nvSpPr>
        <p:spPr>
          <a:xfrm>
            <a:off x="7543800" y="3611880"/>
            <a:ext cx="4087368" cy="2103120"/>
          </a:xfrm>
          <a:prstGeom prst="roundRect">
            <a:avLst>
              <a:gd name="adj" fmla="val 3043"/>
            </a:avLst>
          </a:prstGeom>
          <a:solidFill>
            <a:srgbClr val="FBF3F2"/>
          </a:solidFill>
          <a:ln/>
        </p:spPr>
      </p:sp>
      <p:sp>
        <p:nvSpPr>
          <p:cNvPr id="12" name="Text 9"/>
          <p:cNvSpPr txBox="1"/>
          <p:nvPr/>
        </p:nvSpPr>
        <p:spPr>
          <a:xfrm>
            <a:off x="7726680" y="373989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The consequence we had to confront</a:t>
            </a:r>
            <a:endParaRPr lang="en-US" sz="1450" dirty="0"/>
          </a:p>
        </p:txBody>
      </p:sp>
      <p:sp>
        <p:nvSpPr>
          <p:cNvPr id="13" name="Text 10"/>
          <p:cNvSpPr txBox="1"/>
          <p:nvPr/>
        </p:nvSpPr>
        <p:spPr>
          <a:xfrm>
            <a:off x="7726680" y="4069080"/>
            <a:ext cx="3721608" cy="148132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Any evaluation that gives the model access to lesion size through a side channel is measuring the disease definition, not the representation. This is what happened, and detecting it is the core of this work.</a:t>
            </a:r>
            <a:endParaRPr lang="en-US" sz="1150" dirty="0"/>
          </a:p>
        </p:txBody>
      </p:sp>
      <p:sp>
        <p:nvSpPr>
          <p:cNvPr id="14" name="Text 11"/>
          <p:cNvSpPr txBox="1"/>
          <p:nvPr/>
        </p:nvSpPr>
        <p:spPr>
          <a:xfrm>
            <a:off x="566928" y="5943600"/>
            <a:ext cx="11057839" cy="274320"/>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Dataset: 2,746 panoramic radiographs · 6,741 annotated lesions · patient-level split (4,719 / 1,009 / 1,013)   —   Do et al., Data in Brief 54:110486 (2024)</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prescribed task is Multiple Instance Learning</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4 / 16</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350" b="1" dirty="0">
                <a:solidFill>
                  <a:srgbClr val="111418"/>
                </a:solidFill>
                <a:latin typeface="Calibri" pitchFamily="34" charset="0"/>
                <a:ea typeface="Calibri" pitchFamily="34" charset="-122"/>
                <a:cs typeface="Calibri" pitchFamily="34" charset="-120"/>
              </a:rPr>
              <a:t>The assignment: </a:t>
            </a:r>
            <a:pPr indent="0" marL="0">
              <a:buNone/>
            </a:pPr>
            <a:r>
              <a:rPr lang="en-US" sz="1350" i="1" dirty="0">
                <a:solidFill>
                  <a:srgbClr val="111418"/>
                </a:solidFill>
                <a:latin typeface="Calibri" pitchFamily="34" charset="0"/>
                <a:ea typeface="Calibri" pitchFamily="34" charset="-122"/>
                <a:cs typeface="Calibri" pitchFamily="34" charset="-120"/>
              </a:rPr>
              <a:t>“Using the provided bounding box coordinates […] extract the latent vectors corresponding to the lesion areas.”</a:t>
            </a:r>
            <a:endParaRPr lang="en-US" sz="1350" dirty="0"/>
          </a:p>
        </p:txBody>
      </p:sp>
      <p:sp>
        <p:nvSpPr>
          <p:cNvPr id="6" name="Text 4"/>
          <p:cNvSpPr txBox="1"/>
          <p:nvPr/>
        </p:nvSpPr>
        <p:spPr>
          <a:xfrm>
            <a:off x="566928" y="1691640"/>
            <a:ext cx="6766560" cy="1188720"/>
          </a:xfrm>
          <a:prstGeom prst="rect">
            <a:avLst/>
          </a:prstGeom>
          <a:noFill/>
          <a:ln/>
        </p:spPr>
        <p:txBody>
          <a:bodyPr wrap="square" lIns="0" tIns="0" rIns="0" bIns="0" rtlCol="0" anchor="ctr"/>
          <a:lstStyle/>
          <a:p>
            <a:pPr indent="0" marL="0">
              <a:lnSpc>
                <a:spcPts val="2100"/>
              </a:lnSpc>
              <a:buNone/>
            </a:pPr>
            <a:r>
              <a:rPr lang="en-US" sz="1400" b="1" dirty="0">
                <a:solidFill>
                  <a:srgbClr val="111418"/>
                </a:solidFill>
                <a:latin typeface="Calibri" pitchFamily="34" charset="0"/>
                <a:ea typeface="Calibri" pitchFamily="34" charset="-122"/>
                <a:cs typeface="Calibri" pitchFamily="34" charset="-120"/>
              </a:rPr>
              <a:t>Latent vector</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plural, and the count varies per lesion. One label, a variable-size set of instances: this is exactly the Multiple Instance Learning setting (Ilse et al., 2018), and its known failure mode is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bag-size bias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the classifier learns to read how many instances are in the bag instead of what they contain.</a:t>
            </a:r>
            <a:endParaRPr lang="en-US" sz="1400" dirty="0"/>
          </a:p>
        </p:txBody>
      </p:sp>
      <p:sp>
        <p:nvSpPr>
          <p:cNvPr id="7" name="Shape 5"/>
          <p:cNvSpPr/>
          <p:nvPr/>
        </p:nvSpPr>
        <p:spPr>
          <a:xfrm>
            <a:off x="566928" y="3108960"/>
            <a:ext cx="2286000" cy="1737360"/>
          </a:xfrm>
          <a:prstGeom prst="roundRect">
            <a:avLst>
              <a:gd name="adj" fmla="val 3684"/>
            </a:avLst>
          </a:prstGeom>
          <a:solidFill>
            <a:srgbClr val="F4F6F7"/>
          </a:solidFill>
          <a:ln/>
        </p:spPr>
      </p:sp>
      <p:sp>
        <p:nvSpPr>
          <p:cNvPr id="8" name="Shape 6"/>
          <p:cNvSpPr/>
          <p:nvPr/>
        </p:nvSpPr>
        <p:spPr>
          <a:xfrm>
            <a:off x="950976" y="3493008"/>
            <a:ext cx="128016" cy="128016"/>
          </a:xfrm>
          <a:prstGeom prst="rect">
            <a:avLst/>
          </a:prstGeom>
          <a:solidFill>
            <a:srgbClr val="1C7293"/>
          </a:solidFill>
          <a:ln/>
        </p:spPr>
      </p:sp>
      <p:sp>
        <p:nvSpPr>
          <p:cNvPr id="9" name="Shape 7"/>
          <p:cNvSpPr/>
          <p:nvPr/>
        </p:nvSpPr>
        <p:spPr>
          <a:xfrm>
            <a:off x="1106424" y="3493008"/>
            <a:ext cx="128016" cy="128016"/>
          </a:xfrm>
          <a:prstGeom prst="rect">
            <a:avLst/>
          </a:prstGeom>
          <a:solidFill>
            <a:srgbClr val="1C7293"/>
          </a:solidFill>
          <a:ln/>
        </p:spPr>
      </p:sp>
      <p:sp>
        <p:nvSpPr>
          <p:cNvPr id="10" name="Shape 8"/>
          <p:cNvSpPr/>
          <p:nvPr/>
        </p:nvSpPr>
        <p:spPr>
          <a:xfrm>
            <a:off x="1261872" y="3493008"/>
            <a:ext cx="128016" cy="128016"/>
          </a:xfrm>
          <a:prstGeom prst="rect">
            <a:avLst/>
          </a:prstGeom>
          <a:solidFill>
            <a:srgbClr val="1C7293"/>
          </a:solidFill>
          <a:ln/>
        </p:spPr>
      </p:sp>
      <p:sp>
        <p:nvSpPr>
          <p:cNvPr id="11" name="Shape 9"/>
          <p:cNvSpPr/>
          <p:nvPr/>
        </p:nvSpPr>
        <p:spPr>
          <a:xfrm>
            <a:off x="1417320" y="3493008"/>
            <a:ext cx="128016" cy="128016"/>
          </a:xfrm>
          <a:prstGeom prst="rect">
            <a:avLst/>
          </a:prstGeom>
          <a:solidFill>
            <a:srgbClr val="1C7293"/>
          </a:solidFill>
          <a:ln/>
        </p:spPr>
      </p:sp>
      <p:sp>
        <p:nvSpPr>
          <p:cNvPr id="12" name="Shape 10"/>
          <p:cNvSpPr/>
          <p:nvPr/>
        </p:nvSpPr>
        <p:spPr>
          <a:xfrm>
            <a:off x="950976" y="3648456"/>
            <a:ext cx="128016" cy="128016"/>
          </a:xfrm>
          <a:prstGeom prst="rect">
            <a:avLst/>
          </a:prstGeom>
          <a:solidFill>
            <a:srgbClr val="1C7293"/>
          </a:solidFill>
          <a:ln/>
        </p:spPr>
      </p:sp>
      <p:sp>
        <p:nvSpPr>
          <p:cNvPr id="13" name="Shape 11"/>
          <p:cNvSpPr/>
          <p:nvPr/>
        </p:nvSpPr>
        <p:spPr>
          <a:xfrm>
            <a:off x="1106424" y="3648456"/>
            <a:ext cx="128016" cy="128016"/>
          </a:xfrm>
          <a:prstGeom prst="rect">
            <a:avLst/>
          </a:prstGeom>
          <a:solidFill>
            <a:srgbClr val="1C7293"/>
          </a:solidFill>
          <a:ln/>
        </p:spPr>
      </p:sp>
      <p:sp>
        <p:nvSpPr>
          <p:cNvPr id="14" name="Shape 12"/>
          <p:cNvSpPr/>
          <p:nvPr/>
        </p:nvSpPr>
        <p:spPr>
          <a:xfrm>
            <a:off x="1261872" y="3648456"/>
            <a:ext cx="128016" cy="128016"/>
          </a:xfrm>
          <a:prstGeom prst="rect">
            <a:avLst/>
          </a:prstGeom>
          <a:solidFill>
            <a:srgbClr val="1C7293"/>
          </a:solidFill>
          <a:ln/>
        </p:spPr>
      </p:sp>
      <p:sp>
        <p:nvSpPr>
          <p:cNvPr id="15" name="Shape 13"/>
          <p:cNvSpPr/>
          <p:nvPr/>
        </p:nvSpPr>
        <p:spPr>
          <a:xfrm>
            <a:off x="1417320" y="3648456"/>
            <a:ext cx="128016" cy="128016"/>
          </a:xfrm>
          <a:prstGeom prst="rect">
            <a:avLst/>
          </a:prstGeom>
          <a:solidFill>
            <a:srgbClr val="1C7293"/>
          </a:solidFill>
          <a:ln/>
        </p:spPr>
      </p:sp>
      <p:sp>
        <p:nvSpPr>
          <p:cNvPr id="16" name="Shape 14"/>
          <p:cNvSpPr/>
          <p:nvPr/>
        </p:nvSpPr>
        <p:spPr>
          <a:xfrm>
            <a:off x="950976" y="3803904"/>
            <a:ext cx="128016" cy="128016"/>
          </a:xfrm>
          <a:prstGeom prst="rect">
            <a:avLst/>
          </a:prstGeom>
          <a:solidFill>
            <a:srgbClr val="1C7293"/>
          </a:solidFill>
          <a:ln/>
        </p:spPr>
      </p:sp>
      <p:sp>
        <p:nvSpPr>
          <p:cNvPr id="17" name="Shape 15"/>
          <p:cNvSpPr/>
          <p:nvPr/>
        </p:nvSpPr>
        <p:spPr>
          <a:xfrm>
            <a:off x="1106424" y="3803904"/>
            <a:ext cx="128016" cy="128016"/>
          </a:xfrm>
          <a:prstGeom prst="rect">
            <a:avLst/>
          </a:prstGeom>
          <a:solidFill>
            <a:srgbClr val="1C7293"/>
          </a:solidFill>
          <a:ln/>
        </p:spPr>
      </p:sp>
      <p:sp>
        <p:nvSpPr>
          <p:cNvPr id="18" name="Shape 16"/>
          <p:cNvSpPr/>
          <p:nvPr/>
        </p:nvSpPr>
        <p:spPr>
          <a:xfrm>
            <a:off x="1261872" y="3803904"/>
            <a:ext cx="128016" cy="128016"/>
          </a:xfrm>
          <a:prstGeom prst="rect">
            <a:avLst/>
          </a:prstGeom>
          <a:solidFill>
            <a:srgbClr val="1C7293"/>
          </a:solidFill>
          <a:ln/>
        </p:spPr>
      </p:sp>
      <p:sp>
        <p:nvSpPr>
          <p:cNvPr id="19" name="Shape 17"/>
          <p:cNvSpPr/>
          <p:nvPr/>
        </p:nvSpPr>
        <p:spPr>
          <a:xfrm>
            <a:off x="1417320" y="3803904"/>
            <a:ext cx="128016" cy="128016"/>
          </a:xfrm>
          <a:prstGeom prst="rect">
            <a:avLst/>
          </a:prstGeom>
          <a:solidFill>
            <a:srgbClr val="1C7293"/>
          </a:solidFill>
          <a:ln/>
        </p:spPr>
      </p:sp>
      <p:sp>
        <p:nvSpPr>
          <p:cNvPr id="20" name="Shape 18"/>
          <p:cNvSpPr/>
          <p:nvPr/>
        </p:nvSpPr>
        <p:spPr>
          <a:xfrm>
            <a:off x="950976" y="3959352"/>
            <a:ext cx="128016" cy="128016"/>
          </a:xfrm>
          <a:prstGeom prst="rect">
            <a:avLst/>
          </a:prstGeom>
          <a:solidFill>
            <a:srgbClr val="1C7293"/>
          </a:solidFill>
          <a:ln/>
        </p:spPr>
      </p:sp>
      <p:sp>
        <p:nvSpPr>
          <p:cNvPr id="21" name="Shape 19"/>
          <p:cNvSpPr/>
          <p:nvPr/>
        </p:nvSpPr>
        <p:spPr>
          <a:xfrm>
            <a:off x="1106424" y="3959352"/>
            <a:ext cx="128016" cy="128016"/>
          </a:xfrm>
          <a:prstGeom prst="rect">
            <a:avLst/>
          </a:prstGeom>
          <a:solidFill>
            <a:srgbClr val="1C7293"/>
          </a:solidFill>
          <a:ln/>
        </p:spPr>
      </p:sp>
      <p:sp>
        <p:nvSpPr>
          <p:cNvPr id="22" name="Shape 20"/>
          <p:cNvSpPr/>
          <p:nvPr/>
        </p:nvSpPr>
        <p:spPr>
          <a:xfrm>
            <a:off x="1261872" y="3959352"/>
            <a:ext cx="128016" cy="128016"/>
          </a:xfrm>
          <a:prstGeom prst="rect">
            <a:avLst/>
          </a:prstGeom>
          <a:solidFill>
            <a:srgbClr val="1C7293"/>
          </a:solidFill>
          <a:ln/>
        </p:spPr>
      </p:sp>
      <p:sp>
        <p:nvSpPr>
          <p:cNvPr id="23" name="Shape 21"/>
          <p:cNvSpPr/>
          <p:nvPr/>
        </p:nvSpPr>
        <p:spPr>
          <a:xfrm>
            <a:off x="1417320" y="3959352"/>
            <a:ext cx="128016" cy="128016"/>
          </a:xfrm>
          <a:prstGeom prst="rect">
            <a:avLst/>
          </a:prstGeom>
          <a:solidFill>
            <a:srgbClr val="1C7293"/>
          </a:solidFill>
          <a:ln/>
        </p:spPr>
      </p:sp>
      <p:sp>
        <p:nvSpPr>
          <p:cNvPr id="24" name="Text 22"/>
          <p:cNvSpPr txBox="1"/>
          <p:nvPr/>
        </p:nvSpPr>
        <p:spPr>
          <a:xfrm>
            <a:off x="56692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3 — small bag</a:t>
            </a:r>
            <a:endParaRPr lang="en-US" sz="1200" dirty="0"/>
          </a:p>
        </p:txBody>
      </p:sp>
      <p:sp>
        <p:nvSpPr>
          <p:cNvPr id="25" name="Text 23"/>
          <p:cNvSpPr txBox="1"/>
          <p:nvPr/>
        </p:nvSpPr>
        <p:spPr>
          <a:xfrm>
            <a:off x="566928" y="4526280"/>
            <a:ext cx="228600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16 instances</a:t>
            </a:r>
            <a:endParaRPr lang="en-US" sz="1200" dirty="0"/>
          </a:p>
        </p:txBody>
      </p:sp>
      <p:sp>
        <p:nvSpPr>
          <p:cNvPr id="26" name="Shape 24"/>
          <p:cNvSpPr/>
          <p:nvPr/>
        </p:nvSpPr>
        <p:spPr>
          <a:xfrm>
            <a:off x="3218688" y="3108960"/>
            <a:ext cx="2286000" cy="1737360"/>
          </a:xfrm>
          <a:prstGeom prst="roundRect">
            <a:avLst>
              <a:gd name="adj" fmla="val 3684"/>
            </a:avLst>
          </a:prstGeom>
          <a:solidFill>
            <a:srgbClr val="F4F6F7"/>
          </a:solidFill>
          <a:ln/>
        </p:spPr>
      </p:sp>
      <p:sp>
        <p:nvSpPr>
          <p:cNvPr id="27" name="Shape 25"/>
          <p:cNvSpPr/>
          <p:nvPr/>
        </p:nvSpPr>
        <p:spPr>
          <a:xfrm>
            <a:off x="3602736" y="3493008"/>
            <a:ext cx="128016" cy="128016"/>
          </a:xfrm>
          <a:prstGeom prst="rect">
            <a:avLst/>
          </a:prstGeom>
          <a:solidFill>
            <a:srgbClr val="A62B1F"/>
          </a:solidFill>
          <a:ln/>
        </p:spPr>
      </p:sp>
      <p:sp>
        <p:nvSpPr>
          <p:cNvPr id="28" name="Shape 26"/>
          <p:cNvSpPr/>
          <p:nvPr/>
        </p:nvSpPr>
        <p:spPr>
          <a:xfrm>
            <a:off x="3758184" y="3493008"/>
            <a:ext cx="128016" cy="128016"/>
          </a:xfrm>
          <a:prstGeom prst="rect">
            <a:avLst/>
          </a:prstGeom>
          <a:solidFill>
            <a:srgbClr val="A62B1F"/>
          </a:solidFill>
          <a:ln/>
        </p:spPr>
      </p:sp>
      <p:sp>
        <p:nvSpPr>
          <p:cNvPr id="29" name="Shape 27"/>
          <p:cNvSpPr/>
          <p:nvPr/>
        </p:nvSpPr>
        <p:spPr>
          <a:xfrm>
            <a:off x="3913632" y="3493008"/>
            <a:ext cx="128016" cy="128016"/>
          </a:xfrm>
          <a:prstGeom prst="rect">
            <a:avLst/>
          </a:prstGeom>
          <a:solidFill>
            <a:srgbClr val="A62B1F"/>
          </a:solidFill>
          <a:ln/>
        </p:spPr>
      </p:sp>
      <p:sp>
        <p:nvSpPr>
          <p:cNvPr id="30" name="Shape 28"/>
          <p:cNvSpPr/>
          <p:nvPr/>
        </p:nvSpPr>
        <p:spPr>
          <a:xfrm>
            <a:off x="4069080" y="3493008"/>
            <a:ext cx="128016" cy="128016"/>
          </a:xfrm>
          <a:prstGeom prst="rect">
            <a:avLst/>
          </a:prstGeom>
          <a:solidFill>
            <a:srgbClr val="A62B1F"/>
          </a:solidFill>
          <a:ln/>
        </p:spPr>
      </p:sp>
      <p:sp>
        <p:nvSpPr>
          <p:cNvPr id="31" name="Shape 29"/>
          <p:cNvSpPr/>
          <p:nvPr/>
        </p:nvSpPr>
        <p:spPr>
          <a:xfrm>
            <a:off x="4224528" y="3493008"/>
            <a:ext cx="128016" cy="128016"/>
          </a:xfrm>
          <a:prstGeom prst="rect">
            <a:avLst/>
          </a:prstGeom>
          <a:solidFill>
            <a:srgbClr val="A62B1F"/>
          </a:solidFill>
          <a:ln/>
        </p:spPr>
      </p:sp>
      <p:sp>
        <p:nvSpPr>
          <p:cNvPr id="32" name="Shape 30"/>
          <p:cNvSpPr/>
          <p:nvPr/>
        </p:nvSpPr>
        <p:spPr>
          <a:xfrm>
            <a:off x="4379976" y="3493008"/>
            <a:ext cx="128016" cy="128016"/>
          </a:xfrm>
          <a:prstGeom prst="rect">
            <a:avLst/>
          </a:prstGeom>
          <a:solidFill>
            <a:srgbClr val="A62B1F"/>
          </a:solidFill>
          <a:ln/>
        </p:spPr>
      </p:sp>
      <p:sp>
        <p:nvSpPr>
          <p:cNvPr id="33" name="Shape 31"/>
          <p:cNvSpPr/>
          <p:nvPr/>
        </p:nvSpPr>
        <p:spPr>
          <a:xfrm>
            <a:off x="4535424" y="3493008"/>
            <a:ext cx="128016" cy="128016"/>
          </a:xfrm>
          <a:prstGeom prst="rect">
            <a:avLst/>
          </a:prstGeom>
          <a:solidFill>
            <a:srgbClr val="A62B1F"/>
          </a:solidFill>
          <a:ln/>
        </p:spPr>
      </p:sp>
      <p:sp>
        <p:nvSpPr>
          <p:cNvPr id="34" name="Shape 32"/>
          <p:cNvSpPr/>
          <p:nvPr/>
        </p:nvSpPr>
        <p:spPr>
          <a:xfrm>
            <a:off x="4690872" y="3493008"/>
            <a:ext cx="128016" cy="128016"/>
          </a:xfrm>
          <a:prstGeom prst="rect">
            <a:avLst/>
          </a:prstGeom>
          <a:solidFill>
            <a:srgbClr val="A62B1F"/>
          </a:solidFill>
          <a:ln/>
        </p:spPr>
      </p:sp>
      <p:sp>
        <p:nvSpPr>
          <p:cNvPr id="35" name="Shape 33"/>
          <p:cNvSpPr/>
          <p:nvPr/>
        </p:nvSpPr>
        <p:spPr>
          <a:xfrm>
            <a:off x="3602736" y="3648456"/>
            <a:ext cx="128016" cy="128016"/>
          </a:xfrm>
          <a:prstGeom prst="rect">
            <a:avLst/>
          </a:prstGeom>
          <a:solidFill>
            <a:srgbClr val="A62B1F"/>
          </a:solidFill>
          <a:ln/>
        </p:spPr>
      </p:sp>
      <p:sp>
        <p:nvSpPr>
          <p:cNvPr id="36" name="Shape 34"/>
          <p:cNvSpPr/>
          <p:nvPr/>
        </p:nvSpPr>
        <p:spPr>
          <a:xfrm>
            <a:off x="3758184" y="3648456"/>
            <a:ext cx="128016" cy="128016"/>
          </a:xfrm>
          <a:prstGeom prst="rect">
            <a:avLst/>
          </a:prstGeom>
          <a:solidFill>
            <a:srgbClr val="A62B1F"/>
          </a:solidFill>
          <a:ln/>
        </p:spPr>
      </p:sp>
      <p:sp>
        <p:nvSpPr>
          <p:cNvPr id="37" name="Shape 35"/>
          <p:cNvSpPr/>
          <p:nvPr/>
        </p:nvSpPr>
        <p:spPr>
          <a:xfrm>
            <a:off x="3913632" y="3648456"/>
            <a:ext cx="128016" cy="128016"/>
          </a:xfrm>
          <a:prstGeom prst="rect">
            <a:avLst/>
          </a:prstGeom>
          <a:solidFill>
            <a:srgbClr val="A62B1F"/>
          </a:solidFill>
          <a:ln/>
        </p:spPr>
      </p:sp>
      <p:sp>
        <p:nvSpPr>
          <p:cNvPr id="38" name="Shape 36"/>
          <p:cNvSpPr/>
          <p:nvPr/>
        </p:nvSpPr>
        <p:spPr>
          <a:xfrm>
            <a:off x="4069080" y="3648456"/>
            <a:ext cx="128016" cy="128016"/>
          </a:xfrm>
          <a:prstGeom prst="rect">
            <a:avLst/>
          </a:prstGeom>
          <a:solidFill>
            <a:srgbClr val="A62B1F"/>
          </a:solidFill>
          <a:ln/>
        </p:spPr>
      </p:sp>
      <p:sp>
        <p:nvSpPr>
          <p:cNvPr id="39" name="Shape 37"/>
          <p:cNvSpPr/>
          <p:nvPr/>
        </p:nvSpPr>
        <p:spPr>
          <a:xfrm>
            <a:off x="4224528" y="3648456"/>
            <a:ext cx="128016" cy="128016"/>
          </a:xfrm>
          <a:prstGeom prst="rect">
            <a:avLst/>
          </a:prstGeom>
          <a:solidFill>
            <a:srgbClr val="A62B1F"/>
          </a:solidFill>
          <a:ln/>
        </p:spPr>
      </p:sp>
      <p:sp>
        <p:nvSpPr>
          <p:cNvPr id="40" name="Shape 38"/>
          <p:cNvSpPr/>
          <p:nvPr/>
        </p:nvSpPr>
        <p:spPr>
          <a:xfrm>
            <a:off x="4379976" y="3648456"/>
            <a:ext cx="128016" cy="128016"/>
          </a:xfrm>
          <a:prstGeom prst="rect">
            <a:avLst/>
          </a:prstGeom>
          <a:solidFill>
            <a:srgbClr val="A62B1F"/>
          </a:solidFill>
          <a:ln/>
        </p:spPr>
      </p:sp>
      <p:sp>
        <p:nvSpPr>
          <p:cNvPr id="41" name="Shape 39"/>
          <p:cNvSpPr/>
          <p:nvPr/>
        </p:nvSpPr>
        <p:spPr>
          <a:xfrm>
            <a:off x="4535424" y="3648456"/>
            <a:ext cx="128016" cy="128016"/>
          </a:xfrm>
          <a:prstGeom prst="rect">
            <a:avLst/>
          </a:prstGeom>
          <a:solidFill>
            <a:srgbClr val="A62B1F"/>
          </a:solidFill>
          <a:ln/>
        </p:spPr>
      </p:sp>
      <p:sp>
        <p:nvSpPr>
          <p:cNvPr id="42" name="Shape 40"/>
          <p:cNvSpPr/>
          <p:nvPr/>
        </p:nvSpPr>
        <p:spPr>
          <a:xfrm>
            <a:off x="4690872" y="3648456"/>
            <a:ext cx="128016" cy="128016"/>
          </a:xfrm>
          <a:prstGeom prst="rect">
            <a:avLst/>
          </a:prstGeom>
          <a:solidFill>
            <a:srgbClr val="A62B1F"/>
          </a:solidFill>
          <a:ln/>
        </p:spPr>
      </p:sp>
      <p:sp>
        <p:nvSpPr>
          <p:cNvPr id="43" name="Shape 41"/>
          <p:cNvSpPr/>
          <p:nvPr/>
        </p:nvSpPr>
        <p:spPr>
          <a:xfrm>
            <a:off x="3602736" y="3803904"/>
            <a:ext cx="128016" cy="128016"/>
          </a:xfrm>
          <a:prstGeom prst="rect">
            <a:avLst/>
          </a:prstGeom>
          <a:solidFill>
            <a:srgbClr val="A62B1F"/>
          </a:solidFill>
          <a:ln/>
        </p:spPr>
      </p:sp>
      <p:sp>
        <p:nvSpPr>
          <p:cNvPr id="44" name="Shape 42"/>
          <p:cNvSpPr/>
          <p:nvPr/>
        </p:nvSpPr>
        <p:spPr>
          <a:xfrm>
            <a:off x="3758184" y="3803904"/>
            <a:ext cx="128016" cy="128016"/>
          </a:xfrm>
          <a:prstGeom prst="rect">
            <a:avLst/>
          </a:prstGeom>
          <a:solidFill>
            <a:srgbClr val="A62B1F"/>
          </a:solidFill>
          <a:ln/>
        </p:spPr>
      </p:sp>
      <p:sp>
        <p:nvSpPr>
          <p:cNvPr id="45" name="Shape 43"/>
          <p:cNvSpPr/>
          <p:nvPr/>
        </p:nvSpPr>
        <p:spPr>
          <a:xfrm>
            <a:off x="3913632" y="3803904"/>
            <a:ext cx="128016" cy="128016"/>
          </a:xfrm>
          <a:prstGeom prst="rect">
            <a:avLst/>
          </a:prstGeom>
          <a:solidFill>
            <a:srgbClr val="A62B1F"/>
          </a:solidFill>
          <a:ln/>
        </p:spPr>
      </p:sp>
      <p:sp>
        <p:nvSpPr>
          <p:cNvPr id="46" name="Shape 44"/>
          <p:cNvSpPr/>
          <p:nvPr/>
        </p:nvSpPr>
        <p:spPr>
          <a:xfrm>
            <a:off x="4069080" y="3803904"/>
            <a:ext cx="128016" cy="128016"/>
          </a:xfrm>
          <a:prstGeom prst="rect">
            <a:avLst/>
          </a:prstGeom>
          <a:solidFill>
            <a:srgbClr val="A62B1F"/>
          </a:solidFill>
          <a:ln/>
        </p:spPr>
      </p:sp>
      <p:sp>
        <p:nvSpPr>
          <p:cNvPr id="47" name="Shape 45"/>
          <p:cNvSpPr/>
          <p:nvPr/>
        </p:nvSpPr>
        <p:spPr>
          <a:xfrm>
            <a:off x="4224528" y="3803904"/>
            <a:ext cx="128016" cy="128016"/>
          </a:xfrm>
          <a:prstGeom prst="rect">
            <a:avLst/>
          </a:prstGeom>
          <a:solidFill>
            <a:srgbClr val="A62B1F"/>
          </a:solidFill>
          <a:ln/>
        </p:spPr>
      </p:sp>
      <p:sp>
        <p:nvSpPr>
          <p:cNvPr id="48" name="Shape 46"/>
          <p:cNvSpPr/>
          <p:nvPr/>
        </p:nvSpPr>
        <p:spPr>
          <a:xfrm>
            <a:off x="4379976" y="3803904"/>
            <a:ext cx="128016" cy="128016"/>
          </a:xfrm>
          <a:prstGeom prst="rect">
            <a:avLst/>
          </a:prstGeom>
          <a:solidFill>
            <a:srgbClr val="A62B1F"/>
          </a:solidFill>
          <a:ln/>
        </p:spPr>
      </p:sp>
      <p:sp>
        <p:nvSpPr>
          <p:cNvPr id="49" name="Shape 47"/>
          <p:cNvSpPr/>
          <p:nvPr/>
        </p:nvSpPr>
        <p:spPr>
          <a:xfrm>
            <a:off x="4535424" y="3803904"/>
            <a:ext cx="128016" cy="128016"/>
          </a:xfrm>
          <a:prstGeom prst="rect">
            <a:avLst/>
          </a:prstGeom>
          <a:solidFill>
            <a:srgbClr val="A62B1F"/>
          </a:solidFill>
          <a:ln/>
        </p:spPr>
      </p:sp>
      <p:sp>
        <p:nvSpPr>
          <p:cNvPr id="50" name="Shape 48"/>
          <p:cNvSpPr/>
          <p:nvPr/>
        </p:nvSpPr>
        <p:spPr>
          <a:xfrm>
            <a:off x="4690872" y="3803904"/>
            <a:ext cx="128016" cy="128016"/>
          </a:xfrm>
          <a:prstGeom prst="rect">
            <a:avLst/>
          </a:prstGeom>
          <a:solidFill>
            <a:srgbClr val="A62B1F"/>
          </a:solidFill>
          <a:ln/>
        </p:spPr>
      </p:sp>
      <p:sp>
        <p:nvSpPr>
          <p:cNvPr id="51" name="Shape 49"/>
          <p:cNvSpPr/>
          <p:nvPr/>
        </p:nvSpPr>
        <p:spPr>
          <a:xfrm>
            <a:off x="3602736" y="3959352"/>
            <a:ext cx="128016" cy="128016"/>
          </a:xfrm>
          <a:prstGeom prst="rect">
            <a:avLst/>
          </a:prstGeom>
          <a:solidFill>
            <a:srgbClr val="A62B1F"/>
          </a:solidFill>
          <a:ln/>
        </p:spPr>
      </p:sp>
      <p:sp>
        <p:nvSpPr>
          <p:cNvPr id="52" name="Shape 50"/>
          <p:cNvSpPr/>
          <p:nvPr/>
        </p:nvSpPr>
        <p:spPr>
          <a:xfrm>
            <a:off x="3758184" y="3959352"/>
            <a:ext cx="128016" cy="128016"/>
          </a:xfrm>
          <a:prstGeom prst="rect">
            <a:avLst/>
          </a:prstGeom>
          <a:solidFill>
            <a:srgbClr val="A62B1F"/>
          </a:solidFill>
          <a:ln/>
        </p:spPr>
      </p:sp>
      <p:sp>
        <p:nvSpPr>
          <p:cNvPr id="53" name="Shape 51"/>
          <p:cNvSpPr/>
          <p:nvPr/>
        </p:nvSpPr>
        <p:spPr>
          <a:xfrm>
            <a:off x="3913632" y="3959352"/>
            <a:ext cx="128016" cy="128016"/>
          </a:xfrm>
          <a:prstGeom prst="rect">
            <a:avLst/>
          </a:prstGeom>
          <a:solidFill>
            <a:srgbClr val="A62B1F"/>
          </a:solidFill>
          <a:ln/>
        </p:spPr>
      </p:sp>
      <p:sp>
        <p:nvSpPr>
          <p:cNvPr id="54" name="Shape 52"/>
          <p:cNvSpPr/>
          <p:nvPr/>
        </p:nvSpPr>
        <p:spPr>
          <a:xfrm>
            <a:off x="4069080" y="3959352"/>
            <a:ext cx="128016" cy="128016"/>
          </a:xfrm>
          <a:prstGeom prst="rect">
            <a:avLst/>
          </a:prstGeom>
          <a:solidFill>
            <a:srgbClr val="A62B1F"/>
          </a:solidFill>
          <a:ln/>
        </p:spPr>
      </p:sp>
      <p:sp>
        <p:nvSpPr>
          <p:cNvPr id="55" name="Shape 53"/>
          <p:cNvSpPr/>
          <p:nvPr/>
        </p:nvSpPr>
        <p:spPr>
          <a:xfrm>
            <a:off x="4224528" y="3959352"/>
            <a:ext cx="128016" cy="128016"/>
          </a:xfrm>
          <a:prstGeom prst="rect">
            <a:avLst/>
          </a:prstGeom>
          <a:solidFill>
            <a:srgbClr val="A62B1F"/>
          </a:solidFill>
          <a:ln/>
        </p:spPr>
      </p:sp>
      <p:sp>
        <p:nvSpPr>
          <p:cNvPr id="56" name="Shape 54"/>
          <p:cNvSpPr/>
          <p:nvPr/>
        </p:nvSpPr>
        <p:spPr>
          <a:xfrm>
            <a:off x="4379976" y="3959352"/>
            <a:ext cx="128016" cy="128016"/>
          </a:xfrm>
          <a:prstGeom prst="rect">
            <a:avLst/>
          </a:prstGeom>
          <a:solidFill>
            <a:srgbClr val="A62B1F"/>
          </a:solidFill>
          <a:ln/>
        </p:spPr>
      </p:sp>
      <p:sp>
        <p:nvSpPr>
          <p:cNvPr id="57" name="Shape 55"/>
          <p:cNvSpPr/>
          <p:nvPr/>
        </p:nvSpPr>
        <p:spPr>
          <a:xfrm>
            <a:off x="4535424" y="3959352"/>
            <a:ext cx="128016" cy="128016"/>
          </a:xfrm>
          <a:prstGeom prst="rect">
            <a:avLst/>
          </a:prstGeom>
          <a:solidFill>
            <a:srgbClr val="A62B1F"/>
          </a:solidFill>
          <a:ln/>
        </p:spPr>
      </p:sp>
      <p:sp>
        <p:nvSpPr>
          <p:cNvPr id="58" name="Shape 56"/>
          <p:cNvSpPr/>
          <p:nvPr/>
        </p:nvSpPr>
        <p:spPr>
          <a:xfrm>
            <a:off x="4690872" y="3959352"/>
            <a:ext cx="128016" cy="128016"/>
          </a:xfrm>
          <a:prstGeom prst="rect">
            <a:avLst/>
          </a:prstGeom>
          <a:solidFill>
            <a:srgbClr val="A62B1F"/>
          </a:solidFill>
          <a:ln/>
        </p:spPr>
      </p:sp>
      <p:sp>
        <p:nvSpPr>
          <p:cNvPr id="59" name="Shape 57"/>
          <p:cNvSpPr/>
          <p:nvPr/>
        </p:nvSpPr>
        <p:spPr>
          <a:xfrm>
            <a:off x="3602736" y="4114800"/>
            <a:ext cx="128016" cy="128016"/>
          </a:xfrm>
          <a:prstGeom prst="rect">
            <a:avLst/>
          </a:prstGeom>
          <a:solidFill>
            <a:srgbClr val="A62B1F"/>
          </a:solidFill>
          <a:ln/>
        </p:spPr>
      </p:sp>
      <p:sp>
        <p:nvSpPr>
          <p:cNvPr id="60" name="Shape 58"/>
          <p:cNvSpPr/>
          <p:nvPr/>
        </p:nvSpPr>
        <p:spPr>
          <a:xfrm>
            <a:off x="3758184" y="4114800"/>
            <a:ext cx="128016" cy="128016"/>
          </a:xfrm>
          <a:prstGeom prst="rect">
            <a:avLst/>
          </a:prstGeom>
          <a:solidFill>
            <a:srgbClr val="A62B1F"/>
          </a:solidFill>
          <a:ln/>
        </p:spPr>
      </p:sp>
      <p:sp>
        <p:nvSpPr>
          <p:cNvPr id="61" name="Shape 59"/>
          <p:cNvSpPr/>
          <p:nvPr/>
        </p:nvSpPr>
        <p:spPr>
          <a:xfrm>
            <a:off x="3913632" y="4114800"/>
            <a:ext cx="128016" cy="128016"/>
          </a:xfrm>
          <a:prstGeom prst="rect">
            <a:avLst/>
          </a:prstGeom>
          <a:solidFill>
            <a:srgbClr val="A62B1F"/>
          </a:solidFill>
          <a:ln/>
        </p:spPr>
      </p:sp>
      <p:sp>
        <p:nvSpPr>
          <p:cNvPr id="62" name="Shape 60"/>
          <p:cNvSpPr/>
          <p:nvPr/>
        </p:nvSpPr>
        <p:spPr>
          <a:xfrm>
            <a:off x="4069080" y="4114800"/>
            <a:ext cx="128016" cy="128016"/>
          </a:xfrm>
          <a:prstGeom prst="rect">
            <a:avLst/>
          </a:prstGeom>
          <a:solidFill>
            <a:srgbClr val="A62B1F"/>
          </a:solidFill>
          <a:ln/>
        </p:spPr>
      </p:sp>
      <p:sp>
        <p:nvSpPr>
          <p:cNvPr id="63" name="Shape 61"/>
          <p:cNvSpPr/>
          <p:nvPr/>
        </p:nvSpPr>
        <p:spPr>
          <a:xfrm>
            <a:off x="4224528" y="4114800"/>
            <a:ext cx="128016" cy="128016"/>
          </a:xfrm>
          <a:prstGeom prst="rect">
            <a:avLst/>
          </a:prstGeom>
          <a:solidFill>
            <a:srgbClr val="A62B1F"/>
          </a:solidFill>
          <a:ln/>
        </p:spPr>
      </p:sp>
      <p:sp>
        <p:nvSpPr>
          <p:cNvPr id="64" name="Shape 62"/>
          <p:cNvSpPr/>
          <p:nvPr/>
        </p:nvSpPr>
        <p:spPr>
          <a:xfrm>
            <a:off x="4379976" y="4114800"/>
            <a:ext cx="128016" cy="128016"/>
          </a:xfrm>
          <a:prstGeom prst="rect">
            <a:avLst/>
          </a:prstGeom>
          <a:solidFill>
            <a:srgbClr val="A62B1F"/>
          </a:solidFill>
          <a:ln/>
        </p:spPr>
      </p:sp>
      <p:sp>
        <p:nvSpPr>
          <p:cNvPr id="65" name="Shape 63"/>
          <p:cNvSpPr/>
          <p:nvPr/>
        </p:nvSpPr>
        <p:spPr>
          <a:xfrm>
            <a:off x="4535424" y="4114800"/>
            <a:ext cx="128016" cy="128016"/>
          </a:xfrm>
          <a:prstGeom prst="rect">
            <a:avLst/>
          </a:prstGeom>
          <a:solidFill>
            <a:srgbClr val="A62B1F"/>
          </a:solidFill>
          <a:ln/>
        </p:spPr>
      </p:sp>
      <p:sp>
        <p:nvSpPr>
          <p:cNvPr id="66" name="Shape 64"/>
          <p:cNvSpPr/>
          <p:nvPr/>
        </p:nvSpPr>
        <p:spPr>
          <a:xfrm>
            <a:off x="4690872" y="4114800"/>
            <a:ext cx="128016" cy="128016"/>
          </a:xfrm>
          <a:prstGeom prst="rect">
            <a:avLst/>
          </a:prstGeom>
          <a:solidFill>
            <a:srgbClr val="A62B1F"/>
          </a:solidFill>
          <a:ln/>
        </p:spPr>
      </p:sp>
      <p:sp>
        <p:nvSpPr>
          <p:cNvPr id="67" name="Shape 65"/>
          <p:cNvSpPr/>
          <p:nvPr/>
        </p:nvSpPr>
        <p:spPr>
          <a:xfrm>
            <a:off x="3602736" y="4270248"/>
            <a:ext cx="128016" cy="128016"/>
          </a:xfrm>
          <a:prstGeom prst="rect">
            <a:avLst/>
          </a:prstGeom>
          <a:solidFill>
            <a:srgbClr val="A62B1F"/>
          </a:solidFill>
          <a:ln/>
        </p:spPr>
      </p:sp>
      <p:sp>
        <p:nvSpPr>
          <p:cNvPr id="68" name="Shape 66"/>
          <p:cNvSpPr/>
          <p:nvPr/>
        </p:nvSpPr>
        <p:spPr>
          <a:xfrm>
            <a:off x="3758184" y="4270248"/>
            <a:ext cx="128016" cy="128016"/>
          </a:xfrm>
          <a:prstGeom prst="rect">
            <a:avLst/>
          </a:prstGeom>
          <a:solidFill>
            <a:srgbClr val="A62B1F"/>
          </a:solidFill>
          <a:ln/>
        </p:spPr>
      </p:sp>
      <p:sp>
        <p:nvSpPr>
          <p:cNvPr id="69" name="Shape 67"/>
          <p:cNvSpPr/>
          <p:nvPr/>
        </p:nvSpPr>
        <p:spPr>
          <a:xfrm>
            <a:off x="3913632" y="4270248"/>
            <a:ext cx="128016" cy="128016"/>
          </a:xfrm>
          <a:prstGeom prst="rect">
            <a:avLst/>
          </a:prstGeom>
          <a:solidFill>
            <a:srgbClr val="A62B1F"/>
          </a:solidFill>
          <a:ln/>
        </p:spPr>
      </p:sp>
      <p:sp>
        <p:nvSpPr>
          <p:cNvPr id="70" name="Shape 68"/>
          <p:cNvSpPr/>
          <p:nvPr/>
        </p:nvSpPr>
        <p:spPr>
          <a:xfrm>
            <a:off x="4069080" y="4270248"/>
            <a:ext cx="128016" cy="128016"/>
          </a:xfrm>
          <a:prstGeom prst="rect">
            <a:avLst/>
          </a:prstGeom>
          <a:solidFill>
            <a:srgbClr val="A62B1F"/>
          </a:solidFill>
          <a:ln/>
        </p:spPr>
      </p:sp>
      <p:sp>
        <p:nvSpPr>
          <p:cNvPr id="71" name="Shape 69"/>
          <p:cNvSpPr/>
          <p:nvPr/>
        </p:nvSpPr>
        <p:spPr>
          <a:xfrm>
            <a:off x="4224528" y="4270248"/>
            <a:ext cx="128016" cy="128016"/>
          </a:xfrm>
          <a:prstGeom prst="rect">
            <a:avLst/>
          </a:prstGeom>
          <a:solidFill>
            <a:srgbClr val="A62B1F"/>
          </a:solidFill>
          <a:ln/>
        </p:spPr>
      </p:sp>
      <p:sp>
        <p:nvSpPr>
          <p:cNvPr id="72" name="Shape 70"/>
          <p:cNvSpPr/>
          <p:nvPr/>
        </p:nvSpPr>
        <p:spPr>
          <a:xfrm>
            <a:off x="4379976" y="4270248"/>
            <a:ext cx="128016" cy="128016"/>
          </a:xfrm>
          <a:prstGeom prst="rect">
            <a:avLst/>
          </a:prstGeom>
          <a:solidFill>
            <a:srgbClr val="A62B1F"/>
          </a:solidFill>
          <a:ln/>
        </p:spPr>
      </p:sp>
      <p:sp>
        <p:nvSpPr>
          <p:cNvPr id="73" name="Shape 71"/>
          <p:cNvSpPr/>
          <p:nvPr/>
        </p:nvSpPr>
        <p:spPr>
          <a:xfrm>
            <a:off x="4535424" y="4270248"/>
            <a:ext cx="128016" cy="128016"/>
          </a:xfrm>
          <a:prstGeom prst="rect">
            <a:avLst/>
          </a:prstGeom>
          <a:solidFill>
            <a:srgbClr val="A62B1F"/>
          </a:solidFill>
          <a:ln/>
        </p:spPr>
      </p:sp>
      <p:sp>
        <p:nvSpPr>
          <p:cNvPr id="74" name="Shape 72"/>
          <p:cNvSpPr/>
          <p:nvPr/>
        </p:nvSpPr>
        <p:spPr>
          <a:xfrm>
            <a:off x="4690872" y="4270248"/>
            <a:ext cx="128016" cy="128016"/>
          </a:xfrm>
          <a:prstGeom prst="rect">
            <a:avLst/>
          </a:prstGeom>
          <a:solidFill>
            <a:srgbClr val="A62B1F"/>
          </a:solidFill>
          <a:ln/>
        </p:spPr>
      </p:sp>
      <p:sp>
        <p:nvSpPr>
          <p:cNvPr id="75" name="Shape 73"/>
          <p:cNvSpPr/>
          <p:nvPr/>
        </p:nvSpPr>
        <p:spPr>
          <a:xfrm>
            <a:off x="3602736" y="4425696"/>
            <a:ext cx="128016" cy="128016"/>
          </a:xfrm>
          <a:prstGeom prst="rect">
            <a:avLst/>
          </a:prstGeom>
          <a:solidFill>
            <a:srgbClr val="A62B1F"/>
          </a:solidFill>
          <a:ln/>
        </p:spPr>
      </p:sp>
      <p:sp>
        <p:nvSpPr>
          <p:cNvPr id="76" name="Shape 74"/>
          <p:cNvSpPr/>
          <p:nvPr/>
        </p:nvSpPr>
        <p:spPr>
          <a:xfrm>
            <a:off x="3758184" y="4425696"/>
            <a:ext cx="128016" cy="128016"/>
          </a:xfrm>
          <a:prstGeom prst="rect">
            <a:avLst/>
          </a:prstGeom>
          <a:solidFill>
            <a:srgbClr val="A62B1F"/>
          </a:solidFill>
          <a:ln/>
        </p:spPr>
      </p:sp>
      <p:sp>
        <p:nvSpPr>
          <p:cNvPr id="77" name="Shape 75"/>
          <p:cNvSpPr/>
          <p:nvPr/>
        </p:nvSpPr>
        <p:spPr>
          <a:xfrm>
            <a:off x="3913632" y="4425696"/>
            <a:ext cx="128016" cy="128016"/>
          </a:xfrm>
          <a:prstGeom prst="rect">
            <a:avLst/>
          </a:prstGeom>
          <a:solidFill>
            <a:srgbClr val="A62B1F"/>
          </a:solidFill>
          <a:ln/>
        </p:spPr>
      </p:sp>
      <p:sp>
        <p:nvSpPr>
          <p:cNvPr id="78" name="Shape 76"/>
          <p:cNvSpPr/>
          <p:nvPr/>
        </p:nvSpPr>
        <p:spPr>
          <a:xfrm>
            <a:off x="4069080" y="4425696"/>
            <a:ext cx="128016" cy="128016"/>
          </a:xfrm>
          <a:prstGeom prst="rect">
            <a:avLst/>
          </a:prstGeom>
          <a:solidFill>
            <a:srgbClr val="A62B1F"/>
          </a:solidFill>
          <a:ln/>
        </p:spPr>
      </p:sp>
      <p:sp>
        <p:nvSpPr>
          <p:cNvPr id="79" name="Shape 77"/>
          <p:cNvSpPr/>
          <p:nvPr/>
        </p:nvSpPr>
        <p:spPr>
          <a:xfrm>
            <a:off x="4224528" y="4425696"/>
            <a:ext cx="128016" cy="128016"/>
          </a:xfrm>
          <a:prstGeom prst="rect">
            <a:avLst/>
          </a:prstGeom>
          <a:solidFill>
            <a:srgbClr val="A62B1F"/>
          </a:solidFill>
          <a:ln/>
        </p:spPr>
      </p:sp>
      <p:sp>
        <p:nvSpPr>
          <p:cNvPr id="80" name="Shape 78"/>
          <p:cNvSpPr/>
          <p:nvPr/>
        </p:nvSpPr>
        <p:spPr>
          <a:xfrm>
            <a:off x="4379976" y="4425696"/>
            <a:ext cx="128016" cy="128016"/>
          </a:xfrm>
          <a:prstGeom prst="rect">
            <a:avLst/>
          </a:prstGeom>
          <a:solidFill>
            <a:srgbClr val="A62B1F"/>
          </a:solidFill>
          <a:ln/>
        </p:spPr>
      </p:sp>
      <p:sp>
        <p:nvSpPr>
          <p:cNvPr id="81" name="Shape 79"/>
          <p:cNvSpPr/>
          <p:nvPr/>
        </p:nvSpPr>
        <p:spPr>
          <a:xfrm>
            <a:off x="4535424" y="4425696"/>
            <a:ext cx="128016" cy="128016"/>
          </a:xfrm>
          <a:prstGeom prst="rect">
            <a:avLst/>
          </a:prstGeom>
          <a:solidFill>
            <a:srgbClr val="A62B1F"/>
          </a:solidFill>
          <a:ln/>
        </p:spPr>
      </p:sp>
      <p:sp>
        <p:nvSpPr>
          <p:cNvPr id="82" name="Shape 80"/>
          <p:cNvSpPr/>
          <p:nvPr/>
        </p:nvSpPr>
        <p:spPr>
          <a:xfrm>
            <a:off x="4690872" y="4425696"/>
            <a:ext cx="128016" cy="128016"/>
          </a:xfrm>
          <a:prstGeom prst="rect">
            <a:avLst/>
          </a:prstGeom>
          <a:solidFill>
            <a:srgbClr val="A62B1F"/>
          </a:solidFill>
          <a:ln/>
        </p:spPr>
      </p:sp>
      <p:sp>
        <p:nvSpPr>
          <p:cNvPr id="83" name="Shape 81"/>
          <p:cNvSpPr/>
          <p:nvPr/>
        </p:nvSpPr>
        <p:spPr>
          <a:xfrm>
            <a:off x="3602736" y="4581144"/>
            <a:ext cx="128016" cy="128016"/>
          </a:xfrm>
          <a:prstGeom prst="rect">
            <a:avLst/>
          </a:prstGeom>
          <a:solidFill>
            <a:srgbClr val="A62B1F"/>
          </a:solidFill>
          <a:ln/>
        </p:spPr>
      </p:sp>
      <p:sp>
        <p:nvSpPr>
          <p:cNvPr id="84" name="Shape 82"/>
          <p:cNvSpPr/>
          <p:nvPr/>
        </p:nvSpPr>
        <p:spPr>
          <a:xfrm>
            <a:off x="3758184" y="4581144"/>
            <a:ext cx="128016" cy="128016"/>
          </a:xfrm>
          <a:prstGeom prst="rect">
            <a:avLst/>
          </a:prstGeom>
          <a:solidFill>
            <a:srgbClr val="A62B1F"/>
          </a:solidFill>
          <a:ln/>
        </p:spPr>
      </p:sp>
      <p:sp>
        <p:nvSpPr>
          <p:cNvPr id="85" name="Shape 83"/>
          <p:cNvSpPr/>
          <p:nvPr/>
        </p:nvSpPr>
        <p:spPr>
          <a:xfrm>
            <a:off x="3913632" y="4581144"/>
            <a:ext cx="128016" cy="128016"/>
          </a:xfrm>
          <a:prstGeom prst="rect">
            <a:avLst/>
          </a:prstGeom>
          <a:solidFill>
            <a:srgbClr val="A62B1F"/>
          </a:solidFill>
          <a:ln/>
        </p:spPr>
      </p:sp>
      <p:sp>
        <p:nvSpPr>
          <p:cNvPr id="86" name="Shape 84"/>
          <p:cNvSpPr/>
          <p:nvPr/>
        </p:nvSpPr>
        <p:spPr>
          <a:xfrm>
            <a:off x="4069080" y="4581144"/>
            <a:ext cx="128016" cy="128016"/>
          </a:xfrm>
          <a:prstGeom prst="rect">
            <a:avLst/>
          </a:prstGeom>
          <a:solidFill>
            <a:srgbClr val="A62B1F"/>
          </a:solidFill>
          <a:ln/>
        </p:spPr>
      </p:sp>
      <p:sp>
        <p:nvSpPr>
          <p:cNvPr id="87" name="Shape 85"/>
          <p:cNvSpPr/>
          <p:nvPr/>
        </p:nvSpPr>
        <p:spPr>
          <a:xfrm>
            <a:off x="4224528" y="4581144"/>
            <a:ext cx="128016" cy="128016"/>
          </a:xfrm>
          <a:prstGeom prst="rect">
            <a:avLst/>
          </a:prstGeom>
          <a:solidFill>
            <a:srgbClr val="A62B1F"/>
          </a:solidFill>
          <a:ln/>
        </p:spPr>
      </p:sp>
      <p:sp>
        <p:nvSpPr>
          <p:cNvPr id="88" name="Shape 86"/>
          <p:cNvSpPr/>
          <p:nvPr/>
        </p:nvSpPr>
        <p:spPr>
          <a:xfrm>
            <a:off x="4379976" y="4581144"/>
            <a:ext cx="128016" cy="128016"/>
          </a:xfrm>
          <a:prstGeom prst="rect">
            <a:avLst/>
          </a:prstGeom>
          <a:solidFill>
            <a:srgbClr val="A62B1F"/>
          </a:solidFill>
          <a:ln/>
        </p:spPr>
      </p:sp>
      <p:sp>
        <p:nvSpPr>
          <p:cNvPr id="89" name="Shape 87"/>
          <p:cNvSpPr/>
          <p:nvPr/>
        </p:nvSpPr>
        <p:spPr>
          <a:xfrm>
            <a:off x="4535424" y="4581144"/>
            <a:ext cx="128016" cy="128016"/>
          </a:xfrm>
          <a:prstGeom prst="rect">
            <a:avLst/>
          </a:prstGeom>
          <a:solidFill>
            <a:srgbClr val="A62B1F"/>
          </a:solidFill>
          <a:ln/>
        </p:spPr>
      </p:sp>
      <p:sp>
        <p:nvSpPr>
          <p:cNvPr id="90" name="Shape 88"/>
          <p:cNvSpPr/>
          <p:nvPr/>
        </p:nvSpPr>
        <p:spPr>
          <a:xfrm>
            <a:off x="4690872" y="4581144"/>
            <a:ext cx="128016" cy="128016"/>
          </a:xfrm>
          <a:prstGeom prst="rect">
            <a:avLst/>
          </a:prstGeom>
          <a:solidFill>
            <a:srgbClr val="A62B1F"/>
          </a:solidFill>
          <a:ln/>
        </p:spPr>
      </p:sp>
      <p:sp>
        <p:nvSpPr>
          <p:cNvPr id="91" name="Text 89"/>
          <p:cNvSpPr txBox="1"/>
          <p:nvPr/>
        </p:nvSpPr>
        <p:spPr>
          <a:xfrm>
            <a:off x="321868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5 — large bag</a:t>
            </a:r>
            <a:endParaRPr lang="en-US" sz="1200" dirty="0"/>
          </a:p>
        </p:txBody>
      </p:sp>
      <p:sp>
        <p:nvSpPr>
          <p:cNvPr id="92" name="Text 90"/>
          <p:cNvSpPr txBox="1"/>
          <p:nvPr/>
        </p:nvSpPr>
        <p:spPr>
          <a:xfrm>
            <a:off x="3218688" y="4526280"/>
            <a:ext cx="2286000" cy="237744"/>
          </a:xfrm>
          <a:prstGeom prst="rect">
            <a:avLst/>
          </a:prstGeom>
          <a:noFill/>
          <a:ln/>
        </p:spPr>
        <p:txBody>
          <a:bodyPr wrap="square" lIns="0" tIns="0" rIns="0" bIns="0" rtlCol="0" anchor="ctr"/>
          <a:lstStyle/>
          <a:p>
            <a:pPr algn="ctr" indent="0" marL="0">
              <a:buNone/>
            </a:pPr>
            <a:r>
              <a:rPr lang="en-US" sz="1200" b="1" dirty="0">
                <a:solidFill>
                  <a:srgbClr val="A62B1F"/>
                </a:solidFill>
                <a:latin typeface="Calibri" pitchFamily="34" charset="0"/>
                <a:ea typeface="Calibri" pitchFamily="34" charset="-122"/>
                <a:cs typeface="Calibri" pitchFamily="34" charset="-120"/>
              </a:rPr>
              <a:t>64 instances</a:t>
            </a:r>
            <a:endParaRPr lang="en-US" sz="1200" dirty="0"/>
          </a:p>
        </p:txBody>
      </p:sp>
      <p:sp>
        <p:nvSpPr>
          <p:cNvPr id="93" name="Text 91"/>
          <p:cNvSpPr txBox="1"/>
          <p:nvPr/>
        </p:nvSpPr>
        <p:spPr>
          <a:xfrm>
            <a:off x="566928" y="5029200"/>
            <a:ext cx="4937760" cy="274320"/>
          </a:xfrm>
          <a:prstGeom prst="rect">
            <a:avLst/>
          </a:prstGeom>
          <a:noFill/>
          <a:ln/>
        </p:spPr>
        <p:txBody>
          <a:bodyPr wrap="square" lIns="0" tIns="0" rIns="0" bIns="0" rtlCol="0" anchor="ctr"/>
          <a:lstStyle/>
          <a:p>
            <a:pPr algn="ctr" indent="0" marL="0">
              <a:buNone/>
            </a:pPr>
            <a:r>
              <a:rPr lang="en-US" sz="1300" b="1" i="1" dirty="0">
                <a:solidFill>
                  <a:srgbClr val="A62B1F"/>
                </a:solidFill>
                <a:latin typeface="Calibri" pitchFamily="34" charset="0"/>
                <a:ea typeface="Calibri" pitchFamily="34" charset="-122"/>
                <a:cs typeface="Calibri" pitchFamily="34" charset="-120"/>
              </a:rPr>
              <a:t>The bag size alone separates the classes.</a:t>
            </a:r>
            <a:endParaRPr lang="en-US" sz="1300" dirty="0"/>
          </a:p>
        </p:txBody>
      </p:sp>
      <p:sp>
        <p:nvSpPr>
          <p:cNvPr id="94" name="Shape 92"/>
          <p:cNvSpPr/>
          <p:nvPr/>
        </p:nvSpPr>
        <p:spPr>
          <a:xfrm>
            <a:off x="7543800" y="1691640"/>
            <a:ext cx="4087368" cy="3749040"/>
          </a:xfrm>
          <a:prstGeom prst="roundRect">
            <a:avLst>
              <a:gd name="adj" fmla="val 1707"/>
            </a:avLst>
          </a:prstGeom>
          <a:solidFill>
            <a:srgbClr val="FBF3F2"/>
          </a:solidFill>
          <a:ln/>
        </p:spPr>
      </p:sp>
      <p:sp>
        <p:nvSpPr>
          <p:cNvPr id="95" name="Text 93"/>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Why it is a trap here specifically</a:t>
            </a:r>
            <a:endParaRPr lang="en-US" sz="1450" dirty="0"/>
          </a:p>
        </p:txBody>
      </p:sp>
      <p:sp>
        <p:nvSpPr>
          <p:cNvPr id="96" name="Text 94"/>
          <p:cNvSpPr txBox="1"/>
          <p:nvPr/>
        </p:nvSpPr>
        <p:spPr>
          <a:xfrm>
            <a:off x="7726680" y="2148840"/>
            <a:ext cx="3721608" cy="31272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In a generic MIL problem bag size is incidental. Here it is not: the number of tokens inside the box is a deterministic function of lesion area, and lesion area is the grading criterion.</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So the shortcut is not noise the model might latch onto — it is a near-perfect predictor handed to the classifier for free, requiring no image content at all.</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Any encoder, trained or not, is evaluated through this channel.</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DIAGNOSIS  ·  THE CENTRAL FINDING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bag-size bias,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I-JEPA (frozen) and no encoder at all</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 mask)</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5 / 16</a:t>
            </a:r>
            <a:endParaRPr lang="en-US" sz="1050" dirty="0"/>
          </a:p>
        </p:txBody>
      </p:sp>
      <p:sp>
        <p:nvSpPr>
          <p:cNvPr id="17" name="Text 15"/>
          <p:cNvSpPr txBox="1"/>
          <p:nvPr/>
        </p:nvSpPr>
        <p:spPr>
          <a:xfrm>
            <a:off x="566928" y="1691640"/>
            <a:ext cx="6766560" cy="32004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If bag size is the signal, then removing the image entirely should not hurt. We tested exactly that.</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766560" cy="914400"/>
        </p:xfrm>
        <a:graphic>
          <a:graphicData uri="http://schemas.openxmlformats.org/drawingml/2006/table">
            <a:tbl>
              <a:tblPr/>
              <a:tblGrid>
                <a:gridCol w="3840480"/>
                <a:gridCol w="1371600"/>
                <a:gridCol w="15544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classifier is given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 content?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macro-F1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Bounding-box mask only — all pixels zeroed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0.7708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ViT,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0.7705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0.7663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Two thresholds on bbox side length — no network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6766560" cy="1371600"/>
          </a:xfrm>
          <a:prstGeom prst="roundRect">
            <a:avLst>
              <a:gd name="adj" fmla="val 4667"/>
            </a:avLst>
          </a:prstGeom>
          <a:solidFill>
            <a:srgbClr val="FBF3F2"/>
          </a:solidFill>
          <a:ln/>
        </p:spPr>
      </p:sp>
      <p:sp>
        <p:nvSpPr>
          <p:cNvPr id="20" name="Text 17"/>
          <p:cNvSpPr txBox="1"/>
          <p:nvPr/>
        </p:nvSpPr>
        <p:spPr>
          <a:xfrm>
            <a:off x="749808" y="4562856"/>
            <a:ext cx="64008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Read the first two rows together</a:t>
            </a:r>
            <a:endParaRPr lang="en-US" sz="1450" dirty="0"/>
          </a:p>
        </p:txBody>
      </p:sp>
      <p:sp>
        <p:nvSpPr>
          <p:cNvPr id="21" name="Text 18"/>
          <p:cNvSpPr txBox="1"/>
          <p:nvPr/>
        </p:nvSpPr>
        <p:spPr>
          <a:xfrm>
            <a:off x="749808" y="4892040"/>
            <a:ext cx="6400800" cy="7498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 mask with no image and a random projection with the full image land within 0.0003 of each other. The encoder contributes nothing measurable — not because the encoders are equivalent, but because this protocol never asks them anything.</a:t>
            </a:r>
            <a:endParaRPr lang="en-US" sz="1150" dirty="0"/>
          </a:p>
        </p:txBody>
      </p:sp>
      <p:sp>
        <p:nvSpPr>
          <p:cNvPr id="22" name="Shape 19"/>
          <p:cNvSpPr/>
          <p:nvPr/>
        </p:nvSpPr>
        <p:spPr>
          <a:xfrm>
            <a:off x="7543800" y="1691640"/>
            <a:ext cx="4087368" cy="4023360"/>
          </a:xfrm>
          <a:prstGeom prst="roundRect">
            <a:avLst>
              <a:gd name="adj" fmla="val 1591"/>
            </a:avLst>
          </a:prstGeom>
          <a:solidFill>
            <a:srgbClr val="F4F6F7"/>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this does and does not prove</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It does NOT prove that self-supervised pre-training is useless.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It proves that the prescribed evaluation cannot distinguish encoders, because a channel exists that answers the question without them.</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Every comparison run under this protocol — including the one the assignment asks for — is therefore uninformative about representation quality. That is the finding, and the rest of the talk follows from it.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Removing the bias: the box becomes a pointer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Same frozen encoders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Each other, unchanged</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new</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Everything else held constant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6 / 16</a:t>
            </a:r>
            <a:endParaRPr lang="en-US" sz="1050" dirty="0"/>
          </a:p>
        </p:txBody>
      </p:sp>
      <p:sp>
        <p:nvSpPr>
          <p:cNvPr id="17" name="Text 15"/>
          <p:cNvSpPr txBox="1"/>
          <p:nvPr/>
        </p:nvSpPr>
        <p:spPr>
          <a:xfrm>
            <a:off x="566928" y="1691640"/>
            <a:ext cx="5852160" cy="68580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Keep the box centre, take the K nearest tokens, same K for every class. Bag size becomes constant, so it can no longer carry the label — while localisation, which is legitimate information, is preserved.</a:t>
            </a:r>
            <a:endParaRPr lang="en-US" sz="1350" dirty="0"/>
          </a:p>
        </p:txBody>
      </p:sp>
      <p:sp>
        <p:nvSpPr>
          <p:cNvPr id="18" name="Text 16"/>
          <p:cNvSpPr txBox="1"/>
          <p:nvPr/>
        </p:nvSpPr>
        <p:spPr>
          <a:xfrm>
            <a:off x="1344168" y="2606040"/>
            <a:ext cx="1856232" cy="237744"/>
          </a:xfrm>
          <a:prstGeom prst="rect">
            <a:avLst/>
          </a:prstGeom>
          <a:noFill/>
          <a:ln/>
        </p:spPr>
        <p:txBody>
          <a:bodyPr wrap="square" lIns="0" tIns="0" rIns="0" bIns="0" rtlCol="0" anchor="ctr"/>
          <a:lstStyle/>
          <a:p>
            <a:pPr algn="ctr" indent="0" marL="0">
              <a:buNone/>
            </a:pPr>
            <a:r>
              <a:rPr lang="en-US" sz="1150" b="1" dirty="0">
                <a:solidFill>
                  <a:srgbClr val="A62B1F"/>
                </a:solidFill>
                <a:latin typeface="Calibri" pitchFamily="34" charset="0"/>
                <a:ea typeface="Calibri" pitchFamily="34" charset="-122"/>
                <a:cs typeface="Calibri" pitchFamily="34" charset="-120"/>
              </a:rPr>
              <a:t>Prescribed: bag varies</a:t>
            </a:r>
            <a:endParaRPr lang="en-US" sz="1150" dirty="0"/>
          </a:p>
        </p:txBody>
      </p:sp>
      <p:sp>
        <p:nvSpPr>
          <p:cNvPr id="19" name="Text 17"/>
          <p:cNvSpPr txBox="1"/>
          <p:nvPr/>
        </p:nvSpPr>
        <p:spPr>
          <a:xfrm>
            <a:off x="3355848" y="2606040"/>
            <a:ext cx="1856232" cy="237744"/>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Fixed count K = 16</a:t>
            </a:r>
            <a:endParaRPr lang="en-US" sz="1150" dirty="0"/>
          </a:p>
        </p:txBody>
      </p:sp>
      <p:sp>
        <p:nvSpPr>
          <p:cNvPr id="20" name="Text 18"/>
          <p:cNvSpPr txBox="1"/>
          <p:nvPr/>
        </p:nvSpPr>
        <p:spPr>
          <a:xfrm>
            <a:off x="566928" y="297180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3</a:t>
            </a:r>
            <a:endParaRPr lang="en-US" sz="1100" dirty="0"/>
          </a:p>
        </p:txBody>
      </p:sp>
      <p:sp>
        <p:nvSpPr>
          <p:cNvPr id="21" name="Shape 19"/>
          <p:cNvSpPr/>
          <p:nvPr/>
        </p:nvSpPr>
        <p:spPr>
          <a:xfrm>
            <a:off x="1344168" y="2907792"/>
            <a:ext cx="1856232" cy="1856232"/>
          </a:xfrm>
          <a:prstGeom prst="rect">
            <a:avLst/>
          </a:prstGeom>
          <a:solidFill>
            <a:srgbClr val="EDF0F2"/>
          </a:solidFill>
          <a:ln w="9525">
            <a:solidFill>
              <a:srgbClr val="D6DBDF"/>
            </a:solidFill>
            <a:prstDash val="solid"/>
          </a:ln>
        </p:spPr>
      </p:sp>
      <p:sp>
        <p:nvSpPr>
          <p:cNvPr id="22" name="Shape 20"/>
          <p:cNvSpPr/>
          <p:nvPr/>
        </p:nvSpPr>
        <p:spPr>
          <a:xfrm>
            <a:off x="2007108" y="3570732"/>
            <a:ext cx="530352" cy="530352"/>
          </a:xfrm>
          <a:prstGeom prst="rect">
            <a:avLst/>
          </a:prstGeom>
          <a:solidFill>
            <a:srgbClr val="A62B1F"/>
          </a:solidFill>
          <a:ln/>
        </p:spPr>
      </p:sp>
      <p:sp>
        <p:nvSpPr>
          <p:cNvPr id="23" name="Shape 21"/>
          <p:cNvSpPr/>
          <p:nvPr/>
        </p:nvSpPr>
        <p:spPr>
          <a:xfrm>
            <a:off x="2007108" y="3570732"/>
            <a:ext cx="530352" cy="530352"/>
          </a:xfrm>
          <a:prstGeom prst="rect">
            <a:avLst/>
          </a:prstGeom>
          <a:ln w="19050">
            <a:solidFill>
              <a:srgbClr val="111418"/>
            </a:solidFill>
            <a:prstDash val="dash"/>
          </a:ln>
        </p:spPr>
      </p:sp>
      <p:sp>
        <p:nvSpPr>
          <p:cNvPr id="24" name="Shape 22"/>
          <p:cNvSpPr/>
          <p:nvPr/>
        </p:nvSpPr>
        <p:spPr>
          <a:xfrm>
            <a:off x="3355848" y="2907792"/>
            <a:ext cx="1856232" cy="1856232"/>
          </a:xfrm>
          <a:prstGeom prst="rect">
            <a:avLst/>
          </a:prstGeom>
          <a:solidFill>
            <a:srgbClr val="EDF0F2"/>
          </a:solidFill>
          <a:ln w="9525">
            <a:solidFill>
              <a:srgbClr val="D6DBDF"/>
            </a:solidFill>
            <a:prstDash val="solid"/>
          </a:ln>
        </p:spPr>
      </p:sp>
      <p:sp>
        <p:nvSpPr>
          <p:cNvPr id="25" name="Shape 23"/>
          <p:cNvSpPr/>
          <p:nvPr/>
        </p:nvSpPr>
        <p:spPr>
          <a:xfrm>
            <a:off x="4018788" y="3570732"/>
            <a:ext cx="530352" cy="530352"/>
          </a:xfrm>
          <a:prstGeom prst="rect">
            <a:avLst/>
          </a:prstGeom>
          <a:solidFill>
            <a:srgbClr val="1F6F43"/>
          </a:solidFill>
          <a:ln/>
        </p:spPr>
      </p:sp>
      <p:sp>
        <p:nvSpPr>
          <p:cNvPr id="26" name="Shape 24"/>
          <p:cNvSpPr/>
          <p:nvPr/>
        </p:nvSpPr>
        <p:spPr>
          <a:xfrm>
            <a:off x="4018788" y="3570732"/>
            <a:ext cx="530352" cy="530352"/>
          </a:xfrm>
          <a:prstGeom prst="rect">
            <a:avLst/>
          </a:prstGeom>
          <a:ln w="19050">
            <a:solidFill>
              <a:srgbClr val="111418"/>
            </a:solidFill>
            <a:prstDash val="dash"/>
          </a:ln>
        </p:spPr>
      </p:sp>
      <p:sp>
        <p:nvSpPr>
          <p:cNvPr id="27" name="Text 25"/>
          <p:cNvSpPr txBox="1"/>
          <p:nvPr/>
        </p:nvSpPr>
        <p:spPr>
          <a:xfrm>
            <a:off x="566928" y="484632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5</a:t>
            </a:r>
            <a:endParaRPr lang="en-US" sz="1100" dirty="0"/>
          </a:p>
        </p:txBody>
      </p:sp>
      <p:sp>
        <p:nvSpPr>
          <p:cNvPr id="28" name="Shape 26"/>
          <p:cNvSpPr/>
          <p:nvPr/>
        </p:nvSpPr>
        <p:spPr>
          <a:xfrm>
            <a:off x="1344168" y="4782312"/>
            <a:ext cx="1856232" cy="1856232"/>
          </a:xfrm>
          <a:prstGeom prst="rect">
            <a:avLst/>
          </a:prstGeom>
          <a:solidFill>
            <a:srgbClr val="EDF0F2"/>
          </a:solidFill>
          <a:ln w="9525">
            <a:solidFill>
              <a:srgbClr val="D6DBDF"/>
            </a:solidFill>
            <a:prstDash val="solid"/>
          </a:ln>
        </p:spPr>
      </p:sp>
      <p:sp>
        <p:nvSpPr>
          <p:cNvPr id="29" name="Shape 27"/>
          <p:cNvSpPr/>
          <p:nvPr/>
        </p:nvSpPr>
        <p:spPr>
          <a:xfrm>
            <a:off x="1741932" y="5180076"/>
            <a:ext cx="1060704" cy="1060704"/>
          </a:xfrm>
          <a:prstGeom prst="rect">
            <a:avLst/>
          </a:prstGeom>
          <a:solidFill>
            <a:srgbClr val="A62B1F"/>
          </a:solidFill>
          <a:ln/>
        </p:spPr>
      </p:sp>
      <p:sp>
        <p:nvSpPr>
          <p:cNvPr id="30" name="Shape 28"/>
          <p:cNvSpPr/>
          <p:nvPr/>
        </p:nvSpPr>
        <p:spPr>
          <a:xfrm>
            <a:off x="1741932" y="5180076"/>
            <a:ext cx="1060704" cy="1060704"/>
          </a:xfrm>
          <a:prstGeom prst="rect">
            <a:avLst/>
          </a:prstGeom>
          <a:ln w="19050">
            <a:solidFill>
              <a:srgbClr val="111418"/>
            </a:solidFill>
            <a:prstDash val="dash"/>
          </a:ln>
        </p:spPr>
      </p:sp>
      <p:sp>
        <p:nvSpPr>
          <p:cNvPr id="31" name="Shape 29"/>
          <p:cNvSpPr/>
          <p:nvPr/>
        </p:nvSpPr>
        <p:spPr>
          <a:xfrm>
            <a:off x="3355848" y="4782312"/>
            <a:ext cx="1856232" cy="1856232"/>
          </a:xfrm>
          <a:prstGeom prst="rect">
            <a:avLst/>
          </a:prstGeom>
          <a:solidFill>
            <a:srgbClr val="EDF0F2"/>
          </a:solidFill>
          <a:ln w="9525">
            <a:solidFill>
              <a:srgbClr val="D6DBDF"/>
            </a:solidFill>
            <a:prstDash val="solid"/>
          </a:ln>
        </p:spPr>
      </p:sp>
      <p:sp>
        <p:nvSpPr>
          <p:cNvPr id="32" name="Shape 30"/>
          <p:cNvSpPr/>
          <p:nvPr/>
        </p:nvSpPr>
        <p:spPr>
          <a:xfrm>
            <a:off x="4018788" y="5445252"/>
            <a:ext cx="530352" cy="530352"/>
          </a:xfrm>
          <a:prstGeom prst="rect">
            <a:avLst/>
          </a:prstGeom>
          <a:solidFill>
            <a:srgbClr val="1F6F43"/>
          </a:solidFill>
          <a:ln/>
        </p:spPr>
      </p:sp>
      <p:sp>
        <p:nvSpPr>
          <p:cNvPr id="33" name="Shape 31"/>
          <p:cNvSpPr/>
          <p:nvPr/>
        </p:nvSpPr>
        <p:spPr>
          <a:xfrm>
            <a:off x="3753612" y="5180076"/>
            <a:ext cx="1060704" cy="1060704"/>
          </a:xfrm>
          <a:prstGeom prst="rect">
            <a:avLst/>
          </a:prstGeom>
          <a:ln w="19050">
            <a:solidFill>
              <a:srgbClr val="111418"/>
            </a:solidFill>
            <a:prstDash val="dash"/>
          </a:ln>
        </p:spPr>
      </p:sp>
      <p:sp>
        <p:nvSpPr>
          <p:cNvPr id="34" name="Text 32"/>
          <p:cNvSpPr txBox="1"/>
          <p:nvPr/>
        </p:nvSpPr>
        <p:spPr>
          <a:xfrm>
            <a:off x="1344168" y="6400800"/>
            <a:ext cx="1856232" cy="219456"/>
          </a:xfrm>
          <a:prstGeom prst="rect">
            <a:avLst/>
          </a:prstGeom>
          <a:noFill/>
          <a:ln/>
        </p:spPr>
        <p:txBody>
          <a:bodyPr wrap="square" lIns="0" tIns="0" rIns="0" bIns="0" rtlCol="0" anchor="ctr"/>
          <a:lstStyle/>
          <a:p>
            <a:pPr algn="ctr" indent="0" marL="0">
              <a:buNone/>
            </a:pPr>
            <a:r>
              <a:rPr lang="en-US" sz="1100" b="1" dirty="0">
                <a:solidFill>
                  <a:srgbClr val="A62B1F"/>
                </a:solidFill>
                <a:latin typeface="Calibri" pitchFamily="34" charset="0"/>
                <a:ea typeface="Calibri" pitchFamily="34" charset="-122"/>
                <a:cs typeface="Calibri" pitchFamily="34" charset="-120"/>
              </a:rPr>
              <a:t>16 vs 64 tokens</a:t>
            </a:r>
            <a:endParaRPr lang="en-US" sz="1100" dirty="0"/>
          </a:p>
        </p:txBody>
      </p:sp>
      <p:sp>
        <p:nvSpPr>
          <p:cNvPr id="35" name="Text 33"/>
          <p:cNvSpPr txBox="1"/>
          <p:nvPr/>
        </p:nvSpPr>
        <p:spPr>
          <a:xfrm>
            <a:off x="3355848" y="6400800"/>
            <a:ext cx="1856232" cy="219456"/>
          </a:xfrm>
          <a:prstGeom prst="rect">
            <a:avLst/>
          </a:prstGeom>
          <a:noFill/>
          <a:ln/>
        </p:spPr>
        <p:txBody>
          <a:bodyPr wrap="square" lIns="0" tIns="0" rIns="0" bIns="0" rtlCol="0" anchor="ctr"/>
          <a:lstStyle/>
          <a:p>
            <a:pPr algn="ctr" indent="0" marL="0">
              <a:buNone/>
            </a:pPr>
            <a:r>
              <a:rPr lang="en-US" sz="1100" b="1" dirty="0">
                <a:solidFill>
                  <a:srgbClr val="1F6F43"/>
                </a:solidFill>
                <a:latin typeface="Calibri" pitchFamily="34" charset="0"/>
                <a:ea typeface="Calibri" pitchFamily="34" charset="-122"/>
                <a:cs typeface="Calibri" pitchFamily="34" charset="-120"/>
              </a:rPr>
              <a:t>16 vs 16 tokens</a:t>
            </a:r>
            <a:endParaRPr lang="en-US" sz="1100" dirty="0"/>
          </a:p>
        </p:txBody>
      </p:sp>
      <p:sp>
        <p:nvSpPr>
          <p:cNvPr id="36" name="Shape 34"/>
          <p:cNvSpPr/>
          <p:nvPr/>
        </p:nvSpPr>
        <p:spPr>
          <a:xfrm>
            <a:off x="6675120" y="1691640"/>
            <a:ext cx="4956048" cy="1965960"/>
          </a:xfrm>
          <a:prstGeom prst="roundRect">
            <a:avLst>
              <a:gd name="adj" fmla="val 3256"/>
            </a:avLst>
          </a:prstGeom>
          <a:solidFill>
            <a:srgbClr val="F4F6F7"/>
          </a:solidFill>
          <a:ln/>
        </p:spPr>
      </p:sp>
      <p:sp>
        <p:nvSpPr>
          <p:cNvPr id="37" name="Text 35"/>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is held constant — say this out loud</a:t>
            </a:r>
            <a:endParaRPr lang="en-US" sz="1450" dirty="0"/>
          </a:p>
        </p:txBody>
      </p:sp>
      <p:sp>
        <p:nvSpPr>
          <p:cNvPr id="38" name="Text 36"/>
          <p:cNvSpPr txBox="1"/>
          <p:nvPr/>
        </p:nvSpPr>
        <p:spPr>
          <a:xfrm>
            <a:off x="6858000" y="2148840"/>
            <a:ext cx="4590288" cy="13441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Same 224 px crop, same resolution, same apparent lesion scale, same frozen encoder tokens, same pooling, same head, same five seeds. The only thing that changes is which tokens are aggregated.</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75120" y="3931920"/>
          <a:ext cx="4956048" cy="914400"/>
        </p:xfrm>
        <a:graphic>
          <a:graphicData uri="http://schemas.openxmlformats.org/drawingml/2006/table">
            <a:tbl>
              <a:tblPr/>
              <a:tblGrid>
                <a:gridCol w="822960"/>
                <a:gridCol w="2212848"/>
                <a:gridCol w="192024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K</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inside lesion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lesion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99.3 %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65.1 %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92.5 %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41.9 %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97.9 %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40" name="Text 37"/>
          <p:cNvSpPr txBox="1"/>
          <p:nvPr/>
        </p:nvSpPr>
        <p:spPr>
          <a:xfrm>
            <a:off x="6675120" y="5394960"/>
            <a:ext cx="4956048" cy="914400"/>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K controls how much healthy bone enters the window, so the task shifts from “what does this tissue look like” to “how much of this window is lesion” — a question only an encoder that distinguishes lesion from bone can answer.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control that makes the correction defensible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Two-factor design</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7 / 16</a:t>
            </a:r>
            <a:endParaRPr lang="en-US" sz="1050" dirty="0"/>
          </a:p>
        </p:txBody>
      </p:sp>
      <p:sp>
        <p:nvSpPr>
          <p:cNvPr id="17" name="Text 15"/>
          <p:cNvSpPr txBox="1"/>
          <p:nvPr/>
        </p:nvSpPr>
        <p:spPr>
          <a:xfrm>
            <a:off x="566928" y="1691640"/>
            <a:ext cx="6675120" cy="45720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protocol built to favour our model would help it everywhere. We therefore built a design in which it must NOT help in two of three cells.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286000"/>
                <a:gridCol w="1463040"/>
                <a:gridCol w="1463040"/>
                <a:gridCol w="2103120"/>
                <a:gridCol w="1371600"/>
                <a:gridCol w="2377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cue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Localisation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I-JEPA − random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As prescribed (bbox)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6×6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Fixed count 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+0.05 … +0.07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+3.1 … +5.7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I-JEPA wins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160520"/>
            <a:ext cx="5394960" cy="1828800"/>
          </a:xfrm>
          <a:prstGeom prst="roundRect">
            <a:avLst>
              <a:gd name="adj" fmla="val 3500"/>
            </a:avLst>
          </a:prstGeom>
          <a:solidFill>
            <a:srgbClr val="FBF3F2"/>
          </a:solidFill>
          <a:ln/>
        </p:spPr>
      </p:sp>
      <p:sp>
        <p:nvSpPr>
          <p:cNvPr id="20" name="Text 17"/>
          <p:cNvSpPr txBox="1"/>
          <p:nvPr/>
        </p:nvSpPr>
        <p:spPr>
          <a:xfrm>
            <a:off x="749808" y="4288536"/>
            <a:ext cx="50292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Answering the hostile question</a:t>
            </a:r>
            <a:endParaRPr lang="en-US" sz="1450" dirty="0"/>
          </a:p>
        </p:txBody>
      </p:sp>
      <p:sp>
        <p:nvSpPr>
          <p:cNvPr id="21" name="Text 18"/>
          <p:cNvSpPr txBox="1"/>
          <p:nvPr/>
        </p:nvSpPr>
        <p:spPr>
          <a:xfrm>
            <a:off x="749808" y="4617720"/>
            <a:ext cx="5029200" cy="12070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“Did you design a protocol that flatters your model?” — On the fixed grid, which removes the cue but also removes localisation, I-JEPA does not win. If we had gone looking for a favourable protocol, that row would be one to hide. We report it because it is what makes the third row interpretable.</a:t>
            </a:r>
            <a:endParaRPr lang="en-US" sz="1150" dirty="0"/>
          </a:p>
        </p:txBody>
      </p:sp>
      <p:sp>
        <p:nvSpPr>
          <p:cNvPr id="22" name="Shape 19"/>
          <p:cNvSpPr/>
          <p:nvPr/>
        </p:nvSpPr>
        <p:spPr>
          <a:xfrm>
            <a:off x="6172200" y="4160520"/>
            <a:ext cx="5458968" cy="1828800"/>
          </a:xfrm>
          <a:prstGeom prst="roundRect">
            <a:avLst>
              <a:gd name="adj" fmla="val 3500"/>
            </a:avLst>
          </a:prstGeom>
          <a:solidFill>
            <a:srgbClr val="F1F6F2"/>
          </a:solidFill>
          <a:ln/>
        </p:spPr>
      </p:sp>
      <p:sp>
        <p:nvSpPr>
          <p:cNvPr id="23" name="Text 20"/>
          <p:cNvSpPr txBox="1"/>
          <p:nvPr/>
        </p:nvSpPr>
        <p:spPr>
          <a:xfrm>
            <a:off x="6355080" y="4288536"/>
            <a:ext cx="50932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design isolates</a:t>
            </a:r>
            <a:endParaRPr lang="en-US" sz="1450" dirty="0"/>
          </a:p>
        </p:txBody>
      </p:sp>
      <p:sp>
        <p:nvSpPr>
          <p:cNvPr id="24" name="Text 21"/>
          <p:cNvSpPr txBox="1"/>
          <p:nvPr/>
        </p:nvSpPr>
        <p:spPr>
          <a:xfrm>
            <a:off x="6355080" y="4617720"/>
            <a:ext cx="5093208" cy="12070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advantage appears only when the bag-size cue is gone AND localisation is kept. So the bounding box is genuinely useful — as a pointer, telling the model where to look — and harmful as a counter, telling it the answer. That distinction is the contribution.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Classification heads: three ways to read a bag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Frozen encoder tokens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Three head designs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 macro-F1</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8 / 16</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206240"/>
                <a:gridCol w="1645920"/>
                <a:gridCol w="25603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it aggregates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Trainable params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invariant?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Flat +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Learned weights over tokens, then one linear layer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5.3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 — pooled vector depends on the set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Gated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Same, with a gating branch (Ilse et 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Instance-level MIL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Classify EVERY token, then average the probabilities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0.6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 by construction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Shape 15"/>
          <p:cNvSpPr/>
          <p:nvPr/>
        </p:nvSpPr>
        <p:spPr>
          <a:xfrm>
            <a:off x="566928" y="3657600"/>
            <a:ext cx="5486400" cy="2286000"/>
          </a:xfrm>
          <a:prstGeom prst="roundRect">
            <a:avLst>
              <a:gd name="adj" fmla="val 2800"/>
            </a:avLst>
          </a:prstGeom>
          <a:solidFill>
            <a:srgbClr val="F1F6F2"/>
          </a:solidFill>
          <a:ln/>
        </p:spPr>
      </p:sp>
      <p:sp>
        <p:nvSpPr>
          <p:cNvPr id="19" name="Text 16"/>
          <p:cNvSpPr txBox="1"/>
          <p:nvPr/>
        </p:nvSpPr>
        <p:spPr>
          <a:xfrm>
            <a:off x="749808" y="3785616"/>
            <a:ext cx="512064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instance-level MIL is the principled answer</a:t>
            </a:r>
            <a:endParaRPr lang="en-US" sz="1450" dirty="0"/>
          </a:p>
        </p:txBody>
      </p:sp>
      <p:sp>
        <p:nvSpPr>
          <p:cNvPr id="20" name="Text 17"/>
          <p:cNvSpPr txBox="1"/>
          <p:nvPr/>
        </p:nvSpPr>
        <p:spPr>
          <a:xfrm>
            <a:off x="749808" y="4114800"/>
            <a:ext cx="5120640"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Embedding-level pooling builds one vector from N tokens, so N leaks in. Instance-level aggregation classifies each token and averages the decisions — and the mean of N probabilities does not depend on N.</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We verified the invariance before measuring anything: varying the bag from 8 to 128 tokens moves the output by 6×10⁻⁸.</a:t>
            </a:r>
            <a:endParaRPr lang="en-US" sz="1150" dirty="0"/>
          </a:p>
        </p:txBody>
      </p:sp>
      <p:sp>
        <p:nvSpPr>
          <p:cNvPr id="21" name="Shape 18"/>
          <p:cNvSpPr/>
          <p:nvPr/>
        </p:nvSpPr>
        <p:spPr>
          <a:xfrm>
            <a:off x="6263640" y="3657600"/>
            <a:ext cx="5367528" cy="2286000"/>
          </a:xfrm>
          <a:prstGeom prst="roundRect">
            <a:avLst>
              <a:gd name="adj" fmla="val 2800"/>
            </a:avLst>
          </a:prstGeom>
          <a:solidFill>
            <a:srgbClr val="FDF7EC"/>
          </a:solidFill>
          <a:ln/>
        </p:spPr>
      </p:sp>
      <p:sp>
        <p:nvSpPr>
          <p:cNvPr id="22" name="Text 19"/>
          <p:cNvSpPr txBox="1"/>
          <p:nvPr/>
        </p:nvSpPr>
        <p:spPr>
          <a:xfrm>
            <a:off x="6446520" y="37856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hypothesis it falsified</a:t>
            </a:r>
            <a:endParaRPr lang="en-US" sz="1450" dirty="0"/>
          </a:p>
        </p:txBody>
      </p:sp>
      <p:sp>
        <p:nvSpPr>
          <p:cNvPr id="23" name="Text 20"/>
          <p:cNvSpPr txBox="1"/>
          <p:nvPr/>
        </p:nvSpPr>
        <p:spPr>
          <a:xfrm>
            <a:off x="6446520" y="4114800"/>
            <a:ext cx="5001768"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Under the prescribed protocol, MIL made the RANDOM encoder better, not worse: 0.7851 against 0.7705.</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proven invariance was real and insufficient. It removed the count but not the extent: tokens carry positional embeddings, so a large box includes peripheral positions. The mean changes not because the terms are more numerous, but because they are different ones.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An invariance proved on one channel does not protect against the others.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  ·  RESULT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Instance-level MIL isolates the encoder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Instance-level MIL head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9 / 16</a:t>
            </a:r>
            <a:endParaRPr lang="en-US" sz="1050" dirty="0"/>
          </a:p>
        </p:txBody>
      </p:sp>
      <p:graphicFrame>
        <p:nvGraphicFramePr>
          <p:cNvPr id="17" name="Chart 0" descr=""/>
          <p:cNvGraphicFramePr/>
          <p:nvPr/>
        </p:nvGraphicFramePr>
        <p:xfrm>
          <a:off x="566928"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120640"/>
            <a:ext cx="6309360" cy="365760"/>
          </a:xfrm>
          <a:prstGeom prst="rect">
            <a:avLst/>
          </a:prstGeom>
          <a:noFill/>
          <a:ln/>
        </p:spPr>
        <p:txBody>
          <a:bodyPr wrap="square" lIns="0" tIns="0" rIns="0" bIns="0" rtlCol="0" anchor="ctr"/>
          <a:lstStyle/>
          <a:p>
            <a:pPr indent="0" marL="0">
              <a:buNone/>
            </a:pPr>
            <a:r>
              <a:rPr lang="en-US" sz="1250" i="1" dirty="0">
                <a:solidFill>
                  <a:srgbClr val="0B3C49"/>
                </a:solidFill>
                <a:latin typeface="Calibri" pitchFamily="34" charset="0"/>
                <a:ea typeface="Calibri" pitchFamily="34" charset="-122"/>
                <a:cs typeface="Calibri" pitchFamily="34" charset="-120"/>
              </a:rPr>
              <a:t>Same head, same encoders, same seeds — the only difference is whether bag size varies with the class.</a:t>
            </a:r>
            <a:endParaRPr lang="en-US" sz="1250" dirty="0"/>
          </a:p>
        </p:txBody>
      </p:sp>
      <p:sp>
        <p:nvSpPr>
          <p:cNvPr id="19" name="Shape 16"/>
          <p:cNvSpPr/>
          <p:nvPr/>
        </p:nvSpPr>
        <p:spPr>
          <a:xfrm>
            <a:off x="7086600" y="1691640"/>
            <a:ext cx="4544568" cy="2103120"/>
          </a:xfrm>
          <a:prstGeom prst="roundRect">
            <a:avLst>
              <a:gd name="adj" fmla="val 3043"/>
            </a:avLst>
          </a:prstGeom>
          <a:solidFill>
            <a:srgbClr val="FBF3F2"/>
          </a:solidFill>
          <a:ln/>
        </p:spPr>
      </p:sp>
      <p:sp>
        <p:nvSpPr>
          <p:cNvPr id="20" name="Text 17"/>
          <p:cNvSpPr txBox="1"/>
          <p:nvPr/>
        </p:nvSpPr>
        <p:spPr>
          <a:xfrm>
            <a:off x="7269480" y="1819656"/>
            <a:ext cx="41788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With the bias present</a:t>
            </a:r>
            <a:endParaRPr lang="en-US" sz="1450" dirty="0"/>
          </a:p>
        </p:txBody>
      </p:sp>
      <p:sp>
        <p:nvSpPr>
          <p:cNvPr id="21" name="Text 18"/>
          <p:cNvSpPr txBox="1"/>
          <p:nvPr/>
        </p:nvSpPr>
        <p:spPr>
          <a:xfrm>
            <a:off x="7269480" y="2148840"/>
            <a:ext cx="4178808" cy="148132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random encoder wins by 0.0282 (z = −5.76). The head reads position, and position encodes size.</a:t>
            </a:r>
            <a:endParaRPr lang="en-US" sz="1150" dirty="0"/>
          </a:p>
        </p:txBody>
      </p:sp>
      <p:sp>
        <p:nvSpPr>
          <p:cNvPr id="22" name="Shape 19"/>
          <p:cNvSpPr/>
          <p:nvPr/>
        </p:nvSpPr>
        <p:spPr>
          <a:xfrm>
            <a:off x="7086600" y="3977640"/>
            <a:ext cx="4544568" cy="2148840"/>
          </a:xfrm>
          <a:prstGeom prst="roundRect">
            <a:avLst>
              <a:gd name="adj" fmla="val 2979"/>
            </a:avLst>
          </a:prstGeom>
          <a:solidFill>
            <a:srgbClr val="F1F6F2"/>
          </a:solidFill>
          <a:ln/>
        </p:spPr>
      </p:sp>
      <p:sp>
        <p:nvSpPr>
          <p:cNvPr id="23" name="Text 20"/>
          <p:cNvSpPr txBox="1"/>
          <p:nvPr/>
        </p:nvSpPr>
        <p:spPr>
          <a:xfrm>
            <a:off x="7269480" y="4105656"/>
            <a:ext cx="41788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With the bias removed</a:t>
            </a:r>
            <a:endParaRPr lang="en-US" sz="1450" dirty="0"/>
          </a:p>
        </p:txBody>
      </p:sp>
      <p:sp>
        <p:nvSpPr>
          <p:cNvPr id="24" name="Text 21"/>
          <p:cNvSpPr txBox="1"/>
          <p:nvPr/>
        </p:nvSpPr>
        <p:spPr>
          <a:xfrm>
            <a:off x="7269480" y="4434840"/>
            <a:ext cx="4178808" cy="15270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random encoder collapses to 0.4014 while I-JEPA holds at 0.5171: +0.1158, z = +6.49, a relative gain of +28.8 %.</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Asked “how much PAI-5 tissue is this single token?”, a random projection cannot answer and a pre-trained one can. This is the largest margin we measured.</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Our novelty: balanced token sampling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Any frozen encoder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Focal · class-weighted · oversampling · SMOTE</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10 / 16</a:t>
            </a:r>
            <a:endParaRPr lang="en-US" sz="1050" dirty="0"/>
          </a:p>
        </p:txBody>
      </p:sp>
      <p:sp>
        <p:nvSpPr>
          <p:cNvPr id="17" name="Text 15"/>
          <p:cNvSpPr txBox="1"/>
          <p:nvPr/>
        </p:nvSpPr>
        <p:spPr>
          <a:xfrm>
            <a:off x="566928" y="1691640"/>
            <a:ext cx="6583680" cy="548640"/>
          </a:xfrm>
          <a:prstGeom prst="rect">
            <a:avLst/>
          </a:prstGeom>
          <a:noFill/>
          <a:ln/>
        </p:spPr>
        <p:txBody>
          <a:bodyPr wrap="square" lIns="0" tIns="0" rIns="0" bIns="0" rtlCol="0" anchor="ctr"/>
          <a:lstStyle/>
          <a:p>
            <a:pPr indent="0" marL="0">
              <a:lnSpc>
                <a:spcPts val="2000"/>
              </a:lnSpc>
              <a:buNone/>
            </a:pPr>
            <a:r>
              <a:rPr lang="en-US" sz="1400" dirty="0">
                <a:solidFill>
                  <a:srgbClr val="111418"/>
                </a:solidFill>
                <a:latin typeface="Calibri" pitchFamily="34" charset="0"/>
                <a:ea typeface="Calibri" pitchFamily="34" charset="-122"/>
                <a:cs typeface="Calibri" pitchFamily="34" charset="-120"/>
              </a:rPr>
              <a:t>The assignment asks for a novelty acting in latent space. Ours rebalances by sampling different subsets of a lesion's own tokens — each subset becomes a training instance.</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583680" cy="914400"/>
        </p:xfrm>
        <a:graphic>
          <a:graphicData uri="http://schemas.openxmlformats.org/drawingml/2006/table">
            <a:tbl>
              <a:tblPr/>
              <a:tblGrid>
                <a:gridCol w="2011680"/>
                <a:gridCol w="2651760"/>
                <a:gridCol w="118872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multiplies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Operates in latent space?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Invents data?</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identical copies of the same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 class-weighted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nothing — reweights the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SMOTE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interpolated synthetic points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genuine distinct views of the same lesion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480560"/>
            <a:ext cx="6583680" cy="320040"/>
          </a:xfrm>
          <a:prstGeom prst="rect">
            <a:avLst/>
          </a:prstGeom>
          <a:noFill/>
          <a:ln/>
        </p:spPr>
        <p:txBody>
          <a:bodyPr wrap="square" lIns="0" tIns="0" rIns="0" bIns="0" rtlCol="0" anchor="ctr"/>
          <a:lstStyle/>
          <a:p>
            <a:pPr indent="0" marL="0">
              <a:buNone/>
            </a:pPr>
            <a:r>
              <a:rPr lang="en-US" sz="1250" b="1"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sets views per class:  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 = ⌈(max/n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a:t>
            </a:r>
            <a:pPr indent="0" marL="0">
              <a:buNone/>
            </a:pPr>
            <a:r>
              <a:rPr lang="en-US" sz="900"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 at α = 0.5, 6,894 instances against 4,719.</a:t>
            </a:r>
            <a:endParaRPr lang="en-US" sz="1250" dirty="0"/>
          </a:p>
        </p:txBody>
      </p:sp>
      <p:sp>
        <p:nvSpPr>
          <p:cNvPr id="20" name="Shape 17"/>
          <p:cNvSpPr/>
          <p:nvPr/>
        </p:nvSpPr>
        <p:spPr>
          <a:xfrm>
            <a:off x="7360920" y="1691640"/>
            <a:ext cx="4270248" cy="2286000"/>
          </a:xfrm>
          <a:prstGeom prst="roundRect">
            <a:avLst>
              <a:gd name="adj" fmla="val 2800"/>
            </a:avLst>
          </a:prstGeom>
          <a:solidFill>
            <a:srgbClr val="F1F6F2"/>
          </a:solidFill>
          <a:ln/>
        </p:spPr>
      </p:sp>
      <p:sp>
        <p:nvSpPr>
          <p:cNvPr id="21" name="Text 18"/>
          <p:cNvSpPr txBox="1"/>
          <p:nvPr/>
        </p:nvSpPr>
        <p:spPr>
          <a:xfrm>
            <a:off x="7543800" y="1819656"/>
            <a:ext cx="39044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views are genuine</a:t>
            </a:r>
            <a:endParaRPr lang="en-US" sz="1450" dirty="0"/>
          </a:p>
        </p:txBody>
      </p:sp>
      <p:sp>
        <p:nvSpPr>
          <p:cNvPr id="22" name="Text 19"/>
          <p:cNvSpPr txBox="1"/>
          <p:nvPr/>
        </p:nvSpPr>
        <p:spPr>
          <a:xfrm>
            <a:off x="7543800" y="2148840"/>
            <a:ext cx="3904488"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Every view is built from real tokens of the same lesion, so nothing is invented and no vector is duplicated. The classifier sees one lesion described several genuinely different ways — which is augmentation, not replication.</a:t>
            </a:r>
            <a:endParaRPr lang="en-US" sz="1150" dirty="0"/>
          </a:p>
        </p:txBody>
      </p:sp>
      <p:sp>
        <p:nvSpPr>
          <p:cNvPr id="23" name="Shape 20"/>
          <p:cNvSpPr/>
          <p:nvPr/>
        </p:nvSpPr>
        <p:spPr>
          <a:xfrm>
            <a:off x="7360920" y="4160520"/>
            <a:ext cx="4270248" cy="1920240"/>
          </a:xfrm>
          <a:prstGeom prst="roundRect">
            <a:avLst>
              <a:gd name="adj" fmla="val 3333"/>
            </a:avLst>
          </a:prstGeom>
          <a:solidFill>
            <a:srgbClr val="F4F6F7"/>
          </a:solidFill>
          <a:ln/>
        </p:spPr>
      </p:sp>
      <p:sp>
        <p:nvSpPr>
          <p:cNvPr id="24" name="Text 21"/>
          <p:cNvSpPr txBox="1"/>
          <p:nvPr/>
        </p:nvSpPr>
        <p:spPr>
          <a:xfrm>
            <a:off x="7543800" y="4288536"/>
            <a:ext cx="39044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control we owed</a:t>
            </a:r>
            <a:endParaRPr lang="en-US" sz="1450" dirty="0"/>
          </a:p>
        </p:txBody>
      </p:sp>
      <p:sp>
        <p:nvSpPr>
          <p:cNvPr id="25" name="Text 22"/>
          <p:cNvSpPr txBox="1"/>
          <p:nvPr/>
        </p:nvSpPr>
        <p:spPr>
          <a:xfrm>
            <a:off x="7543800" y="4617720"/>
            <a:ext cx="3904488"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method rebalances AND augments at once. A budget-matched uniform variant separates the two — without it we could not attribute the gain.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Novelty: ablation against every baseline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imbalance baselines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11 / 16</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6309360" cy="914400"/>
        </p:xfrm>
        <a:graphic>
          <a:graphicData uri="http://schemas.openxmlformats.org/drawingml/2006/table">
            <a:tbl>
              <a:tblPr/>
              <a:tblGrid>
                <a:gridCol w="2194560"/>
                <a:gridCol w="1737360"/>
                <a:gridCol w="1188720"/>
                <a:gridCol w="1188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Recall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Precision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0.8826 ± 0.0050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0.789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0.8730 ± 0.0117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Class-weighted 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0.8706 ± 0.0091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0.737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Plain cross-entropy</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0.8676 ± 0.0065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0.8658 ± 0.0142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Text 15"/>
          <p:cNvSpPr txBox="1"/>
          <p:nvPr/>
        </p:nvSpPr>
        <p:spPr>
          <a:xfrm>
            <a:off x="566928" y="4023360"/>
            <a:ext cx="6309360" cy="502920"/>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+0.0168 over oversampling (z = 2.50) and +0.0150 over plain CE (z = 4.11) — and it wins without the recall-for-precision trade the others make.</a:t>
            </a:r>
            <a:endParaRPr lang="en-US" sz="1250" dirty="0"/>
          </a:p>
        </p:txBody>
      </p:sp>
      <p:sp>
        <p:nvSpPr>
          <p:cNvPr id="19" name="Shape 16"/>
          <p:cNvSpPr/>
          <p:nvPr/>
        </p:nvSpPr>
        <p:spPr>
          <a:xfrm>
            <a:off x="566928" y="4663440"/>
            <a:ext cx="6309360" cy="1371600"/>
          </a:xfrm>
          <a:prstGeom prst="roundRect">
            <a:avLst>
              <a:gd name="adj" fmla="val 4667"/>
            </a:avLst>
          </a:prstGeom>
          <a:solidFill>
            <a:srgbClr val="FDF7EC"/>
          </a:solidFill>
          <a:ln/>
        </p:spPr>
      </p:sp>
      <p:sp>
        <p:nvSpPr>
          <p:cNvPr id="20" name="Text 17"/>
          <p:cNvSpPr txBox="1"/>
          <p:nvPr/>
        </p:nvSpPr>
        <p:spPr>
          <a:xfrm>
            <a:off x="749808" y="4791456"/>
            <a:ext cx="5943600"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before being asked</a:t>
            </a:r>
            <a:endParaRPr lang="en-US" sz="1450" dirty="0"/>
          </a:p>
        </p:txBody>
      </p:sp>
      <p:sp>
        <p:nvSpPr>
          <p:cNvPr id="21" name="Text 18"/>
          <p:cNvSpPr txBox="1"/>
          <p:nvPr/>
        </p:nvSpPr>
        <p:spPr>
          <a:xfrm>
            <a:off x="749808" y="5120640"/>
            <a:ext cx="5943600" cy="7498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On F1 of the rare class focal loss edges ahead (0.7863 vs 0.7794). Our win is on the primary metric, not on all of them. And the α sweep ran on a fixed encoder, to isolate the parameter.</a:t>
            </a:r>
            <a:endParaRPr lang="en-US" sz="1150" dirty="0"/>
          </a:p>
        </p:txBody>
      </p:sp>
      <p:sp>
        <p:nvSpPr>
          <p:cNvPr id="22" name="Text 19"/>
          <p:cNvSpPr txBox="1"/>
          <p:nvPr/>
        </p:nvSpPr>
        <p:spPr>
          <a:xfrm>
            <a:off x="7086600" y="1691640"/>
            <a:ext cx="4544568" cy="274320"/>
          </a:xfrm>
          <a:prstGeom prst="rect">
            <a:avLst/>
          </a:prstGeom>
          <a:noFill/>
          <a:ln/>
        </p:spPr>
        <p:txBody>
          <a:bodyPr wrap="square" lIns="0" tIns="0" rIns="0" bIns="0" rtlCol="0" anchor="ctr"/>
          <a:lstStyle/>
          <a:p>
            <a:pPr indent="0" marL="0">
              <a:buNone/>
            </a:pPr>
            <a:r>
              <a:rPr lang="en-US" sz="1500" b="1" dirty="0">
                <a:solidFill>
                  <a:srgbClr val="0B3C49"/>
                </a:solidFill>
                <a:latin typeface="Cambria" pitchFamily="34" charset="0"/>
                <a:ea typeface="Cambria" pitchFamily="34" charset="-122"/>
                <a:cs typeface="Cambria" pitchFamily="34" charset="-120"/>
              </a:rPr>
              <a:t>α sweep — the optimum is interior</a:t>
            </a:r>
            <a:endParaRPr lang="en-US" sz="15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7086600" y="2148840"/>
          <a:ext cx="4544568" cy="914400"/>
        </p:xfrm>
        <a:graphic>
          <a:graphicData uri="http://schemas.openxmlformats.org/drawingml/2006/table">
            <a:tbl>
              <a:tblPr/>
              <a:tblGrid>
                <a:gridCol w="914400"/>
                <a:gridCol w="1737360"/>
                <a:gridCol w="1892808"/>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α</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instances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6,421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0.8793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6,894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7,840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0.8747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0.8689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4" name="Shape 20"/>
          <p:cNvSpPr/>
          <p:nvPr/>
        </p:nvSpPr>
        <p:spPr>
          <a:xfrm>
            <a:off x="7086600" y="3794760"/>
            <a:ext cx="4544568" cy="2240280"/>
          </a:xfrm>
          <a:prstGeom prst="roundRect">
            <a:avLst>
              <a:gd name="adj" fmla="val 2857"/>
            </a:avLst>
          </a:prstGeom>
          <a:solidFill>
            <a:srgbClr val="F4F6F7"/>
          </a:solidFill>
          <a:ln/>
        </p:spPr>
      </p:sp>
      <p:sp>
        <p:nvSpPr>
          <p:cNvPr id="25" name="Text 21"/>
          <p:cNvSpPr txBox="1"/>
          <p:nvPr/>
        </p:nvSpPr>
        <p:spPr>
          <a:xfrm>
            <a:off x="7269480" y="3922776"/>
            <a:ext cx="41788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More rebalancing is not better</a:t>
            </a:r>
            <a:endParaRPr lang="en-US" sz="1450" dirty="0"/>
          </a:p>
        </p:txBody>
      </p:sp>
      <p:sp>
        <p:nvSpPr>
          <p:cNvPr id="26" name="Text 22"/>
          <p:cNvSpPr txBox="1"/>
          <p:nvPr/>
        </p:nvSpPr>
        <p:spPr>
          <a:xfrm>
            <a:off x="7269480" y="4251960"/>
            <a:ext cx="4178808" cy="161848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α = 0.5 beats α = 1.0 by +0.0125 at 2.2 standard errors. The views are subsets of the same lesion, so they are strongly correlated: with ICC ρ = 0.9864, seven views are worth 1.01 independent samples. They move the decision boundary without adding information.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the frozen encoder is worth, once the bias is gone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{16, 36, 64}</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12 / 16</a:t>
            </a:r>
            <a:endParaRPr lang="en-US" sz="1050" dirty="0"/>
          </a:p>
        </p:txBody>
      </p:sp>
      <p:graphicFrame>
        <p:nvGraphicFramePr>
          <p:cNvPr id="17" name="Chart 0" descr=""/>
          <p:cNvGraphicFramePr/>
          <p:nvPr/>
        </p:nvGraphicFramePr>
        <p:xfrm>
          <a:off x="566928" y="1691640"/>
          <a:ext cx="6675120" cy="34290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230368"/>
            <a:ext cx="6675120" cy="365760"/>
          </a:xfrm>
          <a:prstGeom prst="rect">
            <a:avLst/>
          </a:prstGeom>
          <a:noFill/>
          <a:ln/>
        </p:spPr>
        <p:txBody>
          <a:bodyPr wrap="square" lIns="0" tIns="0" rIns="0" bIns="0" rtlCol="0" anchor="ctr"/>
          <a:lstStyle/>
          <a:p>
            <a:pPr indent="0" marL="0">
              <a:buNone/>
            </a:pPr>
            <a:r>
              <a:rPr lang="en-US" sz="1100" i="1" dirty="0">
                <a:solidFill>
                  <a:srgbClr val="58626C"/>
                </a:solidFill>
                <a:latin typeface="Calibri" pitchFamily="34" charset="0"/>
                <a:ea typeface="Calibri" pitchFamily="34" charset="-122"/>
                <a:cs typeface="Calibri" pitchFamily="34" charset="-120"/>
              </a:rPr>
              <a:t>The prescribed protocol is omitted here: at 0.87 its bars compress the range where the result lives. It is in the table on the right.</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37160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Relative gain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Prescribed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+0.78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+8.72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+5.60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0" name="Shape 16"/>
          <p:cNvSpPr/>
          <p:nvPr/>
        </p:nvSpPr>
        <p:spPr>
          <a:xfrm>
            <a:off x="7452360" y="3749040"/>
            <a:ext cx="4178808" cy="2286000"/>
          </a:xfrm>
          <a:prstGeom prst="roundRect">
            <a:avLst>
              <a:gd name="adj" fmla="val 2800"/>
            </a:avLst>
          </a:prstGeom>
          <a:solidFill>
            <a:srgbClr val="F1F6F2"/>
          </a:solidFill>
          <a:ln/>
        </p:spPr>
      </p:sp>
      <p:sp>
        <p:nvSpPr>
          <p:cNvPr id="21" name="Text 17"/>
          <p:cNvSpPr txBox="1"/>
          <p:nvPr/>
        </p:nvSpPr>
        <p:spPr>
          <a:xfrm>
            <a:off x="7635240" y="3877056"/>
            <a:ext cx="38130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Not one lucky K</a:t>
            </a:r>
            <a:endParaRPr lang="en-US" sz="1450" dirty="0"/>
          </a:p>
        </p:txBody>
      </p:sp>
      <p:sp>
        <p:nvSpPr>
          <p:cNvPr id="22" name="Text 18"/>
          <p:cNvSpPr txBox="1"/>
          <p:nvPr/>
        </p:nvSpPr>
        <p:spPr>
          <a:xfrm>
            <a:off x="7635240" y="4206240"/>
            <a:ext cx="3813048" cy="166420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Significant on all three values, so the result survives a fourfold change of window size. The two grey rows are the controls, where by construction nothing should appear — and nothing does.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On PR-AUC of the minority class the gain reaches +32 % at z = 8.72.</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Does the encoder actually learn? Measured during training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279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Itself, read two ways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same probe</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13 / 16</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1900"/>
              </a:lnSpc>
              <a:buNone/>
            </a:pPr>
            <a:r>
              <a:rPr lang="en-US" sz="1300" dirty="0">
                <a:solidFill>
                  <a:srgbClr val="111418"/>
                </a:solidFill>
                <a:latin typeface="Calibri" pitchFamily="34" charset="0"/>
                <a:ea typeface="Calibri" pitchFamily="34" charset="-122"/>
                <a:cs typeface="Calibri" pitchFamily="34" charset="-120"/>
              </a:rPr>
              <a:t>The same probe read both protocols every ten epochs — 28 measurements, one encoder, identical moments. This is not a comparison between models; it is a comparison between two ways of reading one model.</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6675120" cy="914400"/>
        </p:xfrm>
        <a:graphic>
          <a:graphicData uri="http://schemas.openxmlformats.org/drawingml/2006/table">
            <a:tbl>
              <a:tblPr/>
              <a:tblGrid>
                <a:gridCol w="2194560"/>
                <a:gridCol w="1325880"/>
                <a:gridCol w="960120"/>
                <a:gridCol w="10972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first 10 probes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last 10</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Quality — fixed count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0.5406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+1.15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Shortcut — bag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0.7271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−0.0268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−11.27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Effective rank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14.79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206240"/>
            <a:ext cx="6675120" cy="1691640"/>
          </a:xfrm>
          <a:prstGeom prst="roundRect">
            <a:avLst>
              <a:gd name="adj" fmla="val 3784"/>
            </a:avLst>
          </a:prstGeom>
          <a:solidFill>
            <a:srgbClr val="F1F6F2"/>
          </a:solidFill>
          <a:ln/>
        </p:spPr>
      </p:sp>
      <p:sp>
        <p:nvSpPr>
          <p:cNvPr id="20" name="Text 17"/>
          <p:cNvSpPr txBox="1"/>
          <p:nvPr/>
        </p:nvSpPr>
        <p:spPr>
          <a:xfrm>
            <a:off x="749808" y="4334256"/>
            <a:ext cx="630936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three rows say together</a:t>
            </a:r>
            <a:endParaRPr lang="en-US" sz="1450" dirty="0"/>
          </a:p>
        </p:txBody>
      </p:sp>
      <p:sp>
        <p:nvSpPr>
          <p:cNvPr id="21" name="Text 18"/>
          <p:cNvSpPr txBox="1"/>
          <p:nvPr/>
        </p:nvSpPr>
        <p:spPr>
          <a:xfrm>
            <a:off x="749808" y="4663440"/>
            <a:ext cx="6309360" cy="10698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representation keeps changing — effective rank grows fivefold. Quality holds flat. And readability of the bag-size shortcut falls at eleven standard errors.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I-JEPA reaches its quality by epoch 69 and spends the next two hundred epochs partly unlearning the shortcut.</a:t>
            </a:r>
            <a:endParaRPr lang="en-US" sz="11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234440"/>
                <a:gridCol w="1234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Fixed count K = 16</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69</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288</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not 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PR-AUC PAI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0.4713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0.4495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gain vs random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+16 %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macro-F1 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8A5A12"/>
                          </a:solidFill>
                          <a:latin typeface="Calibri" pitchFamily="34" charset="0"/>
                          <a:ea typeface="Calibri" pitchFamily="34" charset="-122"/>
                          <a:cs typeface="Calibri" pitchFamily="34" charset="-120"/>
                        </a:rPr>
                        <a:t>+2.14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3" name="Shape 19"/>
          <p:cNvSpPr/>
          <p:nvPr/>
        </p:nvSpPr>
        <p:spPr>
          <a:xfrm>
            <a:off x="7452360" y="3886200"/>
            <a:ext cx="4178808" cy="2148840"/>
          </a:xfrm>
          <a:prstGeom prst="roundRect">
            <a:avLst>
              <a:gd name="adj" fmla="val 2979"/>
            </a:avLst>
          </a:prstGeom>
          <a:solidFill>
            <a:srgbClr val="F4F6F7"/>
          </a:solidFill>
          <a:ln/>
        </p:spPr>
      </p:sp>
      <p:sp>
        <p:nvSpPr>
          <p:cNvPr id="24" name="Text 20"/>
          <p:cNvSpPr txBox="1"/>
          <p:nvPr/>
        </p:nvSpPr>
        <p:spPr>
          <a:xfrm>
            <a:off x="7635240" y="401421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Not an artefact of checkpoint choice</a:t>
            </a:r>
            <a:endParaRPr lang="en-US" sz="1450" dirty="0"/>
          </a:p>
        </p:txBody>
      </p:sp>
      <p:sp>
        <p:nvSpPr>
          <p:cNvPr id="25" name="Text 21"/>
          <p:cNvSpPr txBox="1"/>
          <p:nvPr/>
        </p:nvSpPr>
        <p:spPr>
          <a:xfrm>
            <a:off x="7635240" y="4343400"/>
            <a:ext cx="3813048" cy="15270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We also measured the last-epoch encoder, which no criterion selected. It still beats the random baseline on the primary metric.</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On macro-F1 its z = 2.14 falls below our own 2.31 threshold — we say so rather than round it away.</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Experimental setup and 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14 / 16</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57839" cy="914400"/>
        </p:xfrm>
        <a:graphic>
          <a:graphicData uri="http://schemas.openxmlformats.org/drawingml/2006/table">
            <a:tbl>
              <a:tblPr/>
              <a:tblGrid>
                <a:gridCol w="1737360"/>
                <a:gridCol w="9326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Pre-training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ViT-S/16 · context + EMA target + shallow predictor (4 blocks, dim 96) · tile 224 px, batch 128, bf16</a:t>
                      </a:r>
                      <a:endParaRPr lang="en-US" sz="1150" dirty="0">
                        <a:latin typeface="Calibri" charset="0"/>
                        <a:ea typeface="Calibri" charset="0"/>
                        <a:cs typeface="Calibri" charset="0"/>
                      </a:endParaRPr>
                    </a:p>
                    <a:p>
                      <a:pPr indent="0" marL="0">
                        <a:buNone/>
                      </a:pPr>
                      <a:r>
                        <a:rPr lang="en-US" sz="1150" dirty="0">
                          <a:solidFill>
                            <a:srgbClr val="111418"/>
                          </a:solidFill>
                          <a:latin typeface="Calibri" pitchFamily="34" charset="0"/>
                          <a:ea typeface="Calibri" pitchFamily="34" charset="-122"/>
                          <a:cs typeface="Calibri" pitchFamily="34" charset="-120"/>
                        </a:rPr>
                        <a:t>lr 3e-5 · EMA τ 0.9996 → 1.0 · 289 of 300 scheduled epochs — best AND final encoder both extracted and evaluated · smooth-L1 on layer-normed target representations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Downstream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 as the assignment requires · attention pooling over selected tokens · layers 2, 7, 11 concatenated (1,152-d) · 5 seeds per cell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Metrics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Primary: PR-AUC on PAI 5 — minority-specific and threshold-agnostic. Reported alongside: macro-F1, quadratic-weighted kappa. Global accuracy excluded by the assignment.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Significance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 ≥ 2.31 — Student's t at 8 d.o.f., not 1.96: with five repetitions the normal underestimates the tail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6" name="Shape 3"/>
          <p:cNvSpPr/>
          <p:nvPr/>
        </p:nvSpPr>
        <p:spPr>
          <a:xfrm>
            <a:off x="566928" y="4114800"/>
            <a:ext cx="5486400" cy="1920240"/>
          </a:xfrm>
          <a:prstGeom prst="roundRect">
            <a:avLst>
              <a:gd name="adj" fmla="val 3333"/>
            </a:avLst>
          </a:prstGeom>
          <a:solidFill>
            <a:srgbClr val="F4F6F7"/>
          </a:solidFill>
          <a:ln/>
        </p:spPr>
      </p:sp>
      <p:sp>
        <p:nvSpPr>
          <p:cNvPr id="7" name="Text 4"/>
          <p:cNvSpPr txBox="1"/>
          <p:nvPr/>
        </p:nvSpPr>
        <p:spPr>
          <a:xfrm>
            <a:off x="749808" y="424281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Selection discipline</a:t>
            </a:r>
            <a:endParaRPr lang="en-US" sz="1450" dirty="0"/>
          </a:p>
        </p:txBody>
      </p:sp>
      <p:sp>
        <p:nvSpPr>
          <p:cNvPr id="8" name="Text 5"/>
          <p:cNvSpPr txBox="1"/>
          <p:nvPr/>
        </p:nvSpPr>
        <p:spPr>
          <a:xfrm>
            <a:off x="749808" y="4572000"/>
            <a:ext cx="5120640"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Checkpoint chosen on validation, never on test. Learning rate chosen on validation (3e-4 measured worse: −0.0304, z = −2.98). In the α sweep the two finalists were re-measured on five seeds disjoint from the screening seeds — selecting and reporting on the same seeds inflates the winner by about one standard deviation.</a:t>
            </a:r>
            <a:endParaRPr lang="en-US" sz="1150" dirty="0"/>
          </a:p>
        </p:txBody>
      </p:sp>
      <p:sp>
        <p:nvSpPr>
          <p:cNvPr id="9" name="Shape 6"/>
          <p:cNvSpPr/>
          <p:nvPr/>
        </p:nvSpPr>
        <p:spPr>
          <a:xfrm>
            <a:off x="6263640" y="4114800"/>
            <a:ext cx="5367528" cy="1920240"/>
          </a:xfrm>
          <a:prstGeom prst="roundRect">
            <a:avLst>
              <a:gd name="adj" fmla="val 3333"/>
            </a:avLst>
          </a:prstGeom>
          <a:solidFill>
            <a:srgbClr val="FDF7EC"/>
          </a:solidFill>
          <a:ln/>
        </p:spPr>
      </p:sp>
      <p:sp>
        <p:nvSpPr>
          <p:cNvPr id="10" name="Text 7"/>
          <p:cNvSpPr txBox="1"/>
          <p:nvPr/>
        </p:nvSpPr>
        <p:spPr>
          <a:xfrm>
            <a:off x="6446520" y="42428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What ± means here, and what it does not</a:t>
            </a:r>
            <a:endParaRPr lang="en-US" sz="1450" dirty="0"/>
          </a:p>
        </p:txBody>
      </p:sp>
      <p:sp>
        <p:nvSpPr>
          <p:cNvPr id="11" name="Text 8"/>
          <p:cNvSpPr txBox="1"/>
          <p:nvPr/>
        </p:nvSpPr>
        <p:spPr>
          <a:xfrm>
            <a:off x="6446520" y="4572000"/>
            <a:ext cx="5001768" cy="129844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 is the spread across five seeds: it answers “is this reproducible if I retrain the head?”. It does NOT capture test-set sampling error, which with only 112 PAI-5 lesions is roughly 0.021 — an order of magnitude larger. Differences below that should be read as reproducible, not as proven to generalise.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 AND FUTURE WORK</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Conclusions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15 / 16</a:t>
            </a:r>
            <a:endParaRPr lang="en-US" sz="1050" dirty="0"/>
          </a:p>
        </p:txBody>
      </p:sp>
      <p:sp>
        <p:nvSpPr>
          <p:cNvPr id="5" name="Shape 3"/>
          <p:cNvSpPr/>
          <p:nvPr/>
        </p:nvSpPr>
        <p:spPr>
          <a:xfrm>
            <a:off x="566928" y="1271016"/>
            <a:ext cx="310896" cy="310896"/>
          </a:xfrm>
          <a:prstGeom prst="ellipse">
            <a:avLst/>
          </a:prstGeom>
          <a:solidFill>
            <a:srgbClr val="A62B1F"/>
          </a:solidFill>
          <a:ln/>
        </p:spPr>
      </p:sp>
      <p:sp>
        <p:nvSpPr>
          <p:cNvPr id="6" name="Text 4"/>
          <p:cNvSpPr txBox="1"/>
          <p:nvPr/>
        </p:nvSpPr>
        <p:spPr>
          <a:xfrm>
            <a:off x="566928" y="12710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23444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The task is geometric, so the prescribed protocol carries a bag-size bias.</a:t>
            </a:r>
            <a:endParaRPr lang="en-US" sz="1400" dirty="0"/>
          </a:p>
        </p:txBody>
      </p:sp>
      <p:sp>
        <p:nvSpPr>
          <p:cNvPr id="8" name="Text 6"/>
          <p:cNvSpPr txBox="1"/>
          <p:nvPr/>
        </p:nvSpPr>
        <p:spPr>
          <a:xfrm>
            <a:off x="1024128" y="161848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The bounding-box mask alone gives macro-F1 0.7708; a random encoder with the full image gives 0.7705. Lesion area is the PAI criterion, so token count is nearly the label.</a:t>
            </a:r>
            <a:endParaRPr lang="en-US" sz="1150" dirty="0"/>
          </a:p>
        </p:txBody>
      </p:sp>
      <p:sp>
        <p:nvSpPr>
          <p:cNvPr id="9" name="Shape 7"/>
          <p:cNvSpPr/>
          <p:nvPr/>
        </p:nvSpPr>
        <p:spPr>
          <a:xfrm>
            <a:off x="566928" y="2505456"/>
            <a:ext cx="310896" cy="310896"/>
          </a:xfrm>
          <a:prstGeom prst="ellipse">
            <a:avLst/>
          </a:prstGeom>
          <a:solidFill>
            <a:srgbClr val="1F6F43"/>
          </a:solidFill>
          <a:ln/>
        </p:spPr>
      </p:sp>
      <p:sp>
        <p:nvSpPr>
          <p:cNvPr id="10" name="Text 8"/>
          <p:cNvSpPr txBox="1"/>
          <p:nvPr/>
        </p:nvSpPr>
        <p:spPr>
          <a:xfrm>
            <a:off x="566928" y="2505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024128" y="246888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Removing the bias while keeping localisation reveals the encoder.</a:t>
            </a:r>
            <a:endParaRPr lang="en-US" sz="1400" dirty="0"/>
          </a:p>
        </p:txBody>
      </p:sp>
      <p:sp>
        <p:nvSpPr>
          <p:cNvPr id="12" name="Text 10"/>
          <p:cNvSpPr txBox="1"/>
          <p:nvPr/>
        </p:nvSpPr>
        <p:spPr>
          <a:xfrm>
            <a:off x="1024128" y="285292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Up to +32 % PR-AUC on the minority class (z = 8.72), on all three values of K, with the unselected checkpoint too, and +28.8 % with an instance-level MIL head.</a:t>
            </a:r>
            <a:endParaRPr lang="en-US" sz="1150" dirty="0"/>
          </a:p>
        </p:txBody>
      </p:sp>
      <p:sp>
        <p:nvSpPr>
          <p:cNvPr id="13" name="Shape 11"/>
          <p:cNvSpPr/>
          <p:nvPr/>
        </p:nvSpPr>
        <p:spPr>
          <a:xfrm>
            <a:off x="566928" y="3739896"/>
            <a:ext cx="310896" cy="310896"/>
          </a:xfrm>
          <a:prstGeom prst="ellipse">
            <a:avLst/>
          </a:prstGeom>
          <a:solidFill>
            <a:srgbClr val="1F6F43"/>
          </a:solidFill>
          <a:ln/>
        </p:spPr>
      </p:sp>
      <p:sp>
        <p:nvSpPr>
          <p:cNvPr id="14" name="Text 12"/>
          <p:cNvSpPr txBox="1"/>
          <p:nvPr/>
        </p:nvSpPr>
        <p:spPr>
          <a:xfrm>
            <a:off x="566928" y="3739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24128" y="370332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Our latent-space novelty beats every baseline on the primary metric.</a:t>
            </a:r>
            <a:endParaRPr lang="en-US" sz="1400" dirty="0"/>
          </a:p>
        </p:txBody>
      </p:sp>
      <p:sp>
        <p:nvSpPr>
          <p:cNvPr id="16" name="Text 14"/>
          <p:cNvSpPr txBox="1"/>
          <p:nvPr/>
        </p:nvSpPr>
        <p:spPr>
          <a:xfrm>
            <a:off x="1024128" y="408736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+0.0168 over oversampling (z = 2.50), with an interior optimum at α = 0.5 that the ICC of the views explains.</a:t>
            </a:r>
            <a:endParaRPr lang="en-US" sz="1150" dirty="0"/>
          </a:p>
        </p:txBody>
      </p:sp>
      <p:sp>
        <p:nvSpPr>
          <p:cNvPr id="17" name="Text 15"/>
          <p:cNvSpPr txBox="1"/>
          <p:nvPr/>
        </p:nvSpPr>
        <p:spPr>
          <a:xfrm>
            <a:off x="566928" y="4937760"/>
            <a:ext cx="6766560" cy="777240"/>
          </a:xfrm>
          <a:prstGeom prst="rect">
            <a:avLst/>
          </a:prstGeom>
          <a:noFill/>
          <a:ln/>
        </p:spPr>
        <p:txBody>
          <a:bodyPr wrap="square" lIns="0" tIns="0" rIns="0" bIns="0" rtlCol="0" anchor="ctr"/>
          <a:lstStyle/>
          <a:p>
            <a:pPr indent="0" marL="0">
              <a:lnSpc>
                <a:spcPts val="1600"/>
              </a:lnSpc>
              <a:buNone/>
            </a:pPr>
            <a:r>
              <a:rPr lang="en-US" sz="1150" b="1" dirty="0">
                <a:solidFill>
                  <a:srgbClr val="0B3C49"/>
                </a:solidFill>
                <a:latin typeface="Calibri" pitchFamily="34" charset="0"/>
                <a:ea typeface="Calibri" pitchFamily="34" charset="-122"/>
                <a:cs typeface="Calibri" pitchFamily="34" charset="-120"/>
              </a:rPr>
              <a:t>Training schedule completed.  </a:t>
            </a:r>
            <a:pPr indent="0" marL="0">
              <a:lnSpc>
                <a:spcPts val="1600"/>
              </a:lnSpc>
              <a:buNone/>
            </a:pPr>
            <a:r>
              <a:rPr lang="en-US" sz="1150" dirty="0">
                <a:solidFill>
                  <a:srgbClr val="111418"/>
                </a:solidFill>
                <a:latin typeface="Calibri" pitchFamily="34" charset="0"/>
                <a:ea typeface="Calibri" pitchFamily="34" charset="-122"/>
                <a:cs typeface="Calibri" pitchFamily="34" charset="-120"/>
              </a:rPr>
              <a:t>289 of the 300 scheduled epochs, halted by our own power limiter. The last 11 change nothing measurable — quality had plateaued by epoch 69 (z = +1.15 across the whole run) — and we did not have to assume it: we extracted the final epoch-288 encoder and measured it. It still beats the random baseline by +16 % on the primary metric (z = 3.15).</a:t>
            </a:r>
            <a:endParaRPr lang="en-US" sz="1150" dirty="0"/>
          </a:p>
        </p:txBody>
      </p:sp>
      <p:sp>
        <p:nvSpPr>
          <p:cNvPr id="18" name="Text 16"/>
          <p:cNvSpPr txBox="1"/>
          <p:nvPr/>
        </p:nvSpPr>
        <p:spPr>
          <a:xfrm>
            <a:off x="566928" y="5806440"/>
            <a:ext cx="6766560" cy="457200"/>
          </a:xfrm>
          <a:prstGeom prst="rect">
            <a:avLst/>
          </a:prstGeom>
          <a:noFill/>
          <a:ln/>
        </p:spPr>
        <p:txBody>
          <a:bodyPr wrap="square" lIns="0" tIns="0" rIns="0" bIns="0" rtlCol="0" anchor="ctr"/>
          <a:lstStyle/>
          <a:p>
            <a:pPr indent="0" marL="0">
              <a:buNone/>
            </a:pPr>
            <a:r>
              <a:rPr lang="en-US" sz="1450" b="1" i="1" dirty="0">
                <a:solidFill>
                  <a:srgbClr val="0B3C49"/>
                </a:solidFill>
                <a:latin typeface="Cambria" pitchFamily="34" charset="0"/>
                <a:ea typeface="Cambria" pitchFamily="34" charset="-122"/>
                <a:cs typeface="Cambria" pitchFamily="34" charset="-120"/>
              </a:rPr>
              <a:t>There is no “best model” — only the best model for a given reading, and choosing that reading is the work.</a:t>
            </a:r>
            <a:endParaRPr lang="en-US" sz="1450" dirty="0"/>
          </a:p>
        </p:txBody>
      </p:sp>
      <p:sp>
        <p:nvSpPr>
          <p:cNvPr id="19" name="Shape 17"/>
          <p:cNvSpPr/>
          <p:nvPr/>
        </p:nvSpPr>
        <p:spPr>
          <a:xfrm>
            <a:off x="7452360" y="1188720"/>
            <a:ext cx="4178808" cy="2194560"/>
          </a:xfrm>
          <a:prstGeom prst="roundRect">
            <a:avLst>
              <a:gd name="adj" fmla="val 2917"/>
            </a:avLst>
          </a:prstGeom>
          <a:solidFill>
            <a:srgbClr val="FDF7EC"/>
          </a:solidFill>
          <a:ln/>
        </p:spPr>
      </p:sp>
      <p:sp>
        <p:nvSpPr>
          <p:cNvPr id="20" name="Text 18"/>
          <p:cNvSpPr txBox="1"/>
          <p:nvPr/>
        </p:nvSpPr>
        <p:spPr>
          <a:xfrm>
            <a:off x="7635240" y="1316736"/>
            <a:ext cx="381304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limitations</a:t>
            </a:r>
            <a:endParaRPr lang="en-US" sz="1450" dirty="0"/>
          </a:p>
        </p:txBody>
      </p:sp>
      <p:sp>
        <p:nvSpPr>
          <p:cNvPr id="21" name="Text 19"/>
          <p:cNvSpPr txBox="1"/>
          <p:nvPr/>
        </p:nvSpPr>
        <p:spPr>
          <a:xfrm>
            <a:off x="7635240" y="1645920"/>
            <a:ext cx="3813048" cy="15727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selected checkpoint is better on the criterion we selected it with, and worse on size-blind readings.</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The α sweep used a fixed encoder, to isolate the parameter.</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Our ± is the spread across seeds; test-set sampling error, with 112 PAI-5 lesions, is roughly ten times larger.</a:t>
            </a:r>
            <a:endParaRPr lang="en-US" sz="1150" dirty="0"/>
          </a:p>
        </p:txBody>
      </p:sp>
      <p:sp>
        <p:nvSpPr>
          <p:cNvPr id="22" name="Shape 20"/>
          <p:cNvSpPr/>
          <p:nvPr/>
        </p:nvSpPr>
        <p:spPr>
          <a:xfrm>
            <a:off x="7452360" y="3611880"/>
            <a:ext cx="4178808" cy="2194560"/>
          </a:xfrm>
          <a:prstGeom prst="roundRect">
            <a:avLst>
              <a:gd name="adj" fmla="val 2917"/>
            </a:avLst>
          </a:prstGeom>
          <a:solidFill>
            <a:srgbClr val="F4F6F7"/>
          </a:solidFill>
          <a:ln/>
        </p:spPr>
      </p:sp>
      <p:sp>
        <p:nvSpPr>
          <p:cNvPr id="23" name="Text 21"/>
          <p:cNvSpPr txBox="1"/>
          <p:nvPr/>
        </p:nvSpPr>
        <p:spPr>
          <a:xfrm>
            <a:off x="7635240" y="373989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Future work</a:t>
            </a:r>
            <a:endParaRPr lang="en-US" sz="1450" dirty="0"/>
          </a:p>
        </p:txBody>
      </p:sp>
      <p:sp>
        <p:nvSpPr>
          <p:cNvPr id="24" name="Text 22"/>
          <p:cNvSpPr txBox="1"/>
          <p:nvPr/>
        </p:nvSpPr>
        <p:spPr>
          <a:xfrm>
            <a:off x="7635240" y="4069080"/>
            <a:ext cx="3813048" cy="1572768"/>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Detection and grading end to end, removing the bounding box from inference entirely.</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Per-token MIL as the default head, since it gives the largest margin we measured.</a:t>
            </a:r>
            <a:endParaRPr lang="en-US" sz="1150" dirty="0"/>
          </a:p>
          <a:p>
            <a:pPr indent="0" marL="0">
              <a:lnSpc>
                <a:spcPts val="1700"/>
              </a:lnSpc>
              <a:buNone/>
            </a:pPr>
            <a:endParaRPr lang="en-US" sz="1150" dirty="0"/>
          </a:p>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Variance-covariance regularisation as an explicit anti-collapse term.</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DREW INSPIRATION FROM</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References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16 / 16</a:t>
            </a:r>
            <a:endParaRPr lang="en-US" sz="1050" dirty="0"/>
          </a:p>
        </p:txBody>
      </p:sp>
      <p:sp>
        <p:nvSpPr>
          <p:cNvPr id="5" name="Text 3"/>
          <p:cNvSpPr txBox="1"/>
          <p:nvPr/>
        </p:nvSpPr>
        <p:spPr>
          <a:xfrm>
            <a:off x="566928" y="118872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Assran, M.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Self-Supervised Learning from Images with a Joint-Embedding Predictive Architecture (I-JEPA). CVPR 2023.</a:t>
            </a:r>
            <a:endParaRPr lang="en-US" sz="1100" dirty="0"/>
          </a:p>
        </p:txBody>
      </p:sp>
      <p:sp>
        <p:nvSpPr>
          <p:cNvPr id="6" name="Text 4"/>
          <p:cNvSpPr txBox="1"/>
          <p:nvPr/>
        </p:nvSpPr>
        <p:spPr>
          <a:xfrm>
            <a:off x="8321040" y="118872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The architecture the assignment prescribes</a:t>
            </a:r>
            <a:endParaRPr lang="en-US" sz="1000" dirty="0"/>
          </a:p>
        </p:txBody>
      </p:sp>
      <p:sp>
        <p:nvSpPr>
          <p:cNvPr id="7" name="Text 5"/>
          <p:cNvSpPr txBox="1"/>
          <p:nvPr/>
        </p:nvSpPr>
        <p:spPr>
          <a:xfrm>
            <a:off x="566928" y="176479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Ilse, M., Tomczak, J., Welling,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Attention-based Deep Multiple Instance Learning. ICML 2018.</a:t>
            </a:r>
            <a:endParaRPr lang="en-US" sz="1100" dirty="0"/>
          </a:p>
        </p:txBody>
      </p:sp>
      <p:sp>
        <p:nvSpPr>
          <p:cNvPr id="8" name="Text 6"/>
          <p:cNvSpPr txBox="1"/>
          <p:nvPr/>
        </p:nvSpPr>
        <p:spPr>
          <a:xfrm>
            <a:off x="8321040" y="176479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MIL framing, attention pooling, bag-size bias</a:t>
            </a:r>
            <a:endParaRPr lang="en-US" sz="1000" dirty="0"/>
          </a:p>
        </p:txBody>
      </p:sp>
      <p:sp>
        <p:nvSpPr>
          <p:cNvPr id="9" name="Text 7"/>
          <p:cNvSpPr txBox="1"/>
          <p:nvPr/>
        </p:nvSpPr>
        <p:spPr>
          <a:xfrm>
            <a:off x="566928" y="234086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Do, H.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 Dataset of apical periodontitis lesions in panoramic radiographs. Data in Brief 54:110486, 2024.</a:t>
            </a:r>
            <a:endParaRPr lang="en-US" sz="1100" dirty="0"/>
          </a:p>
        </p:txBody>
      </p:sp>
      <p:sp>
        <p:nvSpPr>
          <p:cNvPr id="10" name="Text 8"/>
          <p:cNvSpPr txBox="1"/>
          <p:nvPr/>
        </p:nvSpPr>
        <p:spPr>
          <a:xfrm>
            <a:off x="8321040" y="234086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Dataset — Mendeley DOI 10.17632/kx52tk2ddj.3</a:t>
            </a:r>
            <a:endParaRPr lang="en-US" sz="1000" dirty="0"/>
          </a:p>
        </p:txBody>
      </p:sp>
      <p:sp>
        <p:nvSpPr>
          <p:cNvPr id="11" name="Text 9"/>
          <p:cNvSpPr txBox="1"/>
          <p:nvPr/>
        </p:nvSpPr>
        <p:spPr>
          <a:xfrm>
            <a:off x="566928" y="2916936"/>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He, K.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Masked Autoencoders Are Scalable Vision Learners. CVPR 2022.</a:t>
            </a:r>
            <a:endParaRPr lang="en-US" sz="1100" dirty="0"/>
          </a:p>
        </p:txBody>
      </p:sp>
      <p:sp>
        <p:nvSpPr>
          <p:cNvPr id="12" name="Text 10"/>
          <p:cNvSpPr txBox="1"/>
          <p:nvPr/>
        </p:nvSpPr>
        <p:spPr>
          <a:xfrm>
            <a:off x="8321040" y="2916936"/>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Pixel-reconstruction alternative we argue against</a:t>
            </a:r>
            <a:endParaRPr lang="en-US" sz="1000" dirty="0"/>
          </a:p>
        </p:txBody>
      </p:sp>
      <p:sp>
        <p:nvSpPr>
          <p:cNvPr id="13" name="Text 11"/>
          <p:cNvSpPr txBox="1"/>
          <p:nvPr/>
        </p:nvSpPr>
        <p:spPr>
          <a:xfrm>
            <a:off x="566928" y="3493008"/>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Grill, J.-B.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Bootstrap Your Own Latent (BYOL). NeurIPS 2020.</a:t>
            </a:r>
            <a:endParaRPr lang="en-US" sz="1100" dirty="0"/>
          </a:p>
        </p:txBody>
      </p:sp>
      <p:sp>
        <p:nvSpPr>
          <p:cNvPr id="14" name="Text 12"/>
          <p:cNvSpPr txBox="1"/>
          <p:nvPr/>
        </p:nvSpPr>
        <p:spPr>
          <a:xfrm>
            <a:off x="8321040" y="3493008"/>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EMA target networks and collapse avoidance</a:t>
            </a:r>
            <a:endParaRPr lang="en-US" sz="1000" dirty="0"/>
          </a:p>
        </p:txBody>
      </p:sp>
      <p:sp>
        <p:nvSpPr>
          <p:cNvPr id="15" name="Text 13"/>
          <p:cNvSpPr txBox="1"/>
          <p:nvPr/>
        </p:nvSpPr>
        <p:spPr>
          <a:xfrm>
            <a:off x="566928" y="406908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Lin, T.-Y.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Focal Loss for Dense Object Detection. ICCV 2017.</a:t>
            </a:r>
            <a:endParaRPr lang="en-US" sz="1100" dirty="0"/>
          </a:p>
        </p:txBody>
      </p:sp>
      <p:sp>
        <p:nvSpPr>
          <p:cNvPr id="16" name="Text 14"/>
          <p:cNvSpPr txBox="1"/>
          <p:nvPr/>
        </p:nvSpPr>
        <p:spPr>
          <a:xfrm>
            <a:off x="8321040" y="406908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a:t>
            </a:r>
            <a:endParaRPr lang="en-US" sz="1000" dirty="0"/>
          </a:p>
        </p:txBody>
      </p:sp>
      <p:sp>
        <p:nvSpPr>
          <p:cNvPr id="17" name="Text 15"/>
          <p:cNvSpPr txBox="1"/>
          <p:nvPr/>
        </p:nvSpPr>
        <p:spPr>
          <a:xfrm>
            <a:off x="566928" y="464515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Chawla, N.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SMOTE: Synthetic Minority Over-sampling Technique. JAIR 16, 2002.</a:t>
            </a:r>
            <a:endParaRPr lang="en-US" sz="1100" dirty="0"/>
          </a:p>
        </p:txBody>
      </p:sp>
      <p:sp>
        <p:nvSpPr>
          <p:cNvPr id="18" name="Text 16"/>
          <p:cNvSpPr txBox="1"/>
          <p:nvPr/>
        </p:nvSpPr>
        <p:spPr>
          <a:xfrm>
            <a:off x="8321040" y="464515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 in feature space</a:t>
            </a:r>
            <a:endParaRPr lang="en-US" sz="1000" dirty="0"/>
          </a:p>
        </p:txBody>
      </p:sp>
      <p:sp>
        <p:nvSpPr>
          <p:cNvPr id="19" name="Text 17"/>
          <p:cNvSpPr txBox="1"/>
          <p:nvPr/>
        </p:nvSpPr>
        <p:spPr>
          <a:xfrm>
            <a:off x="566928" y="522122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Saito, T., Rehmsmeier,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The precision-recall plot is more informative than the ROC plot on imbalanced datasets. PLoS ONE 10(3), 2015.</a:t>
            </a:r>
            <a:endParaRPr lang="en-US" sz="1100" dirty="0"/>
          </a:p>
        </p:txBody>
      </p:sp>
      <p:sp>
        <p:nvSpPr>
          <p:cNvPr id="20" name="Text 18"/>
          <p:cNvSpPr txBox="1"/>
          <p:nvPr/>
        </p:nvSpPr>
        <p:spPr>
          <a:xfrm>
            <a:off x="8321040" y="522122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Justifies PR-AUC as the primary metric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Self-Supervised Latent Representations for Imbalanced Apical Periodontitis Grading</dc:title>
  <dc:subject>PptxGenJS Presentation</dc:subject>
  <dc:creator>Progetto 8 - Computer Vision 2025-2026</dc:creator>
  <cp:lastModifiedBy>Progetto 8 - Computer Vision 2025-2026</cp:lastModifiedBy>
  <cp:revision>1</cp:revision>
  <dcterms:created xsi:type="dcterms:W3CDTF">2026-08-29T15:03:08Z</dcterms:created>
  <dcterms:modified xsi:type="dcterms:W3CDTF">2026-08-29T15:03:08Z</dcterms:modified>
</cp:coreProperties>
</file>