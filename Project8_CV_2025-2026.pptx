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ViT</c:v>
                </c:pt>
              </c:strCache>
            </c:strRef>
          </c:tx>
          <c:spPr>
            <a:solidFill>
              <a:srgbClr val="58626C"/>
            </a:solidFill>
            <a:effectLst/>
          </c:spPr>
          <c:invertIfNegative val="0"/>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Prescribed protocol</c:v>
                  </c:pt>
                  <c:pt idx="1">
                    <c:v>Fixed count K = 16</c:v>
                  </c:pt>
                </c:lvl>
              </c:multiLvlStrCache>
            </c:multiLvlStrRef>
          </c:cat>
          <c:val>
            <c:numRef>
              <c:f>Sheet1!$B$2:$B$3</c:f>
              <c:numCache>
                <c:formatCode>General</c:formatCode>
                <c:ptCount val="2"/>
                <c:pt idx="0">
                  <c:v>0.7851</c:v>
                </c:pt>
                <c:pt idx="1">
                  <c:v>0.4014</c:v>
                </c:pt>
              </c:numCache>
            </c:numRef>
          </c:val>
        </c:ser>
        <c:ser>
          <c:idx val="1"/>
          <c:order val="1"/>
          <c:tx>
            <c:strRef>
              <c:f>Sheet1!$C$1</c:f>
              <c:strCache>
                <c:ptCount val="1"/>
                <c:pt idx="0">
                  <c:v>I-JEPA</c:v>
                </c:pt>
              </c:strCache>
            </c:strRef>
          </c:tx>
          <c:spPr>
            <a:solidFill>
              <a:srgbClr val="1F6F43"/>
            </a:solidFill>
            <a:effectLst/>
          </c:spPr>
          <c:invertIfNegative val="0"/>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Prescribed protocol</c:v>
                  </c:pt>
                  <c:pt idx="1">
                    <c:v>Fixed count K = 16</c:v>
                  </c:pt>
                </c:lvl>
              </c:multiLvlStrCache>
            </c:multiLvlStrRef>
          </c:cat>
          <c:val>
            <c:numRef>
              <c:f>Sheet1!$C$2:$C$3</c:f>
              <c:numCache>
                <c:formatCode>General</c:formatCode>
                <c:ptCount val="2"/>
                <c:pt idx="0">
                  <c:v>0.757</c:v>
                </c:pt>
                <c:pt idx="1">
                  <c:v>0.5171</c:v>
                </c:pt>
              </c:numCache>
            </c:numRef>
          </c:val>
        </c:ser>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418"/>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9525" cap="flat">
              <a:solidFill>
                <a:srgbClr val="DDE3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8626C"/>
                </a:solidFill>
                <a:latin typeface="Arial"/>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111418"/>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ViT</c:v>
                </c:pt>
              </c:strCache>
            </c:strRef>
          </c:tx>
          <c:spPr>
            <a:solidFill>
              <a:srgbClr val="58626C"/>
            </a:solidFill>
            <a:effectLst/>
          </c:spPr>
          <c:invertIfNegative val="0"/>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cat>
            <c:multiLvlStrRef>
              <c:f>Sheet1!$A$2:$A$5</c:f>
              <c:multiLvlStrCache>
                <c:ptCount val="4"/>
                <c:lvl>
                  <c:pt idx="0">
                    <c:v>Fixed grid</c:v>
                  </c:pt>
                  <c:pt idx="1">
                    <c:v>K = 16</c:v>
                  </c:pt>
                  <c:pt idx="2">
                    <c:v>K = 36</c:v>
                  </c:pt>
                  <c:pt idx="3">
                    <c:v>K = 64</c:v>
                  </c:pt>
                </c:lvl>
              </c:multiLvlStrCache>
            </c:multiLvlStrRef>
          </c:cat>
          <c:val>
            <c:numRef>
              <c:f>Sheet1!$B$2:$B$5</c:f>
              <c:numCache>
                <c:formatCode>General</c:formatCode>
                <c:ptCount val="4"/>
                <c:pt idx="0">
                  <c:v>0.3621</c:v>
                </c:pt>
                <c:pt idx="1">
                  <c:v>0.3861</c:v>
                </c:pt>
                <c:pt idx="2">
                  <c:v>0.3823</c:v>
                </c:pt>
                <c:pt idx="3">
                  <c:v>0.374</c:v>
                </c:pt>
              </c:numCache>
            </c:numRef>
          </c:val>
        </c:ser>
        <c:ser>
          <c:idx val="1"/>
          <c:order val="1"/>
          <c:tx>
            <c:strRef>
              <c:f>Sheet1!$C$1</c:f>
              <c:strCache>
                <c:ptCount val="1"/>
                <c:pt idx="0">
                  <c:v>I-JEPA</c:v>
                </c:pt>
              </c:strCache>
            </c:strRef>
          </c:tx>
          <c:spPr>
            <a:solidFill>
              <a:srgbClr val="1F6F43"/>
            </a:solidFill>
            <a:effectLst/>
          </c:spPr>
          <c:invertIfNegative val="0"/>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cat>
            <c:multiLvlStrRef>
              <c:f>Sheet1!$A$2:$A$5</c:f>
              <c:multiLvlStrCache>
                <c:ptCount val="4"/>
                <c:lvl>
                  <c:pt idx="0">
                    <c:v>Fixed grid</c:v>
                  </c:pt>
                  <c:pt idx="1">
                    <c:v>K = 16</c:v>
                  </c:pt>
                  <c:pt idx="2">
                    <c:v>K = 36</c:v>
                  </c:pt>
                  <c:pt idx="3">
                    <c:v>K = 64</c:v>
                  </c:pt>
                </c:lvl>
              </c:multiLvlStrCache>
            </c:multiLvlStrRef>
          </c:cat>
          <c:val>
            <c:numRef>
              <c:f>Sheet1!$C$2:$C$5</c:f>
              <c:numCache>
                <c:formatCode>General</c:formatCode>
                <c:ptCount val="4"/>
                <c:pt idx="0">
                  <c:v>0.3792</c:v>
                </c:pt>
                <c:pt idx="1">
                  <c:v>0.4713</c:v>
                </c:pt>
                <c:pt idx="2">
                  <c:v>0.5031</c:v>
                </c:pt>
                <c:pt idx="3">
                  <c:v>0.4553</c:v>
                </c:pt>
              </c:numCache>
            </c:numRef>
          </c:val>
        </c:ser>
        <c:dLbls>
          <c:numFmt formatCode="0.000" sourceLinked="0"/>
          <c:txPr>
            <a:bodyPr/>
            <a:lstStyle/>
            <a:p>
              <a:pPr>
                <a:defRPr b="0" i="0" strike="noStrike" sz="1000" u="none">
                  <a:solidFill>
                    <a:srgbClr val="11141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418"/>
                </a:solidFill>
                <a:latin typeface="Arial"/>
              </a:defRPr>
            </a:pPr>
            <a:endParaRPr lang="en-US"/>
          </a:p>
        </c:txPr>
        <c:crossAx val="2094734552"/>
        <c:crosses val="autoZero"/>
        <c:auto val="1"/>
        <c:lblAlgn val="ctr"/>
        <c:noMultiLvlLbl val="1"/>
      </c:catAx>
      <c:valAx>
        <c:axId val="2094734552"/>
        <c:scaling>
          <c:orientation val="minMax"/>
          <c:max val="0.55"/>
          <c:min val="0"/>
        </c:scaling>
        <c:delete val="0"/>
        <c:axPos val="l"/>
        <c:majorGridlines>
          <c:spPr>
            <a:ln w="9525" cap="flat">
              <a:solidFill>
                <a:srgbClr val="DDE3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8626C"/>
                </a:solidFill>
                <a:latin typeface="Arial"/>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11141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Read the boxed sentence aloud: it is the whole talk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Point at the strip explanation — it is how they will follow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Trace it left to right with a finger, twice: top band builds the encoder, bottom band uses it. Then point at the red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Land hard on 0.7567 with two thresholds. Then: we did not assume one patient per image — we found the hidden ID and counted it.
NO DATA LEAKAGE — FOUND THE HIDDEN PATIENT ID, THEN COUNTED IT — One panoramic per patient, so an image-level split IS a patient-level split, exactly as the assignment requires. verify_patient_level() re-checks it at every run, and load_splits() asserts that no image appears in two splits — so it is a measured result, not a declaration of good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Name Multiple Instance Learning explicitly — it shows we placed the problem in the literature.
WHY IT IS A TRAP HERE SPECIFICALLY — So the shortcut is not noise the model might latch onto — it is a near-perfect predictor handed to the classifier for free, requiring no image content at all.  Any encoder, trained or not, is evaluated through this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The most important slide. Pause after 'within 0.0003 of each other'.
WHAT THIS DOES AND DOES NOT PROVE — It proves that the prescribed evaluation cannot distinguish encoders, because a channel exists that answers the question without them.  Every comparison run under this protocol — including the one the assignment asks for — is therefore uninformative about representation quality. That is the finding, and the rest of the talk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Show, do not read. Left column: bag changes with class. Right: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The two 'tie' rows are the evidence, not the weakness.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One block class everywhere; the predictor's smallness is a design constraint, not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'Never saw a label' is the sentence that lands. Then the pooling/head asymmetry.
TWO CONSEQUENCES WORTH STATING — And the same frozen encoder can be compared against a randomly initialised one on equal terms: with fine-tuning that comparison would measure adaptability, not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Two numbers only: 16 px per patch, and 196 tokens fixed by the positional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is the bridge: geometry enters at tiling time, so that is where we intervened.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Show the vector, then say we measured what depth does rather than assuming it.
WHY NOT THE LAST BLOCK ONLY — Concatenating three depths lets the trained pooling decide how much to weigh each, instead of us deciding in advance.
THE USUAL INTERPRETATION, AND OUR CAUTION — We do NOT present it as a measured fact about our encoder: we measured the depth profile instead, and it says something more specific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random-encoder row is the control that makes the other two readable.
READ THE FIRST ROW AGAINST THE OTHERS — This probe rewards geometry, so what the numbers say is precise: DEPTH PROGRESSIVELY DISCARDS THE SIZE INFORMATION. Block 2 still carries it; block 11 has largely shed it.
WHY THIS MATTERS FOR OUR THESIS — Across EPOCHS the encoder unlearns the bounding-box shortcut. Across DEPTH it does the same thing within a single forward pass.  That is also the honest reason for concatenating three blocks rather than trusting the deepest one: they carry different information, and the trained pooling is better placed than we are to decide how much of each to use.  And it is a caution about the textbook reading of depth — on this data the deepest block is not simply “the most useful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Say the invariance was verified BEFORE measuring — it shows method, not luck.
WHY INSTANCE-LEVEL MIL IS THE PRINCIPLED ANSWER — We verified the invariance before measuring anything: varying the bag from 8 to 128 tokens moves the output by 6×10⁻⁸.
THE HYPOTHESIS IT FALSIFIED — The proven invariance was real and insufficient. It removed the count but not the extent: tokens carry positional embeddings, so a large box includes peripheral positions. The mean changes not because the terms are more numerous, but because they are different ones.  An invariance proved on one channel does not protect against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0.1 % line is the one to say aloud: it is why the comparison is about the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Left bars: bias present, random wins. Right bars: bias gone, gap opens.
WITH THE BIAS REMOVED — Asked “how much PAI-5 tissue is this single token?”, a random projection cannot answer and a pre-trained one can. This is the largest margin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table is the argument: only our method is both latent-space and non-inventing.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Read the first row, then the precision column: that is where the novelty differs from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interior optimum is the interesting part: it is explained, not just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Grey bars random, green I-JEPA. First two groups tie; the K groups do not.
NOT ONE LUCKY K — On PR-AUC of the minority class the gain reaches +32 % at z = 8.72.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Stress: one encoder, two readings. Then the unselected checkpoint.
WHAT THE THREE ROWS SAY TOGETHER — I-JEPA reaches its quality by epoch 69 and spends the next two hundred epochs partly unlearning the shortcut.
NOT AN ARTEFACT OF CHECKPOINT CHOICE — On macro-F1 its z = 2.14 falls below our own 2.31 threshold — we say so rather than round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Do not read the table — point at the three lines that matter: frozen, five seeds, PR-AUC on the minority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Point 3 pre-empts the sharpest question about our error bars — say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Three numbered claims, then the closing line. Do not add anything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Read the left column without softening it. The right column is short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Leave on screen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 / 27</a:t>
            </a:r>
            <a:endParaRPr lang="en-US" sz="1050" dirty="0"/>
          </a:p>
        </p:txBody>
      </p:sp>
      <p:sp>
        <p:nvSpPr>
          <p:cNvPr id="3" name="Shape 1"/>
          <p:cNvSpPr/>
          <p:nvPr/>
        </p:nvSpPr>
        <p:spPr>
          <a:xfrm>
            <a:off x="0" y="0"/>
            <a:ext cx="12191695" cy="2148840"/>
          </a:xfrm>
          <a:prstGeom prst="rect">
            <a:avLst/>
          </a:prstGeom>
          <a:solidFill>
            <a:srgbClr val="0B3C49"/>
          </a:solidFill>
          <a:ln/>
        </p:spPr>
      </p:sp>
      <p:sp>
        <p:nvSpPr>
          <p:cNvPr id="4" name="Text 2"/>
          <p:cNvSpPr txBox="1"/>
          <p:nvPr/>
        </p:nvSpPr>
        <p:spPr>
          <a:xfrm>
            <a:off x="566928" y="502920"/>
            <a:ext cx="11057839" cy="1143000"/>
          </a:xfrm>
          <a:prstGeom prst="rect">
            <a:avLst/>
          </a:prstGeom>
          <a:noFill/>
          <a:ln/>
        </p:spPr>
        <p:txBody>
          <a:bodyPr wrap="square" lIns="0" tIns="0" rIns="0" bIns="0" rtlCol="0" anchor="ctr"/>
          <a:lstStyle/>
          <a:p>
            <a:pPr indent="0" marL="0">
              <a:lnSpc>
                <a:spcPts val="3300"/>
              </a:lnSpc>
              <a:buNone/>
            </a:pPr>
            <a:r>
              <a:rPr lang="en-US" sz="2800" b="1" dirty="0">
                <a:solidFill>
                  <a:srgbClr val="FFFFFF"/>
                </a:solidFill>
                <a:latin typeface="Cambria" pitchFamily="34" charset="0"/>
                <a:ea typeface="Cambria" pitchFamily="34" charset="-122"/>
                <a:cs typeface="Cambria" pitchFamily="34" charset="-120"/>
              </a:rPr>
              <a:t>Self-Supervised Latent Representations for</a:t>
            </a:r>
            <a:endParaRPr lang="en-US" sz="2800" dirty="0"/>
          </a:p>
          <a:p>
            <a:pPr indent="0" marL="0">
              <a:lnSpc>
                <a:spcPts val="3300"/>
              </a:lnSpc>
              <a:buNone/>
            </a:pPr>
            <a:r>
              <a:rPr lang="en-US" sz="2800" b="1" dirty="0">
                <a:solidFill>
                  <a:srgbClr val="FFFFFF"/>
                </a:solidFill>
                <a:latin typeface="Cambria" pitchFamily="34" charset="0"/>
                <a:ea typeface="Cambria" pitchFamily="34" charset="-122"/>
                <a:cs typeface="Cambria" pitchFamily="34" charset="-120"/>
              </a:rPr>
              <a:t>Imbalanced Apical Periodontitis Grading</a:t>
            </a:r>
            <a:endParaRPr lang="en-US" sz="2800" dirty="0"/>
          </a:p>
        </p:txBody>
      </p:sp>
      <p:sp>
        <p:nvSpPr>
          <p:cNvPr id="5" name="Text 3"/>
          <p:cNvSpPr txBox="1"/>
          <p:nvPr/>
        </p:nvSpPr>
        <p:spPr>
          <a:xfrm>
            <a:off x="566928" y="1691640"/>
            <a:ext cx="11057839" cy="274320"/>
          </a:xfrm>
          <a:prstGeom prst="rect">
            <a:avLst/>
          </a:prstGeom>
          <a:noFill/>
          <a:ln/>
        </p:spPr>
        <p:txBody>
          <a:bodyPr wrap="square" lIns="0" tIns="0" rIns="0" bIns="0" rtlCol="0" anchor="ctr"/>
          <a:lstStyle/>
          <a:p>
            <a:pPr indent="0" marL="0">
              <a:buNone/>
            </a:pPr>
            <a:r>
              <a:rPr lang="en-US" sz="1350" dirty="0">
                <a:solidFill>
                  <a:srgbClr val="AFC7D0"/>
                </a:solidFill>
                <a:latin typeface="Calibri" pitchFamily="34" charset="0"/>
                <a:ea typeface="Calibri" pitchFamily="34" charset="-122"/>
                <a:cs typeface="Calibri" pitchFamily="34" charset="-120"/>
              </a:rPr>
              <a:t>Project 8  ·  Computer Vision A.A. 2025-2026</a:t>
            </a:r>
            <a:endParaRPr lang="en-US" sz="1350" dirty="0"/>
          </a:p>
        </p:txBody>
      </p:sp>
      <p:sp>
        <p:nvSpPr>
          <p:cNvPr id="6" name="Text 4"/>
          <p:cNvSpPr txBox="1"/>
          <p:nvPr/>
        </p:nvSpPr>
        <p:spPr>
          <a:xfrm>
            <a:off x="566928" y="2651760"/>
            <a:ext cx="5120640" cy="1371600"/>
          </a:xfrm>
          <a:prstGeom prst="rect">
            <a:avLst/>
          </a:prstGeom>
          <a:noFill/>
          <a:ln/>
        </p:spPr>
        <p:txBody>
          <a:bodyPr wrap="square" lIns="0" tIns="0" rIns="0" bIns="0" rtlCol="0" anchor="ctr"/>
          <a:lstStyle/>
          <a:p>
            <a:pPr indent="0" marL="0">
              <a:lnSpc>
                <a:spcPts val="2100"/>
              </a:lnSpc>
              <a:buNone/>
            </a:pPr>
            <a:r>
              <a:rPr lang="en-US" sz="1250" b="1" dirty="0">
                <a:solidFill>
                  <a:srgbClr val="0B3C49"/>
                </a:solidFill>
                <a:latin typeface="Calibri" pitchFamily="34" charset="0"/>
                <a:ea typeface="Calibri" pitchFamily="34" charset="-122"/>
                <a:cs typeface="Calibri" pitchFamily="34" charset="-120"/>
              </a:rPr>
              <a:t>Team
</a:t>
            </a:r>
            <a:pPr indent="0" marL="0">
              <a:lnSpc>
                <a:spcPts val="2100"/>
              </a:lnSpc>
              <a:buNone/>
            </a:pPr>
            <a:r>
              <a:rPr lang="en-US" sz="1350" dirty="0">
                <a:solidFill>
                  <a:srgbClr val="111418"/>
                </a:solidFill>
                <a:latin typeface="Calibri" pitchFamily="34" charset="0"/>
                <a:ea typeface="Calibri" pitchFamily="34" charset="-122"/>
                <a:cs typeface="Calibri" pitchFamily="34" charset="-120"/>
              </a:rPr>
              <a:t>‹ name, surname, student ID ›</a:t>
            </a:r>
            <a:endParaRPr lang="en-US" sz="1250" dirty="0"/>
          </a:p>
          <a:p>
            <a:pPr indent="0" marL="0">
              <a:lnSpc>
                <a:spcPts val="2100"/>
              </a:lnSpc>
              <a:buNone/>
            </a:pPr>
            <a:r>
              <a:rPr lang="en-US" sz="1350" dirty="0">
                <a:solidFill>
                  <a:srgbClr val="111418"/>
                </a:solidFill>
                <a:latin typeface="Calibri" pitchFamily="34" charset="0"/>
                <a:ea typeface="Calibri" pitchFamily="34" charset="-122"/>
                <a:cs typeface="Calibri" pitchFamily="34" charset="-120"/>
              </a:rPr>
              <a:t>‹ name, surname, student ID ›</a:t>
            </a:r>
            <a:endParaRPr lang="en-US" sz="1250" dirty="0"/>
          </a:p>
          <a:p>
            <a:pPr indent="0" marL="0">
              <a:lnSpc>
                <a:spcPts val="2100"/>
              </a:lnSpc>
              <a:buNone/>
            </a:pPr>
            <a:r>
              <a:rPr lang="en-US" sz="1350" dirty="0">
                <a:solidFill>
                  <a:srgbClr val="111418"/>
                </a:solidFill>
                <a:latin typeface="Calibri" pitchFamily="34" charset="0"/>
                <a:ea typeface="Calibri" pitchFamily="34" charset="-122"/>
                <a:cs typeface="Calibri" pitchFamily="34" charset="-120"/>
              </a:rPr>
              <a:t>‹ name, surname, student ID ›</a:t>
            </a:r>
            <a:endParaRPr lang="en-US" sz="1250" dirty="0"/>
          </a:p>
        </p:txBody>
      </p:sp>
      <p:sp>
        <p:nvSpPr>
          <p:cNvPr id="7" name="Text 5"/>
          <p:cNvSpPr txBox="1"/>
          <p:nvPr/>
        </p:nvSpPr>
        <p:spPr>
          <a:xfrm>
            <a:off x="6309360" y="2651760"/>
            <a:ext cx="5303520" cy="1371600"/>
          </a:xfrm>
          <a:prstGeom prst="rect">
            <a:avLst/>
          </a:prstGeom>
          <a:noFill/>
          <a:ln/>
        </p:spPr>
        <p:txBody>
          <a:bodyPr wrap="square" lIns="0" tIns="0" rIns="0" bIns="0" rtlCol="0" anchor="ctr"/>
          <a:lstStyle/>
          <a:p>
            <a:pPr indent="0" marL="0">
              <a:lnSpc>
                <a:spcPts val="2100"/>
              </a:lnSpc>
              <a:buNone/>
            </a:pPr>
            <a:r>
              <a:rPr lang="en-US" sz="1250" b="1" dirty="0">
                <a:solidFill>
                  <a:srgbClr val="0B3C49"/>
                </a:solidFill>
                <a:latin typeface="Calibri" pitchFamily="34" charset="0"/>
                <a:ea typeface="Calibri" pitchFamily="34" charset="-122"/>
                <a:cs typeface="Calibri" pitchFamily="34" charset="-120"/>
              </a:rPr>
              <a:t>Course
</a:t>
            </a:r>
            <a:pPr indent="0" marL="0">
              <a:lnSpc>
                <a:spcPts val="2100"/>
              </a:lnSpc>
              <a:buNone/>
            </a:pPr>
            <a:r>
              <a:rPr lang="en-US" sz="1350" dirty="0">
                <a:solidFill>
                  <a:srgbClr val="111418"/>
                </a:solidFill>
                <a:latin typeface="Calibri" pitchFamily="34" charset="0"/>
                <a:ea typeface="Calibri" pitchFamily="34" charset="-122"/>
                <a:cs typeface="Calibri" pitchFamily="34" charset="-120"/>
              </a:rPr>
              <a:t>Prof. Irene Amerini</a:t>
            </a:r>
            <a:endParaRPr lang="en-US" sz="1250" dirty="0"/>
          </a:p>
          <a:p>
            <a:pPr indent="0" marL="0">
              <a:lnSpc>
                <a:spcPts val="2100"/>
              </a:lnSpc>
              <a:buNone/>
            </a:pPr>
            <a:r>
              <a:rPr lang="en-US" sz="1350" dirty="0">
                <a:solidFill>
                  <a:srgbClr val="111418"/>
                </a:solidFill>
                <a:latin typeface="Calibri" pitchFamily="34" charset="0"/>
                <a:ea typeface="Calibri" pitchFamily="34" charset="-122"/>
                <a:cs typeface="Calibri" pitchFamily="34" charset="-120"/>
              </a:rPr>
              <a:t>Sapienza Università di Roma · ALCOR Lab</a:t>
            </a:r>
            <a:endParaRPr lang="en-US" sz="1250" dirty="0"/>
          </a:p>
          <a:p>
            <a:pPr indent="0" marL="0">
              <a:lnSpc>
                <a:spcPts val="2100"/>
              </a:lnSpc>
              <a:buNone/>
            </a:pPr>
            <a:r>
              <a:rPr lang="en-US" sz="1350" dirty="0">
                <a:solidFill>
                  <a:srgbClr val="111418"/>
                </a:solidFill>
                <a:latin typeface="Calibri" pitchFamily="34" charset="0"/>
                <a:ea typeface="Calibri" pitchFamily="34" charset="-122"/>
                <a:cs typeface="Calibri" pitchFamily="34" charset="-120"/>
              </a:rPr>
              <a:t>September 11, 2026</a:t>
            </a:r>
            <a:endParaRPr lang="en-US" sz="1250" dirty="0"/>
          </a:p>
        </p:txBody>
      </p:sp>
      <p:sp>
        <p:nvSpPr>
          <p:cNvPr id="8" name="Shape 6"/>
          <p:cNvSpPr/>
          <p:nvPr/>
        </p:nvSpPr>
        <p:spPr>
          <a:xfrm>
            <a:off x="566928" y="4343400"/>
            <a:ext cx="11057839" cy="1051560"/>
          </a:xfrm>
          <a:prstGeom prst="roundRect">
            <a:avLst>
              <a:gd name="adj" fmla="val 6957"/>
            </a:avLst>
          </a:prstGeom>
          <a:solidFill>
            <a:srgbClr val="F1F4F6"/>
          </a:solidFill>
          <a:ln/>
        </p:spPr>
      </p:sp>
      <p:sp>
        <p:nvSpPr>
          <p:cNvPr id="9" name="Text 7"/>
          <p:cNvSpPr txBox="1"/>
          <p:nvPr/>
        </p:nvSpPr>
        <p:spPr>
          <a:xfrm>
            <a:off x="795528" y="4526280"/>
            <a:ext cx="10600639" cy="731520"/>
          </a:xfrm>
          <a:prstGeom prst="rect">
            <a:avLst/>
          </a:prstGeom>
          <a:noFill/>
          <a:ln/>
        </p:spPr>
        <p:txBody>
          <a:bodyPr wrap="square" lIns="0" tIns="0" rIns="0" bIns="0" rtlCol="0" anchor="ctr"/>
          <a:lstStyle/>
          <a:p>
            <a:pPr indent="0" marL="0">
              <a:lnSpc>
                <a:spcPts val="2100"/>
              </a:lnSpc>
              <a:buNone/>
            </a:pPr>
            <a:r>
              <a:rPr lang="en-US" sz="1400" b="1" dirty="0">
                <a:solidFill>
                  <a:srgbClr val="0B3C49"/>
                </a:solidFill>
                <a:latin typeface="Calibri" pitchFamily="34" charset="0"/>
                <a:ea typeface="Calibri" pitchFamily="34" charset="-122"/>
                <a:cs typeface="Calibri" pitchFamily="34" charset="-120"/>
              </a:rPr>
              <a:t>In one sentence:  </a:t>
            </a:r>
            <a:pPr indent="0" marL="0">
              <a:lnSpc>
                <a:spcPts val="2100"/>
              </a:lnSpc>
              <a:buNone/>
            </a:pPr>
            <a:r>
              <a:rPr lang="en-US" sz="1400" dirty="0">
                <a:solidFill>
                  <a:srgbClr val="111418"/>
                </a:solidFill>
                <a:latin typeface="Calibri" pitchFamily="34" charset="0"/>
                <a:ea typeface="Calibri" pitchFamily="34" charset="-122"/>
                <a:cs typeface="Calibri" pitchFamily="34" charset="-120"/>
              </a:rPr>
              <a:t>grading this disease is largely a </a:t>
            </a:r>
            <a:pPr indent="0" marL="0">
              <a:lnSpc>
                <a:spcPts val="2100"/>
              </a:lnSpc>
              <a:buNone/>
            </a:pPr>
            <a:r>
              <a:rPr lang="en-US" sz="1400" b="1" dirty="0">
                <a:solidFill>
                  <a:srgbClr val="A62B1F"/>
                </a:solidFill>
                <a:latin typeface="Calibri" pitchFamily="34" charset="0"/>
                <a:ea typeface="Calibri" pitchFamily="34" charset="-122"/>
                <a:cs typeface="Calibri" pitchFamily="34" charset="-120"/>
              </a:rPr>
              <a:t>geometric</a:t>
            </a:r>
            <a:pPr indent="0" marL="0">
              <a:lnSpc>
                <a:spcPts val="2100"/>
              </a:lnSpc>
              <a:buNone/>
            </a:pPr>
            <a:r>
              <a:rPr lang="en-US" sz="1400" dirty="0">
                <a:solidFill>
                  <a:srgbClr val="111418"/>
                </a:solidFill>
                <a:latin typeface="Calibri" pitchFamily="34" charset="0"/>
                <a:ea typeface="Calibri" pitchFamily="34" charset="-122"/>
                <a:cs typeface="Calibri" pitchFamily="34" charset="-120"/>
              </a:rPr>
              <a:t> task, and that fact quietly breaks the evaluation protocol the assignment prescribes. This talk shows how we detected it, removed it, and what the encoder is worth once it is gone.</a:t>
            </a:r>
            <a:endParaRPr lang="en-US" sz="1400" dirty="0"/>
          </a:p>
        </p:txBody>
      </p:sp>
      <p:sp>
        <p:nvSpPr>
          <p:cNvPr id="10" name="Text 8"/>
          <p:cNvSpPr txBox="1"/>
          <p:nvPr/>
        </p:nvSpPr>
        <p:spPr>
          <a:xfrm>
            <a:off x="566928" y="5852160"/>
            <a:ext cx="11057839" cy="256032"/>
          </a:xfrm>
          <a:prstGeom prst="rect">
            <a:avLst/>
          </a:prstGeom>
          <a:noFill/>
          <a:ln/>
        </p:spPr>
        <p:txBody>
          <a:bodyPr wrap="square" lIns="0" tIns="0" rIns="0" bIns="0" rtlCol="0" anchor="ctr"/>
          <a:lstStyle/>
          <a:p>
            <a:pPr indent="0" marL="0">
              <a:buNone/>
            </a:pPr>
            <a:r>
              <a:rPr lang="en-US" sz="1100" dirty="0">
                <a:solidFill>
                  <a:srgbClr val="58626C"/>
                </a:solidFill>
                <a:latin typeface="Calibri" pitchFamily="34" charset="0"/>
                <a:ea typeface="Calibri" pitchFamily="34" charset="-122"/>
                <a:cs typeface="Calibri" pitchFamily="34" charset="-120"/>
              </a:rPr>
              <a:t>PyTorch  ·  github.com/Gennaro-finance/Computer_Vision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WHERE WE ARE GOING</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Outline</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 / 27</a:t>
            </a:r>
            <a:endParaRPr lang="en-US" sz="1050" dirty="0"/>
          </a:p>
        </p:txBody>
      </p:sp>
      <p:sp>
        <p:nvSpPr>
          <p:cNvPr id="5" name="Shape 3"/>
          <p:cNvSpPr/>
          <p:nvPr/>
        </p:nvSpPr>
        <p:spPr>
          <a:xfrm>
            <a:off x="566928" y="1399032"/>
            <a:ext cx="310896" cy="310896"/>
          </a:xfrm>
          <a:prstGeom prst="ellipse">
            <a:avLst/>
          </a:prstGeom>
          <a:solidFill>
            <a:srgbClr val="A62B1F"/>
          </a:solidFill>
          <a:ln/>
        </p:spPr>
      </p:sp>
      <p:sp>
        <p:nvSpPr>
          <p:cNvPr id="6" name="Text 4"/>
          <p:cNvSpPr txBox="1"/>
          <p:nvPr/>
        </p:nvSpPr>
        <p:spPr>
          <a:xfrm>
            <a:off x="566928" y="1399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24128" y="137160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The problem is geometric   </a:t>
            </a:r>
            <a:pPr indent="0" marL="0">
              <a:buNone/>
            </a:pPr>
            <a:r>
              <a:rPr lang="en-US" sz="1250" dirty="0">
                <a:solidFill>
                  <a:srgbClr val="58626C"/>
                </a:solidFill>
                <a:latin typeface="Calibri" pitchFamily="34" charset="0"/>
                <a:ea typeface="Calibri" pitchFamily="34" charset="-122"/>
                <a:cs typeface="Calibri" pitchFamily="34" charset="-120"/>
              </a:rPr>
              <a:t>PAI grade is defined by lesion size</a:t>
            </a:r>
            <a:endParaRPr lang="en-US" sz="1500" dirty="0"/>
          </a:p>
        </p:txBody>
      </p:sp>
      <p:sp>
        <p:nvSpPr>
          <p:cNvPr id="8" name="Shape 6"/>
          <p:cNvSpPr/>
          <p:nvPr/>
        </p:nvSpPr>
        <p:spPr>
          <a:xfrm>
            <a:off x="566928" y="1947672"/>
            <a:ext cx="310896" cy="310896"/>
          </a:xfrm>
          <a:prstGeom prst="ellipse">
            <a:avLst/>
          </a:prstGeom>
          <a:solidFill>
            <a:srgbClr val="A62B1F"/>
          </a:solidFill>
          <a:ln/>
        </p:spPr>
      </p:sp>
      <p:sp>
        <p:nvSpPr>
          <p:cNvPr id="9" name="Text 7"/>
          <p:cNvSpPr txBox="1"/>
          <p:nvPr/>
        </p:nvSpPr>
        <p:spPr>
          <a:xfrm>
            <a:off x="566928" y="1947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024128" y="192024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Therefore: bag-size bias   </a:t>
            </a:r>
            <a:pPr indent="0" marL="0">
              <a:buNone/>
            </a:pPr>
            <a:r>
              <a:rPr lang="en-US" sz="1250" dirty="0">
                <a:solidFill>
                  <a:srgbClr val="58626C"/>
                </a:solidFill>
                <a:latin typeface="Calibri" pitchFamily="34" charset="0"/>
                <a:ea typeface="Calibri" pitchFamily="34" charset="-122"/>
                <a:cs typeface="Calibri" pitchFamily="34" charset="-120"/>
              </a:rPr>
              <a:t>The assignment's protocol lets the label leak through token count</a:t>
            </a:r>
            <a:endParaRPr lang="en-US" sz="1500" dirty="0"/>
          </a:p>
        </p:txBody>
      </p:sp>
      <p:sp>
        <p:nvSpPr>
          <p:cNvPr id="11" name="Shape 9"/>
          <p:cNvSpPr/>
          <p:nvPr/>
        </p:nvSpPr>
        <p:spPr>
          <a:xfrm>
            <a:off x="566928" y="2496312"/>
            <a:ext cx="310896" cy="310896"/>
          </a:xfrm>
          <a:prstGeom prst="ellipse">
            <a:avLst/>
          </a:prstGeom>
          <a:solidFill>
            <a:srgbClr val="1F6F43"/>
          </a:solidFill>
          <a:ln/>
        </p:spPr>
      </p:sp>
      <p:sp>
        <p:nvSpPr>
          <p:cNvPr id="12" name="Text 10"/>
          <p:cNvSpPr txBox="1"/>
          <p:nvPr/>
        </p:nvSpPr>
        <p:spPr>
          <a:xfrm>
            <a:off x="566928" y="2496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1024128" y="246888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Removing the bias   </a:t>
            </a:r>
            <a:pPr indent="0" marL="0">
              <a:buNone/>
            </a:pPr>
            <a:r>
              <a:rPr lang="en-US" sz="1250" dirty="0">
                <a:solidFill>
                  <a:srgbClr val="58626C"/>
                </a:solidFill>
                <a:latin typeface="Calibri" pitchFamily="34" charset="0"/>
                <a:ea typeface="Calibri" pitchFamily="34" charset="-122"/>
                <a:cs typeface="Calibri" pitchFamily="34" charset="-120"/>
              </a:rPr>
              <a:t>Fixed-count protocol + a two-factor control</a:t>
            </a:r>
            <a:endParaRPr lang="en-US" sz="1500" dirty="0"/>
          </a:p>
        </p:txBody>
      </p:sp>
      <p:sp>
        <p:nvSpPr>
          <p:cNvPr id="14" name="Shape 12"/>
          <p:cNvSpPr/>
          <p:nvPr/>
        </p:nvSpPr>
        <p:spPr>
          <a:xfrm>
            <a:off x="566928" y="3044952"/>
            <a:ext cx="310896" cy="310896"/>
          </a:xfrm>
          <a:prstGeom prst="ellipse">
            <a:avLst/>
          </a:prstGeom>
          <a:solidFill>
            <a:srgbClr val="1C7293"/>
          </a:solidFill>
          <a:ln/>
        </p:spPr>
      </p:sp>
      <p:sp>
        <p:nvSpPr>
          <p:cNvPr id="15" name="Text 13"/>
          <p:cNvSpPr txBox="1"/>
          <p:nvPr/>
        </p:nvSpPr>
        <p:spPr>
          <a:xfrm>
            <a:off x="566928" y="3044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1024128" y="301752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Classification heads   </a:t>
            </a:r>
            <a:pPr indent="0" marL="0">
              <a:buNone/>
            </a:pPr>
            <a:r>
              <a:rPr lang="en-US" sz="1250" dirty="0">
                <a:solidFill>
                  <a:srgbClr val="58626C"/>
                </a:solidFill>
                <a:latin typeface="Calibri" pitchFamily="34" charset="0"/>
                <a:ea typeface="Calibri" pitchFamily="34" charset="-122"/>
                <a:cs typeface="Calibri" pitchFamily="34" charset="-120"/>
              </a:rPr>
              <a:t>Flat, attention pooling, instance-level MIL</a:t>
            </a:r>
            <a:endParaRPr lang="en-US" sz="1500" dirty="0"/>
          </a:p>
        </p:txBody>
      </p:sp>
      <p:sp>
        <p:nvSpPr>
          <p:cNvPr id="17" name="Shape 15"/>
          <p:cNvSpPr/>
          <p:nvPr/>
        </p:nvSpPr>
        <p:spPr>
          <a:xfrm>
            <a:off x="566928" y="3593592"/>
            <a:ext cx="310896" cy="310896"/>
          </a:xfrm>
          <a:prstGeom prst="ellipse">
            <a:avLst/>
          </a:prstGeom>
          <a:solidFill>
            <a:srgbClr val="1C7293"/>
          </a:solidFill>
          <a:ln/>
        </p:spPr>
      </p:sp>
      <p:sp>
        <p:nvSpPr>
          <p:cNvPr id="18" name="Text 16"/>
          <p:cNvSpPr txBox="1"/>
          <p:nvPr/>
        </p:nvSpPr>
        <p:spPr>
          <a:xfrm>
            <a:off x="566928" y="35935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txBox="1"/>
          <p:nvPr/>
        </p:nvSpPr>
        <p:spPr>
          <a:xfrm>
            <a:off x="1024128" y="356616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Our novelty   </a:t>
            </a:r>
            <a:pPr indent="0" marL="0">
              <a:buNone/>
            </a:pPr>
            <a:r>
              <a:rPr lang="en-US" sz="1250" dirty="0">
                <a:solidFill>
                  <a:srgbClr val="58626C"/>
                </a:solidFill>
                <a:latin typeface="Calibri" pitchFamily="34" charset="0"/>
                <a:ea typeface="Calibri" pitchFamily="34" charset="-122"/>
                <a:cs typeface="Calibri" pitchFamily="34" charset="-120"/>
              </a:rPr>
              <a:t>Balanced token sampling — rebalancing inside latent space</a:t>
            </a:r>
            <a:endParaRPr lang="en-US" sz="1500" dirty="0"/>
          </a:p>
        </p:txBody>
      </p:sp>
      <p:sp>
        <p:nvSpPr>
          <p:cNvPr id="20" name="Shape 18"/>
          <p:cNvSpPr/>
          <p:nvPr/>
        </p:nvSpPr>
        <p:spPr>
          <a:xfrm>
            <a:off x="566928" y="4142232"/>
            <a:ext cx="310896" cy="310896"/>
          </a:xfrm>
          <a:prstGeom prst="ellipse">
            <a:avLst/>
          </a:prstGeom>
          <a:solidFill>
            <a:srgbClr val="1F6F43"/>
          </a:solidFill>
          <a:ln/>
        </p:spPr>
      </p:sp>
      <p:sp>
        <p:nvSpPr>
          <p:cNvPr id="21" name="Text 19"/>
          <p:cNvSpPr txBox="1"/>
          <p:nvPr/>
        </p:nvSpPr>
        <p:spPr>
          <a:xfrm>
            <a:off x="566928" y="41422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2" name="Text 20"/>
          <p:cNvSpPr txBox="1"/>
          <p:nvPr/>
        </p:nvSpPr>
        <p:spPr>
          <a:xfrm>
            <a:off x="1024128" y="411480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Results   </a:t>
            </a:r>
            <a:pPr indent="0" marL="0">
              <a:buNone/>
            </a:pPr>
            <a:r>
              <a:rPr lang="en-US" sz="1250" dirty="0">
                <a:solidFill>
                  <a:srgbClr val="58626C"/>
                </a:solidFill>
                <a:latin typeface="Calibri" pitchFamily="34" charset="0"/>
                <a:ea typeface="Calibri" pitchFamily="34" charset="-122"/>
                <a:cs typeface="Calibri" pitchFamily="34" charset="-120"/>
              </a:rPr>
              <a:t>What the frozen encoder is actually worth</a:t>
            </a:r>
            <a:endParaRPr lang="en-US" sz="1500" dirty="0"/>
          </a:p>
        </p:txBody>
      </p:sp>
      <p:sp>
        <p:nvSpPr>
          <p:cNvPr id="23" name="Shape 21"/>
          <p:cNvSpPr/>
          <p:nvPr/>
        </p:nvSpPr>
        <p:spPr>
          <a:xfrm>
            <a:off x="566928" y="4690872"/>
            <a:ext cx="310896" cy="310896"/>
          </a:xfrm>
          <a:prstGeom prst="ellipse">
            <a:avLst/>
          </a:prstGeom>
          <a:solidFill>
            <a:srgbClr val="0B3C49"/>
          </a:solidFill>
          <a:ln/>
        </p:spPr>
      </p:sp>
      <p:sp>
        <p:nvSpPr>
          <p:cNvPr id="24" name="Text 22"/>
          <p:cNvSpPr txBox="1"/>
          <p:nvPr/>
        </p:nvSpPr>
        <p:spPr>
          <a:xfrm>
            <a:off x="566928" y="4690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5" name="Text 23"/>
          <p:cNvSpPr txBox="1"/>
          <p:nvPr/>
        </p:nvSpPr>
        <p:spPr>
          <a:xfrm>
            <a:off x="1024128" y="466344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Conclusions   </a:t>
            </a:r>
            <a:pPr indent="0" marL="0">
              <a:buNone/>
            </a:pPr>
            <a:r>
              <a:rPr lang="en-US" sz="1250" dirty="0">
                <a:solidFill>
                  <a:srgbClr val="58626C"/>
                </a:solidFill>
                <a:latin typeface="Calibri" pitchFamily="34" charset="0"/>
                <a:ea typeface="Calibri" pitchFamily="34" charset="-122"/>
                <a:cs typeface="Calibri" pitchFamily="34" charset="-120"/>
              </a:rPr>
              <a:t>Findings, declared limits, future work</a:t>
            </a:r>
            <a:endParaRPr lang="en-US" sz="1500" dirty="0"/>
          </a:p>
        </p:txBody>
      </p:sp>
      <p:sp>
        <p:nvSpPr>
          <p:cNvPr id="26" name="Shape 24"/>
          <p:cNvSpPr/>
          <p:nvPr/>
        </p:nvSpPr>
        <p:spPr>
          <a:xfrm>
            <a:off x="566928" y="5349240"/>
            <a:ext cx="11057839" cy="914400"/>
          </a:xfrm>
          <a:prstGeom prst="roundRect">
            <a:avLst>
              <a:gd name="adj" fmla="val 7000"/>
            </a:avLst>
          </a:prstGeom>
          <a:solidFill>
            <a:srgbClr val="F1F4F6"/>
          </a:solidFill>
          <a:ln/>
        </p:spPr>
      </p:sp>
      <p:sp>
        <p:nvSpPr>
          <p:cNvPr id="27" name="Text 25"/>
          <p:cNvSpPr txBox="1"/>
          <p:nvPr/>
        </p:nvSpPr>
        <p:spPr>
          <a:xfrm>
            <a:off x="749808" y="5477256"/>
            <a:ext cx="10692079"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How to read every result slide</a:t>
            </a:r>
            <a:endParaRPr lang="en-US" sz="1450" dirty="0"/>
          </a:p>
        </p:txBody>
      </p:sp>
      <p:sp>
        <p:nvSpPr>
          <p:cNvPr id="28" name="Text 26"/>
          <p:cNvSpPr txBox="1"/>
          <p:nvPr/>
        </p:nvSpPr>
        <p:spPr>
          <a:xfrm>
            <a:off x="749808" y="5806440"/>
            <a:ext cx="10692079" cy="2926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Each analytical slide opens with the same strip: which MODEL, what it is COMPARED WITH, under which PROTOCOL, on which METRIC. Nine protocols and four related metrics appear in this work — the strip tells you at a glance which pair you are looking 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MAP BEFORE THE DETAILS</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pipeline, end to end</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3 / 27</a:t>
            </a:r>
            <a:endParaRPr lang="en-US" sz="1050" dirty="0"/>
          </a:p>
        </p:txBody>
      </p:sp>
      <p:sp>
        <p:nvSpPr>
          <p:cNvPr id="5" name="Text 3"/>
          <p:cNvSpPr txBox="1"/>
          <p:nvPr/>
        </p:nvSpPr>
        <p:spPr>
          <a:xfrm>
            <a:off x="566928" y="1170432"/>
            <a:ext cx="7315200" cy="219456"/>
          </a:xfrm>
          <a:prstGeom prst="rect">
            <a:avLst/>
          </a:prstGeom>
          <a:noFill/>
          <a:ln/>
        </p:spPr>
        <p:txBody>
          <a:bodyPr wrap="square" lIns="0" tIns="0" rIns="0" bIns="0" rtlCol="0" anchor="ctr"/>
          <a:lstStyle/>
          <a:p>
            <a:pPr indent="0" marL="0">
              <a:buNone/>
            </a:pPr>
            <a:r>
              <a:rPr lang="en-US" sz="1000" b="1" spc="80" kern="0" dirty="0">
                <a:solidFill>
                  <a:srgbClr val="58626C"/>
                </a:solidFill>
                <a:latin typeface="Calibri" pitchFamily="34" charset="0"/>
                <a:ea typeface="Calibri" pitchFamily="34" charset="-122"/>
                <a:cs typeface="Calibri" pitchFamily="34" charset="-120"/>
              </a:rPr>
              <a:t>1 — SELF-SUPERVISED PRE-TRAINING     ·     no labels used</a:t>
            </a:r>
            <a:endParaRPr lang="en-US" sz="1000" dirty="0"/>
          </a:p>
        </p:txBody>
      </p:sp>
      <p:sp>
        <p:nvSpPr>
          <p:cNvPr id="6" name="Shape 4"/>
          <p:cNvSpPr/>
          <p:nvPr/>
        </p:nvSpPr>
        <p:spPr>
          <a:xfrm>
            <a:off x="566928" y="1444752"/>
            <a:ext cx="1965960" cy="868680"/>
          </a:xfrm>
          <a:prstGeom prst="roundRect">
            <a:avLst>
              <a:gd name="adj" fmla="val 6316"/>
            </a:avLst>
          </a:prstGeom>
          <a:solidFill>
            <a:srgbClr val="FFFFFF"/>
          </a:solidFill>
          <a:ln w="20320">
            <a:solidFill>
              <a:srgbClr val="0B3C49"/>
            </a:solidFill>
            <a:prstDash val="solid"/>
          </a:ln>
        </p:spPr>
      </p:sp>
      <p:sp>
        <p:nvSpPr>
          <p:cNvPr id="7" name="Text 5"/>
          <p:cNvSpPr txBox="1"/>
          <p:nvPr/>
        </p:nvSpPr>
        <p:spPr>
          <a:xfrm>
            <a:off x="621792" y="1536192"/>
            <a:ext cx="1856232"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224 px tiles</a:t>
            </a:r>
            <a:endParaRPr lang="en-US" sz="1150" dirty="0"/>
          </a:p>
        </p:txBody>
      </p:sp>
      <p:sp>
        <p:nvSpPr>
          <p:cNvPr id="8" name="Text 6"/>
          <p:cNvSpPr txBox="1"/>
          <p:nvPr/>
        </p:nvSpPr>
        <p:spPr>
          <a:xfrm>
            <a:off x="621792" y="17922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sampled anywhere</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on the radiograph</a:t>
            </a:r>
            <a:endParaRPr lang="en-US" sz="950" dirty="0"/>
          </a:p>
        </p:txBody>
      </p:sp>
      <p:sp>
        <p:nvSpPr>
          <p:cNvPr id="9" name="Shape 7"/>
          <p:cNvSpPr/>
          <p:nvPr/>
        </p:nvSpPr>
        <p:spPr>
          <a:xfrm>
            <a:off x="2532888" y="1874520"/>
            <a:ext cx="292608" cy="0"/>
          </a:xfrm>
          <a:prstGeom prst="line">
            <a:avLst/>
          </a:prstGeom>
          <a:noFill/>
          <a:ln w="17780">
            <a:solidFill>
              <a:srgbClr val="58626C"/>
            </a:solidFill>
            <a:prstDash val="solid"/>
            <a:tailEnd type="triangle"/>
          </a:ln>
        </p:spPr>
      </p:sp>
      <p:sp>
        <p:nvSpPr>
          <p:cNvPr id="10" name="Shape 8"/>
          <p:cNvSpPr/>
          <p:nvPr/>
        </p:nvSpPr>
        <p:spPr>
          <a:xfrm>
            <a:off x="2825496" y="1444752"/>
            <a:ext cx="1965960" cy="868680"/>
          </a:xfrm>
          <a:prstGeom prst="roundRect">
            <a:avLst>
              <a:gd name="adj" fmla="val 6316"/>
            </a:avLst>
          </a:prstGeom>
          <a:solidFill>
            <a:srgbClr val="FFFFFF"/>
          </a:solidFill>
          <a:ln w="20320">
            <a:solidFill>
              <a:srgbClr val="0B3C49"/>
            </a:solidFill>
            <a:prstDash val="solid"/>
          </a:ln>
        </p:spPr>
      </p:sp>
      <p:sp>
        <p:nvSpPr>
          <p:cNvPr id="11" name="Text 9"/>
          <p:cNvSpPr txBox="1"/>
          <p:nvPr/>
        </p:nvSpPr>
        <p:spPr>
          <a:xfrm>
            <a:off x="2880360" y="1536192"/>
            <a:ext cx="1856232"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Block masking</a:t>
            </a:r>
            <a:endParaRPr lang="en-US" sz="1150" dirty="0"/>
          </a:p>
        </p:txBody>
      </p:sp>
      <p:sp>
        <p:nvSpPr>
          <p:cNvPr id="12" name="Text 10"/>
          <p:cNvSpPr txBox="1"/>
          <p:nvPr/>
        </p:nvSpPr>
        <p:spPr>
          <a:xfrm>
            <a:off x="2880360" y="17922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1 context block</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+ 4 target blocks</a:t>
            </a:r>
            <a:endParaRPr lang="en-US" sz="950" dirty="0"/>
          </a:p>
        </p:txBody>
      </p:sp>
      <p:sp>
        <p:nvSpPr>
          <p:cNvPr id="13" name="Shape 11"/>
          <p:cNvSpPr/>
          <p:nvPr/>
        </p:nvSpPr>
        <p:spPr>
          <a:xfrm>
            <a:off x="4791456" y="1874520"/>
            <a:ext cx="292608" cy="0"/>
          </a:xfrm>
          <a:prstGeom prst="line">
            <a:avLst/>
          </a:prstGeom>
          <a:noFill/>
          <a:ln w="17780">
            <a:solidFill>
              <a:srgbClr val="58626C"/>
            </a:solidFill>
            <a:prstDash val="solid"/>
            <a:tailEnd type="triangle"/>
          </a:ln>
        </p:spPr>
      </p:sp>
      <p:sp>
        <p:nvSpPr>
          <p:cNvPr id="14" name="Shape 12"/>
          <p:cNvSpPr/>
          <p:nvPr/>
        </p:nvSpPr>
        <p:spPr>
          <a:xfrm>
            <a:off x="5084064" y="1444752"/>
            <a:ext cx="1965960" cy="868680"/>
          </a:xfrm>
          <a:prstGeom prst="roundRect">
            <a:avLst>
              <a:gd name="adj" fmla="val 6316"/>
            </a:avLst>
          </a:prstGeom>
          <a:solidFill>
            <a:srgbClr val="FFFFFF"/>
          </a:solidFill>
          <a:ln w="20320">
            <a:solidFill>
              <a:srgbClr val="0B3C49"/>
            </a:solidFill>
            <a:prstDash val="solid"/>
          </a:ln>
        </p:spPr>
      </p:sp>
      <p:sp>
        <p:nvSpPr>
          <p:cNvPr id="15" name="Text 13"/>
          <p:cNvSpPr txBox="1"/>
          <p:nvPr/>
        </p:nvSpPr>
        <p:spPr>
          <a:xfrm>
            <a:off x="5138928" y="1536192"/>
            <a:ext cx="1856232"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Context encoder</a:t>
            </a:r>
            <a:endParaRPr lang="en-US" sz="1150" dirty="0"/>
          </a:p>
        </p:txBody>
      </p:sp>
      <p:sp>
        <p:nvSpPr>
          <p:cNvPr id="16" name="Text 14"/>
          <p:cNvSpPr txBox="1"/>
          <p:nvPr/>
        </p:nvSpPr>
        <p:spPr>
          <a:xfrm>
            <a:off x="5138928" y="17922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ViT-S/16 · 21.6 M</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trained by gradient</a:t>
            </a:r>
            <a:endParaRPr lang="en-US" sz="950" dirty="0"/>
          </a:p>
        </p:txBody>
      </p:sp>
      <p:sp>
        <p:nvSpPr>
          <p:cNvPr id="17" name="Shape 15"/>
          <p:cNvSpPr/>
          <p:nvPr/>
        </p:nvSpPr>
        <p:spPr>
          <a:xfrm>
            <a:off x="7050024" y="1874520"/>
            <a:ext cx="292608" cy="0"/>
          </a:xfrm>
          <a:prstGeom prst="line">
            <a:avLst/>
          </a:prstGeom>
          <a:noFill/>
          <a:ln w="17780">
            <a:solidFill>
              <a:srgbClr val="58626C"/>
            </a:solidFill>
            <a:prstDash val="solid"/>
            <a:tailEnd type="triangle"/>
          </a:ln>
        </p:spPr>
      </p:sp>
      <p:sp>
        <p:nvSpPr>
          <p:cNvPr id="18" name="Shape 16"/>
          <p:cNvSpPr/>
          <p:nvPr/>
        </p:nvSpPr>
        <p:spPr>
          <a:xfrm>
            <a:off x="7342632" y="1444752"/>
            <a:ext cx="1965960" cy="868680"/>
          </a:xfrm>
          <a:prstGeom prst="roundRect">
            <a:avLst>
              <a:gd name="adj" fmla="val 6316"/>
            </a:avLst>
          </a:prstGeom>
          <a:solidFill>
            <a:srgbClr val="FFFFFF"/>
          </a:solidFill>
          <a:ln w="20320">
            <a:solidFill>
              <a:srgbClr val="1F6F43"/>
            </a:solidFill>
            <a:prstDash val="solid"/>
          </a:ln>
        </p:spPr>
      </p:sp>
      <p:sp>
        <p:nvSpPr>
          <p:cNvPr id="19" name="Text 17"/>
          <p:cNvSpPr txBox="1"/>
          <p:nvPr/>
        </p:nvSpPr>
        <p:spPr>
          <a:xfrm>
            <a:off x="7397496" y="1536192"/>
            <a:ext cx="1856232" cy="256032"/>
          </a:xfrm>
          <a:prstGeom prst="rect">
            <a:avLst/>
          </a:prstGeom>
          <a:noFill/>
          <a:ln/>
        </p:spPr>
        <p:txBody>
          <a:bodyPr wrap="square" lIns="0" tIns="0" rIns="0" bIns="0" rtlCol="0" anchor="ctr"/>
          <a:lstStyle/>
          <a:p>
            <a:pPr algn="ctr" indent="0" marL="0">
              <a:buNone/>
            </a:pPr>
            <a:r>
              <a:rPr lang="en-US" sz="1150" b="1" dirty="0">
                <a:solidFill>
                  <a:srgbClr val="1F6F43"/>
                </a:solidFill>
                <a:latin typeface="Calibri" pitchFamily="34" charset="0"/>
                <a:ea typeface="Calibri" pitchFamily="34" charset="-122"/>
                <a:cs typeface="Calibri" pitchFamily="34" charset="-120"/>
              </a:rPr>
              <a:t>Predictor</a:t>
            </a:r>
            <a:endParaRPr lang="en-US" sz="1150" dirty="0"/>
          </a:p>
        </p:txBody>
      </p:sp>
      <p:sp>
        <p:nvSpPr>
          <p:cNvPr id="20" name="Text 18"/>
          <p:cNvSpPr txBox="1"/>
          <p:nvPr/>
        </p:nvSpPr>
        <p:spPr>
          <a:xfrm>
            <a:off x="7397496" y="17922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4 blocks · dim 96</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2.4 % of an encoder</a:t>
            </a:r>
            <a:endParaRPr lang="en-US" sz="950" dirty="0"/>
          </a:p>
        </p:txBody>
      </p:sp>
      <p:sp>
        <p:nvSpPr>
          <p:cNvPr id="21" name="Shape 19"/>
          <p:cNvSpPr/>
          <p:nvPr/>
        </p:nvSpPr>
        <p:spPr>
          <a:xfrm>
            <a:off x="9308592" y="1874520"/>
            <a:ext cx="292608" cy="0"/>
          </a:xfrm>
          <a:prstGeom prst="line">
            <a:avLst/>
          </a:prstGeom>
          <a:noFill/>
          <a:ln w="17780">
            <a:solidFill>
              <a:srgbClr val="58626C"/>
            </a:solidFill>
            <a:prstDash val="solid"/>
            <a:tailEnd type="triangle"/>
          </a:ln>
        </p:spPr>
      </p:sp>
      <p:sp>
        <p:nvSpPr>
          <p:cNvPr id="22" name="Shape 20"/>
          <p:cNvSpPr/>
          <p:nvPr/>
        </p:nvSpPr>
        <p:spPr>
          <a:xfrm>
            <a:off x="9601200" y="1444752"/>
            <a:ext cx="2029968" cy="868680"/>
          </a:xfrm>
          <a:prstGeom prst="roundRect">
            <a:avLst>
              <a:gd name="adj" fmla="val 6316"/>
            </a:avLst>
          </a:prstGeom>
          <a:solidFill>
            <a:srgbClr val="FFFFFF"/>
          </a:solidFill>
          <a:ln w="20320">
            <a:solidFill>
              <a:srgbClr val="1F6F43"/>
            </a:solidFill>
            <a:prstDash val="solid"/>
          </a:ln>
        </p:spPr>
      </p:sp>
      <p:sp>
        <p:nvSpPr>
          <p:cNvPr id="23" name="Text 21"/>
          <p:cNvSpPr txBox="1"/>
          <p:nvPr/>
        </p:nvSpPr>
        <p:spPr>
          <a:xfrm>
            <a:off x="9656064" y="1536192"/>
            <a:ext cx="1920240" cy="256032"/>
          </a:xfrm>
          <a:prstGeom prst="rect">
            <a:avLst/>
          </a:prstGeom>
          <a:noFill/>
          <a:ln/>
        </p:spPr>
        <p:txBody>
          <a:bodyPr wrap="square" lIns="0" tIns="0" rIns="0" bIns="0" rtlCol="0" anchor="ctr"/>
          <a:lstStyle/>
          <a:p>
            <a:pPr algn="ctr" indent="0" marL="0">
              <a:buNone/>
            </a:pPr>
            <a:r>
              <a:rPr lang="en-US" sz="1150" b="1" dirty="0">
                <a:solidFill>
                  <a:srgbClr val="1F6F43"/>
                </a:solidFill>
                <a:latin typeface="Calibri" pitchFamily="34" charset="0"/>
                <a:ea typeface="Calibri" pitchFamily="34" charset="-122"/>
                <a:cs typeface="Calibri" pitchFamily="34" charset="-120"/>
              </a:rPr>
              <a:t>smooth-L1 loss</a:t>
            </a:r>
            <a:endParaRPr lang="en-US" sz="1150" dirty="0"/>
          </a:p>
        </p:txBody>
      </p:sp>
      <p:sp>
        <p:nvSpPr>
          <p:cNvPr id="24" name="Text 22"/>
          <p:cNvSpPr txBox="1"/>
          <p:nvPr/>
        </p:nvSpPr>
        <p:spPr>
          <a:xfrm>
            <a:off x="9656064" y="1792224"/>
            <a:ext cx="1920240"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on LayerNormed target</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representations, not pixels</a:t>
            </a:r>
            <a:endParaRPr lang="en-US" sz="950" dirty="0"/>
          </a:p>
        </p:txBody>
      </p:sp>
      <p:sp>
        <p:nvSpPr>
          <p:cNvPr id="25" name="Shape 23"/>
          <p:cNvSpPr/>
          <p:nvPr/>
        </p:nvSpPr>
        <p:spPr>
          <a:xfrm>
            <a:off x="5084064" y="2542032"/>
            <a:ext cx="1965960" cy="731520"/>
          </a:xfrm>
          <a:prstGeom prst="roundRect">
            <a:avLst>
              <a:gd name="adj" fmla="val 7500"/>
            </a:avLst>
          </a:prstGeom>
          <a:solidFill>
            <a:srgbClr val="F1F7F8"/>
          </a:solidFill>
          <a:ln w="20320">
            <a:solidFill>
              <a:srgbClr val="1C7293"/>
            </a:solidFill>
            <a:prstDash val="solid"/>
          </a:ln>
        </p:spPr>
      </p:sp>
      <p:sp>
        <p:nvSpPr>
          <p:cNvPr id="26" name="Text 24"/>
          <p:cNvSpPr txBox="1"/>
          <p:nvPr/>
        </p:nvSpPr>
        <p:spPr>
          <a:xfrm>
            <a:off x="5138928" y="2633472"/>
            <a:ext cx="1856232" cy="256032"/>
          </a:xfrm>
          <a:prstGeom prst="rect">
            <a:avLst/>
          </a:prstGeom>
          <a:noFill/>
          <a:ln/>
        </p:spPr>
        <p:txBody>
          <a:bodyPr wrap="square" lIns="0" tIns="0" rIns="0" bIns="0" rtlCol="0" anchor="ctr"/>
          <a:lstStyle/>
          <a:p>
            <a:pPr algn="ctr" indent="0" marL="0">
              <a:buNone/>
            </a:pPr>
            <a:r>
              <a:rPr lang="en-US" sz="1150" b="1" dirty="0">
                <a:solidFill>
                  <a:srgbClr val="1C7293"/>
                </a:solidFill>
                <a:latin typeface="Calibri" pitchFamily="34" charset="0"/>
                <a:ea typeface="Calibri" pitchFamily="34" charset="-122"/>
                <a:cs typeface="Calibri" pitchFamily="34" charset="-120"/>
              </a:rPr>
              <a:t>Target encoder</a:t>
            </a:r>
            <a:endParaRPr lang="en-US" sz="1150" dirty="0"/>
          </a:p>
        </p:txBody>
      </p:sp>
      <p:sp>
        <p:nvSpPr>
          <p:cNvPr id="27" name="Text 25"/>
          <p:cNvSpPr txBox="1"/>
          <p:nvPr/>
        </p:nvSpPr>
        <p:spPr>
          <a:xfrm>
            <a:off x="5138928" y="2889504"/>
            <a:ext cx="1856232" cy="31089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EMA copy · no gradient</a:t>
            </a:r>
            <a:endParaRPr lang="en-US" sz="950" dirty="0"/>
          </a:p>
        </p:txBody>
      </p:sp>
      <p:sp>
        <p:nvSpPr>
          <p:cNvPr id="28" name="Shape 26"/>
          <p:cNvSpPr/>
          <p:nvPr/>
        </p:nvSpPr>
        <p:spPr>
          <a:xfrm>
            <a:off x="6071616" y="2313432"/>
            <a:ext cx="0" cy="219456"/>
          </a:xfrm>
          <a:prstGeom prst="line">
            <a:avLst/>
          </a:prstGeom>
          <a:noFill/>
          <a:ln w="16510">
            <a:solidFill>
              <a:srgbClr val="1C7293"/>
            </a:solidFill>
            <a:prstDash val="dash"/>
            <a:tailEnd type="triangle"/>
          </a:ln>
        </p:spPr>
      </p:sp>
      <p:sp>
        <p:nvSpPr>
          <p:cNvPr id="29" name="Text 27"/>
          <p:cNvSpPr txBox="1"/>
          <p:nvPr/>
        </p:nvSpPr>
        <p:spPr>
          <a:xfrm>
            <a:off x="7150608" y="2743200"/>
            <a:ext cx="1737360" cy="219456"/>
          </a:xfrm>
          <a:prstGeom prst="rect">
            <a:avLst/>
          </a:prstGeom>
          <a:noFill/>
          <a:ln/>
        </p:spPr>
        <p:txBody>
          <a:bodyPr wrap="square" lIns="0" tIns="0" rIns="0" bIns="0" rtlCol="0" anchor="ctr"/>
          <a:lstStyle/>
          <a:p>
            <a:pPr indent="0" marL="0">
              <a:buNone/>
            </a:pPr>
            <a:r>
              <a:rPr lang="en-US" sz="950" dirty="0">
                <a:solidFill>
                  <a:srgbClr val="1C7293"/>
                </a:solidFill>
                <a:latin typeface="Calibri" pitchFamily="34" charset="0"/>
                <a:ea typeface="Calibri" pitchFamily="34" charset="-122"/>
                <a:cs typeface="Calibri" pitchFamily="34" charset="-120"/>
              </a:rPr>
              <a:t>EMA  τ = 0.9996</a:t>
            </a:r>
            <a:endParaRPr lang="en-US" sz="950" dirty="0"/>
          </a:p>
        </p:txBody>
      </p:sp>
      <p:sp>
        <p:nvSpPr>
          <p:cNvPr id="30" name="Shape 28"/>
          <p:cNvSpPr/>
          <p:nvPr/>
        </p:nvSpPr>
        <p:spPr>
          <a:xfrm>
            <a:off x="566928" y="3493008"/>
            <a:ext cx="11057839" cy="0"/>
          </a:xfrm>
          <a:prstGeom prst="line">
            <a:avLst/>
          </a:prstGeom>
          <a:noFill/>
          <a:ln w="25400">
            <a:solidFill>
              <a:srgbClr val="1C7293"/>
            </a:solidFill>
            <a:prstDash val="dash"/>
          </a:ln>
        </p:spPr>
      </p:sp>
      <p:sp>
        <p:nvSpPr>
          <p:cNvPr id="31" name="Text 29"/>
          <p:cNvSpPr txBox="1"/>
          <p:nvPr/>
        </p:nvSpPr>
        <p:spPr>
          <a:xfrm>
            <a:off x="566928" y="3529584"/>
            <a:ext cx="11057839" cy="21945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the encoder is FROZEN from here down — no backbone weight moves again</a:t>
            </a:r>
            <a:endParaRPr lang="en-US" sz="1000" dirty="0"/>
          </a:p>
        </p:txBody>
      </p:sp>
      <p:sp>
        <p:nvSpPr>
          <p:cNvPr id="32" name="Text 30"/>
          <p:cNvSpPr txBox="1"/>
          <p:nvPr/>
        </p:nvSpPr>
        <p:spPr>
          <a:xfrm>
            <a:off x="566928" y="3913632"/>
            <a:ext cx="7315200" cy="219456"/>
          </a:xfrm>
          <a:prstGeom prst="rect">
            <a:avLst/>
          </a:prstGeom>
          <a:noFill/>
          <a:ln/>
        </p:spPr>
        <p:txBody>
          <a:bodyPr wrap="square" lIns="0" tIns="0" rIns="0" bIns="0" rtlCol="0" anchor="ctr"/>
          <a:lstStyle/>
          <a:p>
            <a:pPr indent="0" marL="0">
              <a:buNone/>
            </a:pPr>
            <a:r>
              <a:rPr lang="en-US" sz="1000" b="1" spc="80" kern="0" dirty="0">
                <a:solidFill>
                  <a:srgbClr val="58626C"/>
                </a:solidFill>
                <a:latin typeface="Calibri" pitchFamily="34" charset="0"/>
                <a:ea typeface="Calibri" pitchFamily="34" charset="-122"/>
                <a:cs typeface="Calibri" pitchFamily="34" charset="-120"/>
              </a:rPr>
              <a:t>2 — DOWNSTREAM CLASSIFICATION     ·     labels used here, and only here</a:t>
            </a:r>
            <a:endParaRPr lang="en-US" sz="1000" dirty="0"/>
          </a:p>
        </p:txBody>
      </p:sp>
      <p:sp>
        <p:nvSpPr>
          <p:cNvPr id="33" name="Shape 31"/>
          <p:cNvSpPr/>
          <p:nvPr/>
        </p:nvSpPr>
        <p:spPr>
          <a:xfrm>
            <a:off x="566928" y="4187952"/>
            <a:ext cx="1965960" cy="868680"/>
          </a:xfrm>
          <a:prstGeom prst="roundRect">
            <a:avLst>
              <a:gd name="adj" fmla="val 6316"/>
            </a:avLst>
          </a:prstGeom>
          <a:solidFill>
            <a:srgbClr val="FFFFFF"/>
          </a:solidFill>
          <a:ln w="20320">
            <a:solidFill>
              <a:srgbClr val="0B3C49"/>
            </a:solidFill>
            <a:prstDash val="solid"/>
          </a:ln>
        </p:spPr>
      </p:sp>
      <p:sp>
        <p:nvSpPr>
          <p:cNvPr id="34" name="Text 32"/>
          <p:cNvSpPr txBox="1"/>
          <p:nvPr/>
        </p:nvSpPr>
        <p:spPr>
          <a:xfrm>
            <a:off x="621792" y="4279392"/>
            <a:ext cx="1856232"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Lesion window</a:t>
            </a:r>
            <a:endParaRPr lang="en-US" sz="1150" dirty="0"/>
          </a:p>
        </p:txBody>
      </p:sp>
      <p:sp>
        <p:nvSpPr>
          <p:cNvPr id="35" name="Text 33"/>
          <p:cNvSpPr txBox="1"/>
          <p:nvPr/>
        </p:nvSpPr>
        <p:spPr>
          <a:xfrm>
            <a:off x="621792" y="45354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224 px, centred</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scale preserved</a:t>
            </a:r>
            <a:endParaRPr lang="en-US" sz="950" dirty="0"/>
          </a:p>
        </p:txBody>
      </p:sp>
      <p:sp>
        <p:nvSpPr>
          <p:cNvPr id="36" name="Shape 34"/>
          <p:cNvSpPr/>
          <p:nvPr/>
        </p:nvSpPr>
        <p:spPr>
          <a:xfrm>
            <a:off x="2532888" y="4617720"/>
            <a:ext cx="292608" cy="0"/>
          </a:xfrm>
          <a:prstGeom prst="line">
            <a:avLst/>
          </a:prstGeom>
          <a:noFill/>
          <a:ln w="17780">
            <a:solidFill>
              <a:srgbClr val="58626C"/>
            </a:solidFill>
            <a:prstDash val="solid"/>
            <a:tailEnd type="triangle"/>
          </a:ln>
        </p:spPr>
      </p:sp>
      <p:sp>
        <p:nvSpPr>
          <p:cNvPr id="37" name="Shape 35"/>
          <p:cNvSpPr/>
          <p:nvPr/>
        </p:nvSpPr>
        <p:spPr>
          <a:xfrm>
            <a:off x="2825496" y="4187952"/>
            <a:ext cx="1965960" cy="868680"/>
          </a:xfrm>
          <a:prstGeom prst="roundRect">
            <a:avLst>
              <a:gd name="adj" fmla="val 6316"/>
            </a:avLst>
          </a:prstGeom>
          <a:solidFill>
            <a:srgbClr val="F1F7F8"/>
          </a:solidFill>
          <a:ln w="20320">
            <a:solidFill>
              <a:srgbClr val="1C7293"/>
            </a:solidFill>
            <a:prstDash val="solid"/>
          </a:ln>
        </p:spPr>
      </p:sp>
      <p:sp>
        <p:nvSpPr>
          <p:cNvPr id="38" name="Text 36"/>
          <p:cNvSpPr txBox="1"/>
          <p:nvPr/>
        </p:nvSpPr>
        <p:spPr>
          <a:xfrm>
            <a:off x="2880360" y="4279392"/>
            <a:ext cx="1856232" cy="256032"/>
          </a:xfrm>
          <a:prstGeom prst="rect">
            <a:avLst/>
          </a:prstGeom>
          <a:noFill/>
          <a:ln/>
        </p:spPr>
        <p:txBody>
          <a:bodyPr wrap="square" lIns="0" tIns="0" rIns="0" bIns="0" rtlCol="0" anchor="ctr"/>
          <a:lstStyle/>
          <a:p>
            <a:pPr algn="ctr" indent="0" marL="0">
              <a:buNone/>
            </a:pPr>
            <a:r>
              <a:rPr lang="en-US" sz="1150" b="1" dirty="0">
                <a:solidFill>
                  <a:srgbClr val="1C7293"/>
                </a:solidFill>
                <a:latin typeface="Calibri" pitchFamily="34" charset="0"/>
                <a:ea typeface="Calibri" pitchFamily="34" charset="-122"/>
                <a:cs typeface="Calibri" pitchFamily="34" charset="-120"/>
              </a:rPr>
              <a:t>Frozen encoder</a:t>
            </a:r>
            <a:endParaRPr lang="en-US" sz="1150" dirty="0"/>
          </a:p>
        </p:txBody>
      </p:sp>
      <p:sp>
        <p:nvSpPr>
          <p:cNvPr id="39" name="Text 37"/>
          <p:cNvSpPr txBox="1"/>
          <p:nvPr/>
        </p:nvSpPr>
        <p:spPr>
          <a:xfrm>
            <a:off x="2880360" y="45354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196 tokens × 1,152</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blocks 2, 7, 11</a:t>
            </a:r>
            <a:endParaRPr lang="en-US" sz="950" dirty="0"/>
          </a:p>
        </p:txBody>
      </p:sp>
      <p:sp>
        <p:nvSpPr>
          <p:cNvPr id="40" name="Shape 38"/>
          <p:cNvSpPr/>
          <p:nvPr/>
        </p:nvSpPr>
        <p:spPr>
          <a:xfrm>
            <a:off x="4791456" y="4617720"/>
            <a:ext cx="292608" cy="0"/>
          </a:xfrm>
          <a:prstGeom prst="line">
            <a:avLst/>
          </a:prstGeom>
          <a:noFill/>
          <a:ln w="17780">
            <a:solidFill>
              <a:srgbClr val="58626C"/>
            </a:solidFill>
            <a:prstDash val="solid"/>
            <a:tailEnd type="triangle"/>
          </a:ln>
        </p:spPr>
      </p:sp>
      <p:sp>
        <p:nvSpPr>
          <p:cNvPr id="41" name="Shape 39"/>
          <p:cNvSpPr/>
          <p:nvPr/>
        </p:nvSpPr>
        <p:spPr>
          <a:xfrm>
            <a:off x="5084064" y="4187952"/>
            <a:ext cx="1965960" cy="868680"/>
          </a:xfrm>
          <a:prstGeom prst="roundRect">
            <a:avLst>
              <a:gd name="adj" fmla="val 6316"/>
            </a:avLst>
          </a:prstGeom>
          <a:solidFill>
            <a:srgbClr val="FBF3F2"/>
          </a:solidFill>
          <a:ln w="20320">
            <a:solidFill>
              <a:srgbClr val="A62B1F"/>
            </a:solidFill>
            <a:prstDash val="solid"/>
          </a:ln>
        </p:spPr>
      </p:sp>
      <p:sp>
        <p:nvSpPr>
          <p:cNvPr id="42" name="Text 40"/>
          <p:cNvSpPr txBox="1"/>
          <p:nvPr/>
        </p:nvSpPr>
        <p:spPr>
          <a:xfrm>
            <a:off x="5138928" y="4279392"/>
            <a:ext cx="1856232" cy="256032"/>
          </a:xfrm>
          <a:prstGeom prst="rect">
            <a:avLst/>
          </a:prstGeom>
          <a:noFill/>
          <a:ln/>
        </p:spPr>
        <p:txBody>
          <a:bodyPr wrap="square" lIns="0" tIns="0" rIns="0" bIns="0" rtlCol="0" anchor="ctr"/>
          <a:lstStyle/>
          <a:p>
            <a:pPr algn="ctr" indent="0" marL="0">
              <a:buNone/>
            </a:pPr>
            <a:r>
              <a:rPr lang="en-US" sz="1150" b="1" dirty="0">
                <a:solidFill>
                  <a:srgbClr val="A62B1F"/>
                </a:solidFill>
                <a:latin typeface="Calibri" pitchFamily="34" charset="0"/>
                <a:ea typeface="Calibri" pitchFamily="34" charset="-122"/>
                <a:cs typeface="Calibri" pitchFamily="34" charset="-120"/>
              </a:rPr>
              <a:t>Token selection</a:t>
            </a:r>
            <a:endParaRPr lang="en-US" sz="1150" dirty="0"/>
          </a:p>
        </p:txBody>
      </p:sp>
      <p:sp>
        <p:nvSpPr>
          <p:cNvPr id="43" name="Text 41"/>
          <p:cNvSpPr txBox="1"/>
          <p:nvPr/>
        </p:nvSpPr>
        <p:spPr>
          <a:xfrm>
            <a:off x="5138928" y="45354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the bounding box</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chooses which tokens</a:t>
            </a:r>
            <a:endParaRPr lang="en-US" sz="950" dirty="0"/>
          </a:p>
        </p:txBody>
      </p:sp>
      <p:sp>
        <p:nvSpPr>
          <p:cNvPr id="44" name="Shape 42"/>
          <p:cNvSpPr/>
          <p:nvPr/>
        </p:nvSpPr>
        <p:spPr>
          <a:xfrm>
            <a:off x="7050024" y="4617720"/>
            <a:ext cx="292608" cy="0"/>
          </a:xfrm>
          <a:prstGeom prst="line">
            <a:avLst/>
          </a:prstGeom>
          <a:noFill/>
          <a:ln w="17780">
            <a:solidFill>
              <a:srgbClr val="58626C"/>
            </a:solidFill>
            <a:prstDash val="solid"/>
            <a:tailEnd type="triangle"/>
          </a:ln>
        </p:spPr>
      </p:sp>
      <p:sp>
        <p:nvSpPr>
          <p:cNvPr id="45" name="Shape 43"/>
          <p:cNvSpPr/>
          <p:nvPr/>
        </p:nvSpPr>
        <p:spPr>
          <a:xfrm>
            <a:off x="7342632" y="4187952"/>
            <a:ext cx="1965960" cy="868680"/>
          </a:xfrm>
          <a:prstGeom prst="roundRect">
            <a:avLst>
              <a:gd name="adj" fmla="val 6316"/>
            </a:avLst>
          </a:prstGeom>
          <a:solidFill>
            <a:srgbClr val="FFFFFF"/>
          </a:solidFill>
          <a:ln w="20320">
            <a:solidFill>
              <a:srgbClr val="0B3C49"/>
            </a:solidFill>
            <a:prstDash val="solid"/>
          </a:ln>
        </p:spPr>
      </p:sp>
      <p:sp>
        <p:nvSpPr>
          <p:cNvPr id="46" name="Text 44"/>
          <p:cNvSpPr txBox="1"/>
          <p:nvPr/>
        </p:nvSpPr>
        <p:spPr>
          <a:xfrm>
            <a:off x="7397496" y="4279392"/>
            <a:ext cx="1856232"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Pooling + head</a:t>
            </a:r>
            <a:endParaRPr lang="en-US" sz="1150" dirty="0"/>
          </a:p>
        </p:txBody>
      </p:sp>
      <p:sp>
        <p:nvSpPr>
          <p:cNvPr id="47" name="Text 45"/>
          <p:cNvSpPr txBox="1"/>
          <p:nvPr/>
        </p:nvSpPr>
        <p:spPr>
          <a:xfrm>
            <a:off x="7397496" y="4535424"/>
            <a:ext cx="1856232"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5.3 M + 3,459 par.</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the only trained part</a:t>
            </a:r>
            <a:endParaRPr lang="en-US" sz="950" dirty="0"/>
          </a:p>
        </p:txBody>
      </p:sp>
      <p:sp>
        <p:nvSpPr>
          <p:cNvPr id="48" name="Shape 46"/>
          <p:cNvSpPr/>
          <p:nvPr/>
        </p:nvSpPr>
        <p:spPr>
          <a:xfrm>
            <a:off x="9308592" y="4617720"/>
            <a:ext cx="292608" cy="0"/>
          </a:xfrm>
          <a:prstGeom prst="line">
            <a:avLst/>
          </a:prstGeom>
          <a:noFill/>
          <a:ln w="17780">
            <a:solidFill>
              <a:srgbClr val="58626C"/>
            </a:solidFill>
            <a:prstDash val="solid"/>
            <a:tailEnd type="triangle"/>
          </a:ln>
        </p:spPr>
      </p:sp>
      <p:sp>
        <p:nvSpPr>
          <p:cNvPr id="49" name="Shape 47"/>
          <p:cNvSpPr/>
          <p:nvPr/>
        </p:nvSpPr>
        <p:spPr>
          <a:xfrm>
            <a:off x="9601200" y="4187952"/>
            <a:ext cx="2029968" cy="868680"/>
          </a:xfrm>
          <a:prstGeom prst="roundRect">
            <a:avLst>
              <a:gd name="adj" fmla="val 6316"/>
            </a:avLst>
          </a:prstGeom>
          <a:solidFill>
            <a:srgbClr val="FFFFFF"/>
          </a:solidFill>
          <a:ln w="20320">
            <a:solidFill>
              <a:srgbClr val="0B3C49"/>
            </a:solidFill>
            <a:prstDash val="solid"/>
          </a:ln>
        </p:spPr>
      </p:sp>
      <p:sp>
        <p:nvSpPr>
          <p:cNvPr id="50" name="Text 48"/>
          <p:cNvSpPr txBox="1"/>
          <p:nvPr/>
        </p:nvSpPr>
        <p:spPr>
          <a:xfrm>
            <a:off x="9656064" y="4279392"/>
            <a:ext cx="1920240"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PR-AUC on PAI 5</a:t>
            </a:r>
            <a:endParaRPr lang="en-US" sz="1150" dirty="0"/>
          </a:p>
        </p:txBody>
      </p:sp>
      <p:sp>
        <p:nvSpPr>
          <p:cNvPr id="51" name="Text 49"/>
          <p:cNvSpPr txBox="1"/>
          <p:nvPr/>
        </p:nvSpPr>
        <p:spPr>
          <a:xfrm>
            <a:off x="9656064" y="4535424"/>
            <a:ext cx="1920240" cy="448056"/>
          </a:xfrm>
          <a:prstGeom prst="rect">
            <a:avLst/>
          </a:prstGeom>
          <a:noFill/>
          <a:ln/>
        </p:spPr>
        <p:txBody>
          <a:bodyPr wrap="square" lIns="0" tIns="0" rIns="0" bIns="0" rtlCol="0" anchor="ctr"/>
          <a:lstStyle/>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5 seeds · test split</a:t>
            </a:r>
            <a:endParaRPr lang="en-US" sz="950" dirty="0"/>
          </a:p>
          <a:p>
            <a:pPr algn="ctr" indent="0" marL="0">
              <a:lnSpc>
                <a:spcPts val="1200"/>
              </a:lnSpc>
              <a:buNone/>
            </a:pPr>
            <a:r>
              <a:rPr lang="en-US" sz="950" dirty="0">
                <a:solidFill>
                  <a:srgbClr val="111418"/>
                </a:solidFill>
                <a:latin typeface="Calibri" pitchFamily="34" charset="0"/>
                <a:ea typeface="Calibri" pitchFamily="34" charset="-122"/>
                <a:cs typeface="Calibri" pitchFamily="34" charset="-120"/>
              </a:rPr>
              <a:t>never seen before</a:t>
            </a:r>
            <a:endParaRPr lang="en-US" sz="950" dirty="0"/>
          </a:p>
        </p:txBody>
      </p:sp>
      <p:sp>
        <p:nvSpPr>
          <p:cNvPr id="52" name="Shape 50"/>
          <p:cNvSpPr/>
          <p:nvPr/>
        </p:nvSpPr>
        <p:spPr>
          <a:xfrm>
            <a:off x="566928" y="5349240"/>
            <a:ext cx="11057839" cy="868680"/>
          </a:xfrm>
          <a:prstGeom prst="roundRect">
            <a:avLst>
              <a:gd name="adj" fmla="val 7368"/>
            </a:avLst>
          </a:prstGeom>
          <a:solidFill>
            <a:srgbClr val="FBF3F2"/>
          </a:solidFill>
          <a:ln/>
        </p:spPr>
      </p:sp>
      <p:sp>
        <p:nvSpPr>
          <p:cNvPr id="53" name="Text 51"/>
          <p:cNvSpPr txBox="1"/>
          <p:nvPr/>
        </p:nvSpPr>
        <p:spPr>
          <a:xfrm>
            <a:off x="749808" y="5477256"/>
            <a:ext cx="10692079"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One stage is ours</a:t>
            </a:r>
            <a:endParaRPr lang="en-US" sz="1450" dirty="0"/>
          </a:p>
        </p:txBody>
      </p:sp>
      <p:sp>
        <p:nvSpPr>
          <p:cNvPr id="54" name="Text 52"/>
          <p:cNvSpPr txBox="1"/>
          <p:nvPr/>
        </p:nvSpPr>
        <p:spPr>
          <a:xfrm>
            <a:off x="749808" y="5806440"/>
            <a:ext cx="10692079" cy="24688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Everything here is the assignment's pipeline except the red block. The bounding box enters exactly once, and that is where the bag-size bias lives — so that is the only stage we changed.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PROBLEM STATEMENT</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problem is geometric</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4 / 27</a:t>
            </a:r>
            <a:endParaRPr lang="en-US" sz="1050" dirty="0"/>
          </a:p>
        </p:txBody>
      </p:sp>
      <p:sp>
        <p:nvSpPr>
          <p:cNvPr id="5" name="Text 3"/>
          <p:cNvSpPr txBox="1"/>
          <p:nvPr/>
        </p:nvSpPr>
        <p:spPr>
          <a:xfrm>
            <a:off x="566928" y="1188720"/>
            <a:ext cx="6675120" cy="777240"/>
          </a:xfrm>
          <a:prstGeom prst="rect">
            <a:avLst/>
          </a:prstGeom>
          <a:noFill/>
          <a:ln/>
        </p:spPr>
        <p:txBody>
          <a:bodyPr wrap="square" lIns="0" tIns="0" rIns="0" bIns="0" rtlCol="0" anchor="ctr"/>
          <a:lstStyle/>
          <a:p>
            <a:pPr indent="0" marL="0">
              <a:lnSpc>
                <a:spcPts val="2100"/>
              </a:lnSpc>
              <a:buNone/>
            </a:pPr>
            <a:r>
              <a:rPr lang="en-US" sz="1450" dirty="0">
                <a:solidFill>
                  <a:srgbClr val="111418"/>
                </a:solidFill>
                <a:latin typeface="Calibri" pitchFamily="34" charset="0"/>
                <a:ea typeface="Calibri" pitchFamily="34" charset="-122"/>
                <a:cs typeface="Calibri" pitchFamily="34" charset="-120"/>
              </a:rPr>
              <a:t>The Periapical Index grades apical periodontitis 3 &lt; 4 &lt; 5. Clinically, the grade is read from </a:t>
            </a:r>
            <a:pPr indent="0" marL="0">
              <a:lnSpc>
                <a:spcPts val="2100"/>
              </a:lnSpc>
              <a:buNone/>
            </a:pPr>
            <a:r>
              <a:rPr lang="en-US" sz="1450" b="1" dirty="0">
                <a:solidFill>
                  <a:srgbClr val="A62B1F"/>
                </a:solidFill>
                <a:latin typeface="Calibri" pitchFamily="34" charset="0"/>
                <a:ea typeface="Calibri" pitchFamily="34" charset="-122"/>
                <a:cs typeface="Calibri" pitchFamily="34" charset="-120"/>
              </a:rPr>
              <a:t>how large and how dark</a:t>
            </a:r>
            <a:pPr indent="0" marL="0">
              <a:lnSpc>
                <a:spcPts val="2100"/>
              </a:lnSpc>
              <a:buNone/>
            </a:pPr>
            <a:r>
              <a:rPr lang="en-US" sz="1450" dirty="0">
                <a:solidFill>
                  <a:srgbClr val="111418"/>
                </a:solidFill>
                <a:latin typeface="Calibri" pitchFamily="34" charset="0"/>
                <a:ea typeface="Calibri" pitchFamily="34" charset="-122"/>
                <a:cs typeface="Calibri" pitchFamily="34" charset="-120"/>
              </a:rPr>
              <a:t> the periapical radiolucency is. Size is not a correlate of the label — it is close to the definition of the label.</a:t>
            </a:r>
            <a:endParaRPr lang="en-US" sz="1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6675120" cy="914400"/>
        </p:xfrm>
        <a:graphic>
          <a:graphicData uri="http://schemas.openxmlformats.org/drawingml/2006/table">
            <a:tbl>
              <a:tblPr/>
              <a:tblGrid>
                <a:gridCol w="1691640"/>
                <a:gridCol w="1691640"/>
                <a:gridCol w="1965960"/>
                <a:gridCol w="1325880"/>
              </a:tblGrid>
              <a:tr h="0">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PAI grade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Median bbox side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Tokens in box (14×14 grid)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Share of dataset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  — mild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57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63.5 %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4  — moderate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80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26.0 %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algn="r" indent="0" marL="0">
                        <a:buNone/>
                      </a:pPr>
                      <a:r>
                        <a:rPr lang="en-US" sz="1150" b="1" dirty="0">
                          <a:solidFill>
                            <a:srgbClr val="111418"/>
                          </a:solidFill>
                          <a:latin typeface="Calibri" pitchFamily="34" charset="0"/>
                          <a:ea typeface="Calibri" pitchFamily="34" charset="-122"/>
                          <a:cs typeface="Calibri" pitchFamily="34" charset="-120"/>
                        </a:rPr>
                        <a:t>5  — severe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127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11418"/>
                          </a:solidFill>
                          <a:latin typeface="Calibri" pitchFamily="34" charset="0"/>
                          <a:ea typeface="Calibri" pitchFamily="34" charset="-122"/>
                          <a:cs typeface="Calibri" pitchFamily="34" charset="-120"/>
                        </a:rPr>
                        <a:t>10.5 %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7" name="Text 4"/>
          <p:cNvSpPr txBox="1"/>
          <p:nvPr/>
        </p:nvSpPr>
        <p:spPr>
          <a:xfrm>
            <a:off x="566928" y="3886200"/>
            <a:ext cx="6675120" cy="457200"/>
          </a:xfrm>
          <a:prstGeom prst="rect">
            <a:avLst/>
          </a:prstGeom>
          <a:noFill/>
          <a:ln/>
        </p:spPr>
        <p:txBody>
          <a:bodyPr wrap="square" lIns="0" tIns="0" rIns="0" bIns="0" rtlCol="0" anchor="ctr"/>
          <a:lstStyle/>
          <a:p>
            <a:pPr indent="0" marL="0">
              <a:buNone/>
            </a:pPr>
            <a:r>
              <a:rPr lang="en-US" sz="1350" b="1" dirty="0">
                <a:solidFill>
                  <a:srgbClr val="A62B1F"/>
                </a:solidFill>
                <a:latin typeface="Calibri" pitchFamily="34" charset="0"/>
                <a:ea typeface="Calibri" pitchFamily="34" charset="-122"/>
                <a:cs typeface="Calibri" pitchFamily="34" charset="-120"/>
              </a:rPr>
              <a:t>Two thresholds on the box side alone — no network at all — already reach macro-F1 0.7567 on the test set.</a:t>
            </a:r>
            <a:endParaRPr lang="en-US" sz="1350" dirty="0"/>
          </a:p>
        </p:txBody>
      </p:sp>
      <p:sp>
        <p:nvSpPr>
          <p:cNvPr id="8" name="Text 5"/>
          <p:cNvSpPr txBox="1"/>
          <p:nvPr/>
        </p:nvSpPr>
        <p:spPr>
          <a:xfrm>
            <a:off x="7543800" y="1188720"/>
            <a:ext cx="4087368" cy="310896"/>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6,741 lesions on 3,924 radiographs — 1.7 lesions per image</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7543800" y="1600200"/>
          <a:ext cx="4087368" cy="914400"/>
        </p:xfrm>
        <a:graphic>
          <a:graphicData uri="http://schemas.openxmlformats.org/drawingml/2006/table">
            <a:tbl>
              <a:tblPr/>
              <a:tblGrid>
                <a:gridCol w="1691640"/>
                <a:gridCol w="1197864"/>
                <a:gridCol w="1197864"/>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Images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Lesions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Train</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2,746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4,719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Validation</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588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1,009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Test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590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1,013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11418"/>
                          </a:solidFill>
                          <a:latin typeface="Calibri" pitchFamily="34" charset="0"/>
                          <a:ea typeface="Calibri" pitchFamily="34" charset="-122"/>
                          <a:cs typeface="Calibri" pitchFamily="34" charset="-120"/>
                        </a:rPr>
                        <a:t>3,924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11418"/>
                          </a:solidFill>
                          <a:latin typeface="Calibri" pitchFamily="34" charset="0"/>
                          <a:ea typeface="Calibri" pitchFamily="34" charset="-122"/>
                          <a:cs typeface="Calibri" pitchFamily="34" charset="-120"/>
                        </a:rPr>
                        <a:t>6,741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0" name="Text 6"/>
          <p:cNvSpPr txBox="1"/>
          <p:nvPr/>
        </p:nvSpPr>
        <p:spPr>
          <a:xfrm>
            <a:off x="7543800" y="3703320"/>
            <a:ext cx="4087368" cy="548640"/>
          </a:xfrm>
          <a:prstGeom prst="rect">
            <a:avLst/>
          </a:prstGeom>
          <a:noFill/>
          <a:ln/>
        </p:spPr>
        <p:txBody>
          <a:bodyPr wrap="square" lIns="0" tIns="0" rIns="0" bIns="0" rtlCol="0" anchor="ctr"/>
          <a:lstStyle/>
          <a:p>
            <a:pPr indent="0" marL="0">
              <a:lnSpc>
                <a:spcPts val="1700"/>
              </a:lnSpc>
              <a:buNone/>
            </a:pPr>
            <a:r>
              <a:rPr lang="en-US" sz="1200" dirty="0">
                <a:solidFill>
                  <a:srgbClr val="111418"/>
                </a:solidFill>
                <a:latin typeface="Calibri" pitchFamily="34" charset="0"/>
                <a:ea typeface="Calibri" pitchFamily="34" charset="-122"/>
                <a:cs typeface="Calibri" pitchFamily="34" charset="-120"/>
              </a:rPr>
              <a:t>Several lesions share one image — so splitting by LESION would put the same patient on both sides.</a:t>
            </a:r>
            <a:endParaRPr lang="en-US" sz="1200" dirty="0"/>
          </a:p>
        </p:txBody>
      </p:sp>
      <p:sp>
        <p:nvSpPr>
          <p:cNvPr id="11" name="Shape 7"/>
          <p:cNvSpPr/>
          <p:nvPr/>
        </p:nvSpPr>
        <p:spPr>
          <a:xfrm>
            <a:off x="566928" y="4709160"/>
            <a:ext cx="11057839" cy="1371600"/>
          </a:xfrm>
          <a:prstGeom prst="roundRect">
            <a:avLst>
              <a:gd name="adj" fmla="val 4667"/>
            </a:avLst>
          </a:prstGeom>
          <a:solidFill>
            <a:srgbClr val="F1F6F2"/>
          </a:solidFill>
          <a:ln/>
        </p:spPr>
      </p:sp>
      <p:sp>
        <p:nvSpPr>
          <p:cNvPr id="12" name="Text 8"/>
          <p:cNvSpPr txBox="1"/>
          <p:nvPr/>
        </p:nvSpPr>
        <p:spPr>
          <a:xfrm>
            <a:off x="749808" y="4837176"/>
            <a:ext cx="10692079"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No data leakage — found the hidden patient ID, then counted it</a:t>
            </a:r>
            <a:endParaRPr lang="en-US" sz="1450" dirty="0"/>
          </a:p>
        </p:txBody>
      </p:sp>
      <p:sp>
        <p:nvSpPr>
          <p:cNvPr id="13" name="Text 9"/>
          <p:cNvSpPr txBox="1"/>
          <p:nvPr/>
        </p:nvSpPr>
        <p:spPr>
          <a:xfrm>
            <a:off x="749808" y="5166360"/>
            <a:ext cx="10692079" cy="7498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published files are renamed with a running number, so patient IDs look absent. They are not: every XML keeps the ORIGINAL name in its &lt;filename&gt; field, as PN######. Measured: 3,924 distinct PN on 3,924 images — zero repetitions.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PROBLEM STATEMENT</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prescribed task is Multiple Instance Learning</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5 / 27</a:t>
            </a:r>
            <a:endParaRPr lang="en-US" sz="1050" dirty="0"/>
          </a:p>
        </p:txBody>
      </p:sp>
      <p:sp>
        <p:nvSpPr>
          <p:cNvPr id="5" name="Text 3"/>
          <p:cNvSpPr txBox="1"/>
          <p:nvPr/>
        </p:nvSpPr>
        <p:spPr>
          <a:xfrm>
            <a:off x="566928" y="1188720"/>
            <a:ext cx="11057839" cy="365760"/>
          </a:xfrm>
          <a:prstGeom prst="rect">
            <a:avLst/>
          </a:prstGeom>
          <a:noFill/>
          <a:ln/>
        </p:spPr>
        <p:txBody>
          <a:bodyPr wrap="square" lIns="0" tIns="0" rIns="0" bIns="0" rtlCol="0" anchor="ctr"/>
          <a:lstStyle/>
          <a:p>
            <a:pPr indent="0" marL="0">
              <a:buNone/>
            </a:pPr>
            <a:r>
              <a:rPr lang="en-US" sz="1350" b="1" dirty="0">
                <a:solidFill>
                  <a:srgbClr val="111418"/>
                </a:solidFill>
                <a:latin typeface="Calibri" pitchFamily="34" charset="0"/>
                <a:ea typeface="Calibri" pitchFamily="34" charset="-122"/>
                <a:cs typeface="Calibri" pitchFamily="34" charset="-120"/>
              </a:rPr>
              <a:t>The assignment: </a:t>
            </a:r>
            <a:pPr indent="0" marL="0">
              <a:buNone/>
            </a:pPr>
            <a:r>
              <a:rPr lang="en-US" sz="1350" i="1" dirty="0">
                <a:solidFill>
                  <a:srgbClr val="111418"/>
                </a:solidFill>
                <a:latin typeface="Calibri" pitchFamily="34" charset="0"/>
                <a:ea typeface="Calibri" pitchFamily="34" charset="-122"/>
                <a:cs typeface="Calibri" pitchFamily="34" charset="-120"/>
              </a:rPr>
              <a:t>“Using the provided bounding box coordinates […] extract the latent vectors corresponding to the lesion areas.”</a:t>
            </a:r>
            <a:endParaRPr lang="en-US" sz="1350" dirty="0"/>
          </a:p>
        </p:txBody>
      </p:sp>
      <p:sp>
        <p:nvSpPr>
          <p:cNvPr id="6" name="Text 4"/>
          <p:cNvSpPr txBox="1"/>
          <p:nvPr/>
        </p:nvSpPr>
        <p:spPr>
          <a:xfrm>
            <a:off x="566928" y="1691640"/>
            <a:ext cx="6766560" cy="1188720"/>
          </a:xfrm>
          <a:prstGeom prst="rect">
            <a:avLst/>
          </a:prstGeom>
          <a:noFill/>
          <a:ln/>
        </p:spPr>
        <p:txBody>
          <a:bodyPr wrap="square" lIns="0" tIns="0" rIns="0" bIns="0" rtlCol="0" anchor="ctr"/>
          <a:lstStyle/>
          <a:p>
            <a:pPr indent="0" marL="0">
              <a:lnSpc>
                <a:spcPts val="2100"/>
              </a:lnSpc>
              <a:buNone/>
            </a:pPr>
            <a:r>
              <a:rPr lang="en-US" sz="1400" b="1" dirty="0">
                <a:solidFill>
                  <a:srgbClr val="111418"/>
                </a:solidFill>
                <a:latin typeface="Calibri" pitchFamily="34" charset="0"/>
                <a:ea typeface="Calibri" pitchFamily="34" charset="-122"/>
                <a:cs typeface="Calibri" pitchFamily="34" charset="-120"/>
              </a:rPr>
              <a:t>Latent vector</a:t>
            </a:r>
            <a:pPr indent="0" marL="0">
              <a:lnSpc>
                <a:spcPts val="2100"/>
              </a:lnSpc>
              <a:buNone/>
            </a:pPr>
            <a:r>
              <a:rPr lang="en-US" sz="1400" b="1" dirty="0">
                <a:solidFill>
                  <a:srgbClr val="A62B1F"/>
                </a:solidFill>
                <a:latin typeface="Calibri" pitchFamily="34" charset="0"/>
                <a:ea typeface="Calibri" pitchFamily="34" charset="-122"/>
                <a:cs typeface="Calibri" pitchFamily="34" charset="-120"/>
              </a:rPr>
              <a:t>s</a:t>
            </a:r>
            <a:pPr indent="0" marL="0">
              <a:lnSpc>
                <a:spcPts val="2100"/>
              </a:lnSpc>
              <a:buNone/>
            </a:pPr>
            <a:r>
              <a:rPr lang="en-US" sz="1400" dirty="0">
                <a:solidFill>
                  <a:srgbClr val="111418"/>
                </a:solidFill>
                <a:latin typeface="Calibri" pitchFamily="34" charset="0"/>
                <a:ea typeface="Calibri" pitchFamily="34" charset="-122"/>
                <a:cs typeface="Calibri" pitchFamily="34" charset="-120"/>
              </a:rPr>
              <a:t> — plural, and the count varies per lesion. One label, a variable-size set of instances: this is exactly the Multiple Instance Learning setting (Ilse et al., 2018), and its known failure mode is </a:t>
            </a:r>
            <a:pPr indent="0" marL="0">
              <a:lnSpc>
                <a:spcPts val="2100"/>
              </a:lnSpc>
              <a:buNone/>
            </a:pPr>
            <a:r>
              <a:rPr lang="en-US" sz="1400" b="1" dirty="0">
                <a:solidFill>
                  <a:srgbClr val="A62B1F"/>
                </a:solidFill>
                <a:latin typeface="Calibri" pitchFamily="34" charset="0"/>
                <a:ea typeface="Calibri" pitchFamily="34" charset="-122"/>
                <a:cs typeface="Calibri" pitchFamily="34" charset="-120"/>
              </a:rPr>
              <a:t>bag-size bias</a:t>
            </a:r>
            <a:pPr indent="0" marL="0">
              <a:lnSpc>
                <a:spcPts val="2100"/>
              </a:lnSpc>
              <a:buNone/>
            </a:pPr>
            <a:r>
              <a:rPr lang="en-US" sz="1400" dirty="0">
                <a:solidFill>
                  <a:srgbClr val="111418"/>
                </a:solidFill>
                <a:latin typeface="Calibri" pitchFamily="34" charset="0"/>
                <a:ea typeface="Calibri" pitchFamily="34" charset="-122"/>
                <a:cs typeface="Calibri" pitchFamily="34" charset="-120"/>
              </a:rPr>
              <a:t> — the classifier learns to read how many instances are in the bag instead of what they contain.</a:t>
            </a:r>
            <a:endParaRPr lang="en-US" sz="1400" dirty="0"/>
          </a:p>
        </p:txBody>
      </p:sp>
      <p:sp>
        <p:nvSpPr>
          <p:cNvPr id="7" name="Shape 5"/>
          <p:cNvSpPr/>
          <p:nvPr/>
        </p:nvSpPr>
        <p:spPr>
          <a:xfrm>
            <a:off x="566928" y="3108960"/>
            <a:ext cx="2286000" cy="1737360"/>
          </a:xfrm>
          <a:prstGeom prst="roundRect">
            <a:avLst>
              <a:gd name="adj" fmla="val 3684"/>
            </a:avLst>
          </a:prstGeom>
          <a:solidFill>
            <a:srgbClr val="F4F6F7"/>
          </a:solidFill>
          <a:ln/>
        </p:spPr>
      </p:sp>
      <p:sp>
        <p:nvSpPr>
          <p:cNvPr id="8" name="Shape 6"/>
          <p:cNvSpPr/>
          <p:nvPr/>
        </p:nvSpPr>
        <p:spPr>
          <a:xfrm>
            <a:off x="950976" y="3493008"/>
            <a:ext cx="128016" cy="128016"/>
          </a:xfrm>
          <a:prstGeom prst="rect">
            <a:avLst/>
          </a:prstGeom>
          <a:solidFill>
            <a:srgbClr val="1C7293"/>
          </a:solidFill>
          <a:ln/>
        </p:spPr>
      </p:sp>
      <p:sp>
        <p:nvSpPr>
          <p:cNvPr id="9" name="Shape 7"/>
          <p:cNvSpPr/>
          <p:nvPr/>
        </p:nvSpPr>
        <p:spPr>
          <a:xfrm>
            <a:off x="1106424" y="3493008"/>
            <a:ext cx="128016" cy="128016"/>
          </a:xfrm>
          <a:prstGeom prst="rect">
            <a:avLst/>
          </a:prstGeom>
          <a:solidFill>
            <a:srgbClr val="1C7293"/>
          </a:solidFill>
          <a:ln/>
        </p:spPr>
      </p:sp>
      <p:sp>
        <p:nvSpPr>
          <p:cNvPr id="10" name="Shape 8"/>
          <p:cNvSpPr/>
          <p:nvPr/>
        </p:nvSpPr>
        <p:spPr>
          <a:xfrm>
            <a:off x="1261872" y="3493008"/>
            <a:ext cx="128016" cy="128016"/>
          </a:xfrm>
          <a:prstGeom prst="rect">
            <a:avLst/>
          </a:prstGeom>
          <a:solidFill>
            <a:srgbClr val="1C7293"/>
          </a:solidFill>
          <a:ln/>
        </p:spPr>
      </p:sp>
      <p:sp>
        <p:nvSpPr>
          <p:cNvPr id="11" name="Shape 9"/>
          <p:cNvSpPr/>
          <p:nvPr/>
        </p:nvSpPr>
        <p:spPr>
          <a:xfrm>
            <a:off x="1417320" y="3493008"/>
            <a:ext cx="128016" cy="128016"/>
          </a:xfrm>
          <a:prstGeom prst="rect">
            <a:avLst/>
          </a:prstGeom>
          <a:solidFill>
            <a:srgbClr val="1C7293"/>
          </a:solidFill>
          <a:ln/>
        </p:spPr>
      </p:sp>
      <p:sp>
        <p:nvSpPr>
          <p:cNvPr id="12" name="Shape 10"/>
          <p:cNvSpPr/>
          <p:nvPr/>
        </p:nvSpPr>
        <p:spPr>
          <a:xfrm>
            <a:off x="950976" y="3648456"/>
            <a:ext cx="128016" cy="128016"/>
          </a:xfrm>
          <a:prstGeom prst="rect">
            <a:avLst/>
          </a:prstGeom>
          <a:solidFill>
            <a:srgbClr val="1C7293"/>
          </a:solidFill>
          <a:ln/>
        </p:spPr>
      </p:sp>
      <p:sp>
        <p:nvSpPr>
          <p:cNvPr id="13" name="Shape 11"/>
          <p:cNvSpPr/>
          <p:nvPr/>
        </p:nvSpPr>
        <p:spPr>
          <a:xfrm>
            <a:off x="1106424" y="3648456"/>
            <a:ext cx="128016" cy="128016"/>
          </a:xfrm>
          <a:prstGeom prst="rect">
            <a:avLst/>
          </a:prstGeom>
          <a:solidFill>
            <a:srgbClr val="1C7293"/>
          </a:solidFill>
          <a:ln/>
        </p:spPr>
      </p:sp>
      <p:sp>
        <p:nvSpPr>
          <p:cNvPr id="14" name="Shape 12"/>
          <p:cNvSpPr/>
          <p:nvPr/>
        </p:nvSpPr>
        <p:spPr>
          <a:xfrm>
            <a:off x="1261872" y="3648456"/>
            <a:ext cx="128016" cy="128016"/>
          </a:xfrm>
          <a:prstGeom prst="rect">
            <a:avLst/>
          </a:prstGeom>
          <a:solidFill>
            <a:srgbClr val="1C7293"/>
          </a:solidFill>
          <a:ln/>
        </p:spPr>
      </p:sp>
      <p:sp>
        <p:nvSpPr>
          <p:cNvPr id="15" name="Shape 13"/>
          <p:cNvSpPr/>
          <p:nvPr/>
        </p:nvSpPr>
        <p:spPr>
          <a:xfrm>
            <a:off x="1417320" y="3648456"/>
            <a:ext cx="128016" cy="128016"/>
          </a:xfrm>
          <a:prstGeom prst="rect">
            <a:avLst/>
          </a:prstGeom>
          <a:solidFill>
            <a:srgbClr val="1C7293"/>
          </a:solidFill>
          <a:ln/>
        </p:spPr>
      </p:sp>
      <p:sp>
        <p:nvSpPr>
          <p:cNvPr id="16" name="Shape 14"/>
          <p:cNvSpPr/>
          <p:nvPr/>
        </p:nvSpPr>
        <p:spPr>
          <a:xfrm>
            <a:off x="950976" y="3803904"/>
            <a:ext cx="128016" cy="128016"/>
          </a:xfrm>
          <a:prstGeom prst="rect">
            <a:avLst/>
          </a:prstGeom>
          <a:solidFill>
            <a:srgbClr val="1C7293"/>
          </a:solidFill>
          <a:ln/>
        </p:spPr>
      </p:sp>
      <p:sp>
        <p:nvSpPr>
          <p:cNvPr id="17" name="Shape 15"/>
          <p:cNvSpPr/>
          <p:nvPr/>
        </p:nvSpPr>
        <p:spPr>
          <a:xfrm>
            <a:off x="1106424" y="3803904"/>
            <a:ext cx="128016" cy="128016"/>
          </a:xfrm>
          <a:prstGeom prst="rect">
            <a:avLst/>
          </a:prstGeom>
          <a:solidFill>
            <a:srgbClr val="1C7293"/>
          </a:solidFill>
          <a:ln/>
        </p:spPr>
      </p:sp>
      <p:sp>
        <p:nvSpPr>
          <p:cNvPr id="18" name="Shape 16"/>
          <p:cNvSpPr/>
          <p:nvPr/>
        </p:nvSpPr>
        <p:spPr>
          <a:xfrm>
            <a:off x="1261872" y="3803904"/>
            <a:ext cx="128016" cy="128016"/>
          </a:xfrm>
          <a:prstGeom prst="rect">
            <a:avLst/>
          </a:prstGeom>
          <a:solidFill>
            <a:srgbClr val="1C7293"/>
          </a:solidFill>
          <a:ln/>
        </p:spPr>
      </p:sp>
      <p:sp>
        <p:nvSpPr>
          <p:cNvPr id="19" name="Shape 17"/>
          <p:cNvSpPr/>
          <p:nvPr/>
        </p:nvSpPr>
        <p:spPr>
          <a:xfrm>
            <a:off x="1417320" y="3803904"/>
            <a:ext cx="128016" cy="128016"/>
          </a:xfrm>
          <a:prstGeom prst="rect">
            <a:avLst/>
          </a:prstGeom>
          <a:solidFill>
            <a:srgbClr val="1C7293"/>
          </a:solidFill>
          <a:ln/>
        </p:spPr>
      </p:sp>
      <p:sp>
        <p:nvSpPr>
          <p:cNvPr id="20" name="Shape 18"/>
          <p:cNvSpPr/>
          <p:nvPr/>
        </p:nvSpPr>
        <p:spPr>
          <a:xfrm>
            <a:off x="950976" y="3959352"/>
            <a:ext cx="128016" cy="128016"/>
          </a:xfrm>
          <a:prstGeom prst="rect">
            <a:avLst/>
          </a:prstGeom>
          <a:solidFill>
            <a:srgbClr val="1C7293"/>
          </a:solidFill>
          <a:ln/>
        </p:spPr>
      </p:sp>
      <p:sp>
        <p:nvSpPr>
          <p:cNvPr id="21" name="Shape 19"/>
          <p:cNvSpPr/>
          <p:nvPr/>
        </p:nvSpPr>
        <p:spPr>
          <a:xfrm>
            <a:off x="1106424" y="3959352"/>
            <a:ext cx="128016" cy="128016"/>
          </a:xfrm>
          <a:prstGeom prst="rect">
            <a:avLst/>
          </a:prstGeom>
          <a:solidFill>
            <a:srgbClr val="1C7293"/>
          </a:solidFill>
          <a:ln/>
        </p:spPr>
      </p:sp>
      <p:sp>
        <p:nvSpPr>
          <p:cNvPr id="22" name="Shape 20"/>
          <p:cNvSpPr/>
          <p:nvPr/>
        </p:nvSpPr>
        <p:spPr>
          <a:xfrm>
            <a:off x="1261872" y="3959352"/>
            <a:ext cx="128016" cy="128016"/>
          </a:xfrm>
          <a:prstGeom prst="rect">
            <a:avLst/>
          </a:prstGeom>
          <a:solidFill>
            <a:srgbClr val="1C7293"/>
          </a:solidFill>
          <a:ln/>
        </p:spPr>
      </p:sp>
      <p:sp>
        <p:nvSpPr>
          <p:cNvPr id="23" name="Shape 21"/>
          <p:cNvSpPr/>
          <p:nvPr/>
        </p:nvSpPr>
        <p:spPr>
          <a:xfrm>
            <a:off x="1417320" y="3959352"/>
            <a:ext cx="128016" cy="128016"/>
          </a:xfrm>
          <a:prstGeom prst="rect">
            <a:avLst/>
          </a:prstGeom>
          <a:solidFill>
            <a:srgbClr val="1C7293"/>
          </a:solidFill>
          <a:ln/>
        </p:spPr>
      </p:sp>
      <p:sp>
        <p:nvSpPr>
          <p:cNvPr id="24" name="Text 22"/>
          <p:cNvSpPr txBox="1"/>
          <p:nvPr/>
        </p:nvSpPr>
        <p:spPr>
          <a:xfrm>
            <a:off x="566928" y="3200400"/>
            <a:ext cx="2286000" cy="237744"/>
          </a:xfrm>
          <a:prstGeom prst="rect">
            <a:avLst/>
          </a:prstGeom>
          <a:noFill/>
          <a:ln/>
        </p:spPr>
        <p:txBody>
          <a:bodyPr wrap="square" lIns="0" tIns="0" rIns="0" bIns="0" rtlCol="0" anchor="ctr"/>
          <a:lstStyle/>
          <a:p>
            <a:pPr algn="ctr" indent="0" marL="0">
              <a:buNone/>
            </a:pPr>
            <a:r>
              <a:rPr lang="en-US" sz="1200" b="1" dirty="0">
                <a:solidFill>
                  <a:srgbClr val="0B3C49"/>
                </a:solidFill>
                <a:latin typeface="Calibri" pitchFamily="34" charset="0"/>
                <a:ea typeface="Calibri" pitchFamily="34" charset="-122"/>
                <a:cs typeface="Calibri" pitchFamily="34" charset="-120"/>
              </a:rPr>
              <a:t>PAI 3 — small bag</a:t>
            </a:r>
            <a:endParaRPr lang="en-US" sz="1200" dirty="0"/>
          </a:p>
        </p:txBody>
      </p:sp>
      <p:sp>
        <p:nvSpPr>
          <p:cNvPr id="25" name="Text 23"/>
          <p:cNvSpPr txBox="1"/>
          <p:nvPr/>
        </p:nvSpPr>
        <p:spPr>
          <a:xfrm>
            <a:off x="566928" y="4526280"/>
            <a:ext cx="2286000"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16 instances</a:t>
            </a:r>
            <a:endParaRPr lang="en-US" sz="1200" dirty="0"/>
          </a:p>
        </p:txBody>
      </p:sp>
      <p:sp>
        <p:nvSpPr>
          <p:cNvPr id="26" name="Shape 24"/>
          <p:cNvSpPr/>
          <p:nvPr/>
        </p:nvSpPr>
        <p:spPr>
          <a:xfrm>
            <a:off x="3218688" y="3108960"/>
            <a:ext cx="2286000" cy="1737360"/>
          </a:xfrm>
          <a:prstGeom prst="roundRect">
            <a:avLst>
              <a:gd name="adj" fmla="val 3684"/>
            </a:avLst>
          </a:prstGeom>
          <a:solidFill>
            <a:srgbClr val="F4F6F7"/>
          </a:solidFill>
          <a:ln/>
        </p:spPr>
      </p:sp>
      <p:sp>
        <p:nvSpPr>
          <p:cNvPr id="27" name="Shape 25"/>
          <p:cNvSpPr/>
          <p:nvPr/>
        </p:nvSpPr>
        <p:spPr>
          <a:xfrm>
            <a:off x="3602736" y="3493008"/>
            <a:ext cx="128016" cy="128016"/>
          </a:xfrm>
          <a:prstGeom prst="rect">
            <a:avLst/>
          </a:prstGeom>
          <a:solidFill>
            <a:srgbClr val="A62B1F"/>
          </a:solidFill>
          <a:ln/>
        </p:spPr>
      </p:sp>
      <p:sp>
        <p:nvSpPr>
          <p:cNvPr id="28" name="Shape 26"/>
          <p:cNvSpPr/>
          <p:nvPr/>
        </p:nvSpPr>
        <p:spPr>
          <a:xfrm>
            <a:off x="3758184" y="3493008"/>
            <a:ext cx="128016" cy="128016"/>
          </a:xfrm>
          <a:prstGeom prst="rect">
            <a:avLst/>
          </a:prstGeom>
          <a:solidFill>
            <a:srgbClr val="A62B1F"/>
          </a:solidFill>
          <a:ln/>
        </p:spPr>
      </p:sp>
      <p:sp>
        <p:nvSpPr>
          <p:cNvPr id="29" name="Shape 27"/>
          <p:cNvSpPr/>
          <p:nvPr/>
        </p:nvSpPr>
        <p:spPr>
          <a:xfrm>
            <a:off x="3913632" y="3493008"/>
            <a:ext cx="128016" cy="128016"/>
          </a:xfrm>
          <a:prstGeom prst="rect">
            <a:avLst/>
          </a:prstGeom>
          <a:solidFill>
            <a:srgbClr val="A62B1F"/>
          </a:solidFill>
          <a:ln/>
        </p:spPr>
      </p:sp>
      <p:sp>
        <p:nvSpPr>
          <p:cNvPr id="30" name="Shape 28"/>
          <p:cNvSpPr/>
          <p:nvPr/>
        </p:nvSpPr>
        <p:spPr>
          <a:xfrm>
            <a:off x="4069080" y="3493008"/>
            <a:ext cx="128016" cy="128016"/>
          </a:xfrm>
          <a:prstGeom prst="rect">
            <a:avLst/>
          </a:prstGeom>
          <a:solidFill>
            <a:srgbClr val="A62B1F"/>
          </a:solidFill>
          <a:ln/>
        </p:spPr>
      </p:sp>
      <p:sp>
        <p:nvSpPr>
          <p:cNvPr id="31" name="Shape 29"/>
          <p:cNvSpPr/>
          <p:nvPr/>
        </p:nvSpPr>
        <p:spPr>
          <a:xfrm>
            <a:off x="4224528" y="3493008"/>
            <a:ext cx="128016" cy="128016"/>
          </a:xfrm>
          <a:prstGeom prst="rect">
            <a:avLst/>
          </a:prstGeom>
          <a:solidFill>
            <a:srgbClr val="A62B1F"/>
          </a:solidFill>
          <a:ln/>
        </p:spPr>
      </p:sp>
      <p:sp>
        <p:nvSpPr>
          <p:cNvPr id="32" name="Shape 30"/>
          <p:cNvSpPr/>
          <p:nvPr/>
        </p:nvSpPr>
        <p:spPr>
          <a:xfrm>
            <a:off x="4379976" y="3493008"/>
            <a:ext cx="128016" cy="128016"/>
          </a:xfrm>
          <a:prstGeom prst="rect">
            <a:avLst/>
          </a:prstGeom>
          <a:solidFill>
            <a:srgbClr val="A62B1F"/>
          </a:solidFill>
          <a:ln/>
        </p:spPr>
      </p:sp>
      <p:sp>
        <p:nvSpPr>
          <p:cNvPr id="33" name="Shape 31"/>
          <p:cNvSpPr/>
          <p:nvPr/>
        </p:nvSpPr>
        <p:spPr>
          <a:xfrm>
            <a:off x="4535424" y="3493008"/>
            <a:ext cx="128016" cy="128016"/>
          </a:xfrm>
          <a:prstGeom prst="rect">
            <a:avLst/>
          </a:prstGeom>
          <a:solidFill>
            <a:srgbClr val="A62B1F"/>
          </a:solidFill>
          <a:ln/>
        </p:spPr>
      </p:sp>
      <p:sp>
        <p:nvSpPr>
          <p:cNvPr id="34" name="Shape 32"/>
          <p:cNvSpPr/>
          <p:nvPr/>
        </p:nvSpPr>
        <p:spPr>
          <a:xfrm>
            <a:off x="4690872" y="3493008"/>
            <a:ext cx="128016" cy="128016"/>
          </a:xfrm>
          <a:prstGeom prst="rect">
            <a:avLst/>
          </a:prstGeom>
          <a:solidFill>
            <a:srgbClr val="A62B1F"/>
          </a:solidFill>
          <a:ln/>
        </p:spPr>
      </p:sp>
      <p:sp>
        <p:nvSpPr>
          <p:cNvPr id="35" name="Shape 33"/>
          <p:cNvSpPr/>
          <p:nvPr/>
        </p:nvSpPr>
        <p:spPr>
          <a:xfrm>
            <a:off x="3602736" y="3648456"/>
            <a:ext cx="128016" cy="128016"/>
          </a:xfrm>
          <a:prstGeom prst="rect">
            <a:avLst/>
          </a:prstGeom>
          <a:solidFill>
            <a:srgbClr val="A62B1F"/>
          </a:solidFill>
          <a:ln/>
        </p:spPr>
      </p:sp>
      <p:sp>
        <p:nvSpPr>
          <p:cNvPr id="36" name="Shape 34"/>
          <p:cNvSpPr/>
          <p:nvPr/>
        </p:nvSpPr>
        <p:spPr>
          <a:xfrm>
            <a:off x="3758184" y="3648456"/>
            <a:ext cx="128016" cy="128016"/>
          </a:xfrm>
          <a:prstGeom prst="rect">
            <a:avLst/>
          </a:prstGeom>
          <a:solidFill>
            <a:srgbClr val="A62B1F"/>
          </a:solidFill>
          <a:ln/>
        </p:spPr>
      </p:sp>
      <p:sp>
        <p:nvSpPr>
          <p:cNvPr id="37" name="Shape 35"/>
          <p:cNvSpPr/>
          <p:nvPr/>
        </p:nvSpPr>
        <p:spPr>
          <a:xfrm>
            <a:off x="3913632" y="3648456"/>
            <a:ext cx="128016" cy="128016"/>
          </a:xfrm>
          <a:prstGeom prst="rect">
            <a:avLst/>
          </a:prstGeom>
          <a:solidFill>
            <a:srgbClr val="A62B1F"/>
          </a:solidFill>
          <a:ln/>
        </p:spPr>
      </p:sp>
      <p:sp>
        <p:nvSpPr>
          <p:cNvPr id="38" name="Shape 36"/>
          <p:cNvSpPr/>
          <p:nvPr/>
        </p:nvSpPr>
        <p:spPr>
          <a:xfrm>
            <a:off x="4069080" y="3648456"/>
            <a:ext cx="128016" cy="128016"/>
          </a:xfrm>
          <a:prstGeom prst="rect">
            <a:avLst/>
          </a:prstGeom>
          <a:solidFill>
            <a:srgbClr val="A62B1F"/>
          </a:solidFill>
          <a:ln/>
        </p:spPr>
      </p:sp>
      <p:sp>
        <p:nvSpPr>
          <p:cNvPr id="39" name="Shape 37"/>
          <p:cNvSpPr/>
          <p:nvPr/>
        </p:nvSpPr>
        <p:spPr>
          <a:xfrm>
            <a:off x="4224528" y="3648456"/>
            <a:ext cx="128016" cy="128016"/>
          </a:xfrm>
          <a:prstGeom prst="rect">
            <a:avLst/>
          </a:prstGeom>
          <a:solidFill>
            <a:srgbClr val="A62B1F"/>
          </a:solidFill>
          <a:ln/>
        </p:spPr>
      </p:sp>
      <p:sp>
        <p:nvSpPr>
          <p:cNvPr id="40" name="Shape 38"/>
          <p:cNvSpPr/>
          <p:nvPr/>
        </p:nvSpPr>
        <p:spPr>
          <a:xfrm>
            <a:off x="4379976" y="3648456"/>
            <a:ext cx="128016" cy="128016"/>
          </a:xfrm>
          <a:prstGeom prst="rect">
            <a:avLst/>
          </a:prstGeom>
          <a:solidFill>
            <a:srgbClr val="A62B1F"/>
          </a:solidFill>
          <a:ln/>
        </p:spPr>
      </p:sp>
      <p:sp>
        <p:nvSpPr>
          <p:cNvPr id="41" name="Shape 39"/>
          <p:cNvSpPr/>
          <p:nvPr/>
        </p:nvSpPr>
        <p:spPr>
          <a:xfrm>
            <a:off x="4535424" y="3648456"/>
            <a:ext cx="128016" cy="128016"/>
          </a:xfrm>
          <a:prstGeom prst="rect">
            <a:avLst/>
          </a:prstGeom>
          <a:solidFill>
            <a:srgbClr val="A62B1F"/>
          </a:solidFill>
          <a:ln/>
        </p:spPr>
      </p:sp>
      <p:sp>
        <p:nvSpPr>
          <p:cNvPr id="42" name="Shape 40"/>
          <p:cNvSpPr/>
          <p:nvPr/>
        </p:nvSpPr>
        <p:spPr>
          <a:xfrm>
            <a:off x="4690872" y="3648456"/>
            <a:ext cx="128016" cy="128016"/>
          </a:xfrm>
          <a:prstGeom prst="rect">
            <a:avLst/>
          </a:prstGeom>
          <a:solidFill>
            <a:srgbClr val="A62B1F"/>
          </a:solidFill>
          <a:ln/>
        </p:spPr>
      </p:sp>
      <p:sp>
        <p:nvSpPr>
          <p:cNvPr id="43" name="Shape 41"/>
          <p:cNvSpPr/>
          <p:nvPr/>
        </p:nvSpPr>
        <p:spPr>
          <a:xfrm>
            <a:off x="3602736" y="3803904"/>
            <a:ext cx="128016" cy="128016"/>
          </a:xfrm>
          <a:prstGeom prst="rect">
            <a:avLst/>
          </a:prstGeom>
          <a:solidFill>
            <a:srgbClr val="A62B1F"/>
          </a:solidFill>
          <a:ln/>
        </p:spPr>
      </p:sp>
      <p:sp>
        <p:nvSpPr>
          <p:cNvPr id="44" name="Shape 42"/>
          <p:cNvSpPr/>
          <p:nvPr/>
        </p:nvSpPr>
        <p:spPr>
          <a:xfrm>
            <a:off x="3758184" y="3803904"/>
            <a:ext cx="128016" cy="128016"/>
          </a:xfrm>
          <a:prstGeom prst="rect">
            <a:avLst/>
          </a:prstGeom>
          <a:solidFill>
            <a:srgbClr val="A62B1F"/>
          </a:solidFill>
          <a:ln/>
        </p:spPr>
      </p:sp>
      <p:sp>
        <p:nvSpPr>
          <p:cNvPr id="45" name="Shape 43"/>
          <p:cNvSpPr/>
          <p:nvPr/>
        </p:nvSpPr>
        <p:spPr>
          <a:xfrm>
            <a:off x="3913632" y="3803904"/>
            <a:ext cx="128016" cy="128016"/>
          </a:xfrm>
          <a:prstGeom prst="rect">
            <a:avLst/>
          </a:prstGeom>
          <a:solidFill>
            <a:srgbClr val="A62B1F"/>
          </a:solidFill>
          <a:ln/>
        </p:spPr>
      </p:sp>
      <p:sp>
        <p:nvSpPr>
          <p:cNvPr id="46" name="Shape 44"/>
          <p:cNvSpPr/>
          <p:nvPr/>
        </p:nvSpPr>
        <p:spPr>
          <a:xfrm>
            <a:off x="4069080" y="3803904"/>
            <a:ext cx="128016" cy="128016"/>
          </a:xfrm>
          <a:prstGeom prst="rect">
            <a:avLst/>
          </a:prstGeom>
          <a:solidFill>
            <a:srgbClr val="A62B1F"/>
          </a:solidFill>
          <a:ln/>
        </p:spPr>
      </p:sp>
      <p:sp>
        <p:nvSpPr>
          <p:cNvPr id="47" name="Shape 45"/>
          <p:cNvSpPr/>
          <p:nvPr/>
        </p:nvSpPr>
        <p:spPr>
          <a:xfrm>
            <a:off x="4224528" y="3803904"/>
            <a:ext cx="128016" cy="128016"/>
          </a:xfrm>
          <a:prstGeom prst="rect">
            <a:avLst/>
          </a:prstGeom>
          <a:solidFill>
            <a:srgbClr val="A62B1F"/>
          </a:solidFill>
          <a:ln/>
        </p:spPr>
      </p:sp>
      <p:sp>
        <p:nvSpPr>
          <p:cNvPr id="48" name="Shape 46"/>
          <p:cNvSpPr/>
          <p:nvPr/>
        </p:nvSpPr>
        <p:spPr>
          <a:xfrm>
            <a:off x="4379976" y="3803904"/>
            <a:ext cx="128016" cy="128016"/>
          </a:xfrm>
          <a:prstGeom prst="rect">
            <a:avLst/>
          </a:prstGeom>
          <a:solidFill>
            <a:srgbClr val="A62B1F"/>
          </a:solidFill>
          <a:ln/>
        </p:spPr>
      </p:sp>
      <p:sp>
        <p:nvSpPr>
          <p:cNvPr id="49" name="Shape 47"/>
          <p:cNvSpPr/>
          <p:nvPr/>
        </p:nvSpPr>
        <p:spPr>
          <a:xfrm>
            <a:off x="4535424" y="3803904"/>
            <a:ext cx="128016" cy="128016"/>
          </a:xfrm>
          <a:prstGeom prst="rect">
            <a:avLst/>
          </a:prstGeom>
          <a:solidFill>
            <a:srgbClr val="A62B1F"/>
          </a:solidFill>
          <a:ln/>
        </p:spPr>
      </p:sp>
      <p:sp>
        <p:nvSpPr>
          <p:cNvPr id="50" name="Shape 48"/>
          <p:cNvSpPr/>
          <p:nvPr/>
        </p:nvSpPr>
        <p:spPr>
          <a:xfrm>
            <a:off x="4690872" y="3803904"/>
            <a:ext cx="128016" cy="128016"/>
          </a:xfrm>
          <a:prstGeom prst="rect">
            <a:avLst/>
          </a:prstGeom>
          <a:solidFill>
            <a:srgbClr val="A62B1F"/>
          </a:solidFill>
          <a:ln/>
        </p:spPr>
      </p:sp>
      <p:sp>
        <p:nvSpPr>
          <p:cNvPr id="51" name="Shape 49"/>
          <p:cNvSpPr/>
          <p:nvPr/>
        </p:nvSpPr>
        <p:spPr>
          <a:xfrm>
            <a:off x="3602736" y="3959352"/>
            <a:ext cx="128016" cy="128016"/>
          </a:xfrm>
          <a:prstGeom prst="rect">
            <a:avLst/>
          </a:prstGeom>
          <a:solidFill>
            <a:srgbClr val="A62B1F"/>
          </a:solidFill>
          <a:ln/>
        </p:spPr>
      </p:sp>
      <p:sp>
        <p:nvSpPr>
          <p:cNvPr id="52" name="Shape 50"/>
          <p:cNvSpPr/>
          <p:nvPr/>
        </p:nvSpPr>
        <p:spPr>
          <a:xfrm>
            <a:off x="3758184" y="3959352"/>
            <a:ext cx="128016" cy="128016"/>
          </a:xfrm>
          <a:prstGeom prst="rect">
            <a:avLst/>
          </a:prstGeom>
          <a:solidFill>
            <a:srgbClr val="A62B1F"/>
          </a:solidFill>
          <a:ln/>
        </p:spPr>
      </p:sp>
      <p:sp>
        <p:nvSpPr>
          <p:cNvPr id="53" name="Shape 51"/>
          <p:cNvSpPr/>
          <p:nvPr/>
        </p:nvSpPr>
        <p:spPr>
          <a:xfrm>
            <a:off x="3913632" y="3959352"/>
            <a:ext cx="128016" cy="128016"/>
          </a:xfrm>
          <a:prstGeom prst="rect">
            <a:avLst/>
          </a:prstGeom>
          <a:solidFill>
            <a:srgbClr val="A62B1F"/>
          </a:solidFill>
          <a:ln/>
        </p:spPr>
      </p:sp>
      <p:sp>
        <p:nvSpPr>
          <p:cNvPr id="54" name="Shape 52"/>
          <p:cNvSpPr/>
          <p:nvPr/>
        </p:nvSpPr>
        <p:spPr>
          <a:xfrm>
            <a:off x="4069080" y="3959352"/>
            <a:ext cx="128016" cy="128016"/>
          </a:xfrm>
          <a:prstGeom prst="rect">
            <a:avLst/>
          </a:prstGeom>
          <a:solidFill>
            <a:srgbClr val="A62B1F"/>
          </a:solidFill>
          <a:ln/>
        </p:spPr>
      </p:sp>
      <p:sp>
        <p:nvSpPr>
          <p:cNvPr id="55" name="Shape 53"/>
          <p:cNvSpPr/>
          <p:nvPr/>
        </p:nvSpPr>
        <p:spPr>
          <a:xfrm>
            <a:off x="4224528" y="3959352"/>
            <a:ext cx="128016" cy="128016"/>
          </a:xfrm>
          <a:prstGeom prst="rect">
            <a:avLst/>
          </a:prstGeom>
          <a:solidFill>
            <a:srgbClr val="A62B1F"/>
          </a:solidFill>
          <a:ln/>
        </p:spPr>
      </p:sp>
      <p:sp>
        <p:nvSpPr>
          <p:cNvPr id="56" name="Shape 54"/>
          <p:cNvSpPr/>
          <p:nvPr/>
        </p:nvSpPr>
        <p:spPr>
          <a:xfrm>
            <a:off x="4379976" y="3959352"/>
            <a:ext cx="128016" cy="128016"/>
          </a:xfrm>
          <a:prstGeom prst="rect">
            <a:avLst/>
          </a:prstGeom>
          <a:solidFill>
            <a:srgbClr val="A62B1F"/>
          </a:solidFill>
          <a:ln/>
        </p:spPr>
      </p:sp>
      <p:sp>
        <p:nvSpPr>
          <p:cNvPr id="57" name="Shape 55"/>
          <p:cNvSpPr/>
          <p:nvPr/>
        </p:nvSpPr>
        <p:spPr>
          <a:xfrm>
            <a:off x="4535424" y="3959352"/>
            <a:ext cx="128016" cy="128016"/>
          </a:xfrm>
          <a:prstGeom prst="rect">
            <a:avLst/>
          </a:prstGeom>
          <a:solidFill>
            <a:srgbClr val="A62B1F"/>
          </a:solidFill>
          <a:ln/>
        </p:spPr>
      </p:sp>
      <p:sp>
        <p:nvSpPr>
          <p:cNvPr id="58" name="Shape 56"/>
          <p:cNvSpPr/>
          <p:nvPr/>
        </p:nvSpPr>
        <p:spPr>
          <a:xfrm>
            <a:off x="4690872" y="3959352"/>
            <a:ext cx="128016" cy="128016"/>
          </a:xfrm>
          <a:prstGeom prst="rect">
            <a:avLst/>
          </a:prstGeom>
          <a:solidFill>
            <a:srgbClr val="A62B1F"/>
          </a:solidFill>
          <a:ln/>
        </p:spPr>
      </p:sp>
      <p:sp>
        <p:nvSpPr>
          <p:cNvPr id="59" name="Shape 57"/>
          <p:cNvSpPr/>
          <p:nvPr/>
        </p:nvSpPr>
        <p:spPr>
          <a:xfrm>
            <a:off x="3602736" y="4114800"/>
            <a:ext cx="128016" cy="128016"/>
          </a:xfrm>
          <a:prstGeom prst="rect">
            <a:avLst/>
          </a:prstGeom>
          <a:solidFill>
            <a:srgbClr val="A62B1F"/>
          </a:solidFill>
          <a:ln/>
        </p:spPr>
      </p:sp>
      <p:sp>
        <p:nvSpPr>
          <p:cNvPr id="60" name="Shape 58"/>
          <p:cNvSpPr/>
          <p:nvPr/>
        </p:nvSpPr>
        <p:spPr>
          <a:xfrm>
            <a:off x="3758184" y="4114800"/>
            <a:ext cx="128016" cy="128016"/>
          </a:xfrm>
          <a:prstGeom prst="rect">
            <a:avLst/>
          </a:prstGeom>
          <a:solidFill>
            <a:srgbClr val="A62B1F"/>
          </a:solidFill>
          <a:ln/>
        </p:spPr>
      </p:sp>
      <p:sp>
        <p:nvSpPr>
          <p:cNvPr id="61" name="Shape 59"/>
          <p:cNvSpPr/>
          <p:nvPr/>
        </p:nvSpPr>
        <p:spPr>
          <a:xfrm>
            <a:off x="3913632" y="4114800"/>
            <a:ext cx="128016" cy="128016"/>
          </a:xfrm>
          <a:prstGeom prst="rect">
            <a:avLst/>
          </a:prstGeom>
          <a:solidFill>
            <a:srgbClr val="A62B1F"/>
          </a:solidFill>
          <a:ln/>
        </p:spPr>
      </p:sp>
      <p:sp>
        <p:nvSpPr>
          <p:cNvPr id="62" name="Shape 60"/>
          <p:cNvSpPr/>
          <p:nvPr/>
        </p:nvSpPr>
        <p:spPr>
          <a:xfrm>
            <a:off x="4069080" y="4114800"/>
            <a:ext cx="128016" cy="128016"/>
          </a:xfrm>
          <a:prstGeom prst="rect">
            <a:avLst/>
          </a:prstGeom>
          <a:solidFill>
            <a:srgbClr val="A62B1F"/>
          </a:solidFill>
          <a:ln/>
        </p:spPr>
      </p:sp>
      <p:sp>
        <p:nvSpPr>
          <p:cNvPr id="63" name="Shape 61"/>
          <p:cNvSpPr/>
          <p:nvPr/>
        </p:nvSpPr>
        <p:spPr>
          <a:xfrm>
            <a:off x="4224528" y="4114800"/>
            <a:ext cx="128016" cy="128016"/>
          </a:xfrm>
          <a:prstGeom prst="rect">
            <a:avLst/>
          </a:prstGeom>
          <a:solidFill>
            <a:srgbClr val="A62B1F"/>
          </a:solidFill>
          <a:ln/>
        </p:spPr>
      </p:sp>
      <p:sp>
        <p:nvSpPr>
          <p:cNvPr id="64" name="Shape 62"/>
          <p:cNvSpPr/>
          <p:nvPr/>
        </p:nvSpPr>
        <p:spPr>
          <a:xfrm>
            <a:off x="4379976" y="4114800"/>
            <a:ext cx="128016" cy="128016"/>
          </a:xfrm>
          <a:prstGeom prst="rect">
            <a:avLst/>
          </a:prstGeom>
          <a:solidFill>
            <a:srgbClr val="A62B1F"/>
          </a:solidFill>
          <a:ln/>
        </p:spPr>
      </p:sp>
      <p:sp>
        <p:nvSpPr>
          <p:cNvPr id="65" name="Shape 63"/>
          <p:cNvSpPr/>
          <p:nvPr/>
        </p:nvSpPr>
        <p:spPr>
          <a:xfrm>
            <a:off x="4535424" y="4114800"/>
            <a:ext cx="128016" cy="128016"/>
          </a:xfrm>
          <a:prstGeom prst="rect">
            <a:avLst/>
          </a:prstGeom>
          <a:solidFill>
            <a:srgbClr val="A62B1F"/>
          </a:solidFill>
          <a:ln/>
        </p:spPr>
      </p:sp>
      <p:sp>
        <p:nvSpPr>
          <p:cNvPr id="66" name="Shape 64"/>
          <p:cNvSpPr/>
          <p:nvPr/>
        </p:nvSpPr>
        <p:spPr>
          <a:xfrm>
            <a:off x="4690872" y="4114800"/>
            <a:ext cx="128016" cy="128016"/>
          </a:xfrm>
          <a:prstGeom prst="rect">
            <a:avLst/>
          </a:prstGeom>
          <a:solidFill>
            <a:srgbClr val="A62B1F"/>
          </a:solidFill>
          <a:ln/>
        </p:spPr>
      </p:sp>
      <p:sp>
        <p:nvSpPr>
          <p:cNvPr id="67" name="Shape 65"/>
          <p:cNvSpPr/>
          <p:nvPr/>
        </p:nvSpPr>
        <p:spPr>
          <a:xfrm>
            <a:off x="3602736" y="4270248"/>
            <a:ext cx="128016" cy="128016"/>
          </a:xfrm>
          <a:prstGeom prst="rect">
            <a:avLst/>
          </a:prstGeom>
          <a:solidFill>
            <a:srgbClr val="A62B1F"/>
          </a:solidFill>
          <a:ln/>
        </p:spPr>
      </p:sp>
      <p:sp>
        <p:nvSpPr>
          <p:cNvPr id="68" name="Shape 66"/>
          <p:cNvSpPr/>
          <p:nvPr/>
        </p:nvSpPr>
        <p:spPr>
          <a:xfrm>
            <a:off x="3758184" y="4270248"/>
            <a:ext cx="128016" cy="128016"/>
          </a:xfrm>
          <a:prstGeom prst="rect">
            <a:avLst/>
          </a:prstGeom>
          <a:solidFill>
            <a:srgbClr val="A62B1F"/>
          </a:solidFill>
          <a:ln/>
        </p:spPr>
      </p:sp>
      <p:sp>
        <p:nvSpPr>
          <p:cNvPr id="69" name="Shape 67"/>
          <p:cNvSpPr/>
          <p:nvPr/>
        </p:nvSpPr>
        <p:spPr>
          <a:xfrm>
            <a:off x="3913632" y="4270248"/>
            <a:ext cx="128016" cy="128016"/>
          </a:xfrm>
          <a:prstGeom prst="rect">
            <a:avLst/>
          </a:prstGeom>
          <a:solidFill>
            <a:srgbClr val="A62B1F"/>
          </a:solidFill>
          <a:ln/>
        </p:spPr>
      </p:sp>
      <p:sp>
        <p:nvSpPr>
          <p:cNvPr id="70" name="Shape 68"/>
          <p:cNvSpPr/>
          <p:nvPr/>
        </p:nvSpPr>
        <p:spPr>
          <a:xfrm>
            <a:off x="4069080" y="4270248"/>
            <a:ext cx="128016" cy="128016"/>
          </a:xfrm>
          <a:prstGeom prst="rect">
            <a:avLst/>
          </a:prstGeom>
          <a:solidFill>
            <a:srgbClr val="A62B1F"/>
          </a:solidFill>
          <a:ln/>
        </p:spPr>
      </p:sp>
      <p:sp>
        <p:nvSpPr>
          <p:cNvPr id="71" name="Shape 69"/>
          <p:cNvSpPr/>
          <p:nvPr/>
        </p:nvSpPr>
        <p:spPr>
          <a:xfrm>
            <a:off x="4224528" y="4270248"/>
            <a:ext cx="128016" cy="128016"/>
          </a:xfrm>
          <a:prstGeom prst="rect">
            <a:avLst/>
          </a:prstGeom>
          <a:solidFill>
            <a:srgbClr val="A62B1F"/>
          </a:solidFill>
          <a:ln/>
        </p:spPr>
      </p:sp>
      <p:sp>
        <p:nvSpPr>
          <p:cNvPr id="72" name="Shape 70"/>
          <p:cNvSpPr/>
          <p:nvPr/>
        </p:nvSpPr>
        <p:spPr>
          <a:xfrm>
            <a:off x="4379976" y="4270248"/>
            <a:ext cx="128016" cy="128016"/>
          </a:xfrm>
          <a:prstGeom prst="rect">
            <a:avLst/>
          </a:prstGeom>
          <a:solidFill>
            <a:srgbClr val="A62B1F"/>
          </a:solidFill>
          <a:ln/>
        </p:spPr>
      </p:sp>
      <p:sp>
        <p:nvSpPr>
          <p:cNvPr id="73" name="Shape 71"/>
          <p:cNvSpPr/>
          <p:nvPr/>
        </p:nvSpPr>
        <p:spPr>
          <a:xfrm>
            <a:off x="4535424" y="4270248"/>
            <a:ext cx="128016" cy="128016"/>
          </a:xfrm>
          <a:prstGeom prst="rect">
            <a:avLst/>
          </a:prstGeom>
          <a:solidFill>
            <a:srgbClr val="A62B1F"/>
          </a:solidFill>
          <a:ln/>
        </p:spPr>
      </p:sp>
      <p:sp>
        <p:nvSpPr>
          <p:cNvPr id="74" name="Shape 72"/>
          <p:cNvSpPr/>
          <p:nvPr/>
        </p:nvSpPr>
        <p:spPr>
          <a:xfrm>
            <a:off x="4690872" y="4270248"/>
            <a:ext cx="128016" cy="128016"/>
          </a:xfrm>
          <a:prstGeom prst="rect">
            <a:avLst/>
          </a:prstGeom>
          <a:solidFill>
            <a:srgbClr val="A62B1F"/>
          </a:solidFill>
          <a:ln/>
        </p:spPr>
      </p:sp>
      <p:sp>
        <p:nvSpPr>
          <p:cNvPr id="75" name="Shape 73"/>
          <p:cNvSpPr/>
          <p:nvPr/>
        </p:nvSpPr>
        <p:spPr>
          <a:xfrm>
            <a:off x="3602736" y="4425696"/>
            <a:ext cx="128016" cy="128016"/>
          </a:xfrm>
          <a:prstGeom prst="rect">
            <a:avLst/>
          </a:prstGeom>
          <a:solidFill>
            <a:srgbClr val="A62B1F"/>
          </a:solidFill>
          <a:ln/>
        </p:spPr>
      </p:sp>
      <p:sp>
        <p:nvSpPr>
          <p:cNvPr id="76" name="Shape 74"/>
          <p:cNvSpPr/>
          <p:nvPr/>
        </p:nvSpPr>
        <p:spPr>
          <a:xfrm>
            <a:off x="3758184" y="4425696"/>
            <a:ext cx="128016" cy="128016"/>
          </a:xfrm>
          <a:prstGeom prst="rect">
            <a:avLst/>
          </a:prstGeom>
          <a:solidFill>
            <a:srgbClr val="A62B1F"/>
          </a:solidFill>
          <a:ln/>
        </p:spPr>
      </p:sp>
      <p:sp>
        <p:nvSpPr>
          <p:cNvPr id="77" name="Shape 75"/>
          <p:cNvSpPr/>
          <p:nvPr/>
        </p:nvSpPr>
        <p:spPr>
          <a:xfrm>
            <a:off x="3913632" y="4425696"/>
            <a:ext cx="128016" cy="128016"/>
          </a:xfrm>
          <a:prstGeom prst="rect">
            <a:avLst/>
          </a:prstGeom>
          <a:solidFill>
            <a:srgbClr val="A62B1F"/>
          </a:solidFill>
          <a:ln/>
        </p:spPr>
      </p:sp>
      <p:sp>
        <p:nvSpPr>
          <p:cNvPr id="78" name="Shape 76"/>
          <p:cNvSpPr/>
          <p:nvPr/>
        </p:nvSpPr>
        <p:spPr>
          <a:xfrm>
            <a:off x="4069080" y="4425696"/>
            <a:ext cx="128016" cy="128016"/>
          </a:xfrm>
          <a:prstGeom prst="rect">
            <a:avLst/>
          </a:prstGeom>
          <a:solidFill>
            <a:srgbClr val="A62B1F"/>
          </a:solidFill>
          <a:ln/>
        </p:spPr>
      </p:sp>
      <p:sp>
        <p:nvSpPr>
          <p:cNvPr id="79" name="Shape 77"/>
          <p:cNvSpPr/>
          <p:nvPr/>
        </p:nvSpPr>
        <p:spPr>
          <a:xfrm>
            <a:off x="4224528" y="4425696"/>
            <a:ext cx="128016" cy="128016"/>
          </a:xfrm>
          <a:prstGeom prst="rect">
            <a:avLst/>
          </a:prstGeom>
          <a:solidFill>
            <a:srgbClr val="A62B1F"/>
          </a:solidFill>
          <a:ln/>
        </p:spPr>
      </p:sp>
      <p:sp>
        <p:nvSpPr>
          <p:cNvPr id="80" name="Shape 78"/>
          <p:cNvSpPr/>
          <p:nvPr/>
        </p:nvSpPr>
        <p:spPr>
          <a:xfrm>
            <a:off x="4379976" y="4425696"/>
            <a:ext cx="128016" cy="128016"/>
          </a:xfrm>
          <a:prstGeom prst="rect">
            <a:avLst/>
          </a:prstGeom>
          <a:solidFill>
            <a:srgbClr val="A62B1F"/>
          </a:solidFill>
          <a:ln/>
        </p:spPr>
      </p:sp>
      <p:sp>
        <p:nvSpPr>
          <p:cNvPr id="81" name="Shape 79"/>
          <p:cNvSpPr/>
          <p:nvPr/>
        </p:nvSpPr>
        <p:spPr>
          <a:xfrm>
            <a:off x="4535424" y="4425696"/>
            <a:ext cx="128016" cy="128016"/>
          </a:xfrm>
          <a:prstGeom prst="rect">
            <a:avLst/>
          </a:prstGeom>
          <a:solidFill>
            <a:srgbClr val="A62B1F"/>
          </a:solidFill>
          <a:ln/>
        </p:spPr>
      </p:sp>
      <p:sp>
        <p:nvSpPr>
          <p:cNvPr id="82" name="Shape 80"/>
          <p:cNvSpPr/>
          <p:nvPr/>
        </p:nvSpPr>
        <p:spPr>
          <a:xfrm>
            <a:off x="4690872" y="4425696"/>
            <a:ext cx="128016" cy="128016"/>
          </a:xfrm>
          <a:prstGeom prst="rect">
            <a:avLst/>
          </a:prstGeom>
          <a:solidFill>
            <a:srgbClr val="A62B1F"/>
          </a:solidFill>
          <a:ln/>
        </p:spPr>
      </p:sp>
      <p:sp>
        <p:nvSpPr>
          <p:cNvPr id="83" name="Shape 81"/>
          <p:cNvSpPr/>
          <p:nvPr/>
        </p:nvSpPr>
        <p:spPr>
          <a:xfrm>
            <a:off x="3602736" y="4581144"/>
            <a:ext cx="128016" cy="128016"/>
          </a:xfrm>
          <a:prstGeom prst="rect">
            <a:avLst/>
          </a:prstGeom>
          <a:solidFill>
            <a:srgbClr val="A62B1F"/>
          </a:solidFill>
          <a:ln/>
        </p:spPr>
      </p:sp>
      <p:sp>
        <p:nvSpPr>
          <p:cNvPr id="84" name="Shape 82"/>
          <p:cNvSpPr/>
          <p:nvPr/>
        </p:nvSpPr>
        <p:spPr>
          <a:xfrm>
            <a:off x="3758184" y="4581144"/>
            <a:ext cx="128016" cy="128016"/>
          </a:xfrm>
          <a:prstGeom prst="rect">
            <a:avLst/>
          </a:prstGeom>
          <a:solidFill>
            <a:srgbClr val="A62B1F"/>
          </a:solidFill>
          <a:ln/>
        </p:spPr>
      </p:sp>
      <p:sp>
        <p:nvSpPr>
          <p:cNvPr id="85" name="Shape 83"/>
          <p:cNvSpPr/>
          <p:nvPr/>
        </p:nvSpPr>
        <p:spPr>
          <a:xfrm>
            <a:off x="3913632" y="4581144"/>
            <a:ext cx="128016" cy="128016"/>
          </a:xfrm>
          <a:prstGeom prst="rect">
            <a:avLst/>
          </a:prstGeom>
          <a:solidFill>
            <a:srgbClr val="A62B1F"/>
          </a:solidFill>
          <a:ln/>
        </p:spPr>
      </p:sp>
      <p:sp>
        <p:nvSpPr>
          <p:cNvPr id="86" name="Shape 84"/>
          <p:cNvSpPr/>
          <p:nvPr/>
        </p:nvSpPr>
        <p:spPr>
          <a:xfrm>
            <a:off x="4069080" y="4581144"/>
            <a:ext cx="128016" cy="128016"/>
          </a:xfrm>
          <a:prstGeom prst="rect">
            <a:avLst/>
          </a:prstGeom>
          <a:solidFill>
            <a:srgbClr val="A62B1F"/>
          </a:solidFill>
          <a:ln/>
        </p:spPr>
      </p:sp>
      <p:sp>
        <p:nvSpPr>
          <p:cNvPr id="87" name="Shape 85"/>
          <p:cNvSpPr/>
          <p:nvPr/>
        </p:nvSpPr>
        <p:spPr>
          <a:xfrm>
            <a:off x="4224528" y="4581144"/>
            <a:ext cx="128016" cy="128016"/>
          </a:xfrm>
          <a:prstGeom prst="rect">
            <a:avLst/>
          </a:prstGeom>
          <a:solidFill>
            <a:srgbClr val="A62B1F"/>
          </a:solidFill>
          <a:ln/>
        </p:spPr>
      </p:sp>
      <p:sp>
        <p:nvSpPr>
          <p:cNvPr id="88" name="Shape 86"/>
          <p:cNvSpPr/>
          <p:nvPr/>
        </p:nvSpPr>
        <p:spPr>
          <a:xfrm>
            <a:off x="4379976" y="4581144"/>
            <a:ext cx="128016" cy="128016"/>
          </a:xfrm>
          <a:prstGeom prst="rect">
            <a:avLst/>
          </a:prstGeom>
          <a:solidFill>
            <a:srgbClr val="A62B1F"/>
          </a:solidFill>
          <a:ln/>
        </p:spPr>
      </p:sp>
      <p:sp>
        <p:nvSpPr>
          <p:cNvPr id="89" name="Shape 87"/>
          <p:cNvSpPr/>
          <p:nvPr/>
        </p:nvSpPr>
        <p:spPr>
          <a:xfrm>
            <a:off x="4535424" y="4581144"/>
            <a:ext cx="128016" cy="128016"/>
          </a:xfrm>
          <a:prstGeom prst="rect">
            <a:avLst/>
          </a:prstGeom>
          <a:solidFill>
            <a:srgbClr val="A62B1F"/>
          </a:solidFill>
          <a:ln/>
        </p:spPr>
      </p:sp>
      <p:sp>
        <p:nvSpPr>
          <p:cNvPr id="90" name="Shape 88"/>
          <p:cNvSpPr/>
          <p:nvPr/>
        </p:nvSpPr>
        <p:spPr>
          <a:xfrm>
            <a:off x="4690872" y="4581144"/>
            <a:ext cx="128016" cy="128016"/>
          </a:xfrm>
          <a:prstGeom prst="rect">
            <a:avLst/>
          </a:prstGeom>
          <a:solidFill>
            <a:srgbClr val="A62B1F"/>
          </a:solidFill>
          <a:ln/>
        </p:spPr>
      </p:sp>
      <p:sp>
        <p:nvSpPr>
          <p:cNvPr id="91" name="Text 89"/>
          <p:cNvSpPr txBox="1"/>
          <p:nvPr/>
        </p:nvSpPr>
        <p:spPr>
          <a:xfrm>
            <a:off x="3218688" y="3200400"/>
            <a:ext cx="2286000" cy="237744"/>
          </a:xfrm>
          <a:prstGeom prst="rect">
            <a:avLst/>
          </a:prstGeom>
          <a:noFill/>
          <a:ln/>
        </p:spPr>
        <p:txBody>
          <a:bodyPr wrap="square" lIns="0" tIns="0" rIns="0" bIns="0" rtlCol="0" anchor="ctr"/>
          <a:lstStyle/>
          <a:p>
            <a:pPr algn="ctr" indent="0" marL="0">
              <a:buNone/>
            </a:pPr>
            <a:r>
              <a:rPr lang="en-US" sz="1200" b="1" dirty="0">
                <a:solidFill>
                  <a:srgbClr val="0B3C49"/>
                </a:solidFill>
                <a:latin typeface="Calibri" pitchFamily="34" charset="0"/>
                <a:ea typeface="Calibri" pitchFamily="34" charset="-122"/>
                <a:cs typeface="Calibri" pitchFamily="34" charset="-120"/>
              </a:rPr>
              <a:t>PAI 5 — large bag</a:t>
            </a:r>
            <a:endParaRPr lang="en-US" sz="1200" dirty="0"/>
          </a:p>
        </p:txBody>
      </p:sp>
      <p:sp>
        <p:nvSpPr>
          <p:cNvPr id="92" name="Text 90"/>
          <p:cNvSpPr txBox="1"/>
          <p:nvPr/>
        </p:nvSpPr>
        <p:spPr>
          <a:xfrm>
            <a:off x="3218688" y="4526280"/>
            <a:ext cx="2286000" cy="237744"/>
          </a:xfrm>
          <a:prstGeom prst="rect">
            <a:avLst/>
          </a:prstGeom>
          <a:noFill/>
          <a:ln/>
        </p:spPr>
        <p:txBody>
          <a:bodyPr wrap="square" lIns="0" tIns="0" rIns="0" bIns="0" rtlCol="0" anchor="ctr"/>
          <a:lstStyle/>
          <a:p>
            <a:pPr algn="ctr" indent="0" marL="0">
              <a:buNone/>
            </a:pPr>
            <a:r>
              <a:rPr lang="en-US" sz="1200" b="1" dirty="0">
                <a:solidFill>
                  <a:srgbClr val="A62B1F"/>
                </a:solidFill>
                <a:latin typeface="Calibri" pitchFamily="34" charset="0"/>
                <a:ea typeface="Calibri" pitchFamily="34" charset="-122"/>
                <a:cs typeface="Calibri" pitchFamily="34" charset="-120"/>
              </a:rPr>
              <a:t>64 instances</a:t>
            </a:r>
            <a:endParaRPr lang="en-US" sz="1200" dirty="0"/>
          </a:p>
        </p:txBody>
      </p:sp>
      <p:sp>
        <p:nvSpPr>
          <p:cNvPr id="93" name="Text 91"/>
          <p:cNvSpPr txBox="1"/>
          <p:nvPr/>
        </p:nvSpPr>
        <p:spPr>
          <a:xfrm>
            <a:off x="566928" y="5029200"/>
            <a:ext cx="4937760" cy="274320"/>
          </a:xfrm>
          <a:prstGeom prst="rect">
            <a:avLst/>
          </a:prstGeom>
          <a:noFill/>
          <a:ln/>
        </p:spPr>
        <p:txBody>
          <a:bodyPr wrap="square" lIns="0" tIns="0" rIns="0" bIns="0" rtlCol="0" anchor="ctr"/>
          <a:lstStyle/>
          <a:p>
            <a:pPr algn="ctr" indent="0" marL="0">
              <a:buNone/>
            </a:pPr>
            <a:r>
              <a:rPr lang="en-US" sz="1300" b="1" i="1" dirty="0">
                <a:solidFill>
                  <a:srgbClr val="A62B1F"/>
                </a:solidFill>
                <a:latin typeface="Calibri" pitchFamily="34" charset="0"/>
                <a:ea typeface="Calibri" pitchFamily="34" charset="-122"/>
                <a:cs typeface="Calibri" pitchFamily="34" charset="-120"/>
              </a:rPr>
              <a:t>The bag size alone separates the classes.</a:t>
            </a:r>
            <a:endParaRPr lang="en-US" sz="1300" dirty="0"/>
          </a:p>
        </p:txBody>
      </p:sp>
      <p:sp>
        <p:nvSpPr>
          <p:cNvPr id="94" name="Shape 92"/>
          <p:cNvSpPr/>
          <p:nvPr/>
        </p:nvSpPr>
        <p:spPr>
          <a:xfrm>
            <a:off x="7543800" y="1691640"/>
            <a:ext cx="4087368" cy="3749040"/>
          </a:xfrm>
          <a:prstGeom prst="roundRect">
            <a:avLst>
              <a:gd name="adj" fmla="val 1707"/>
            </a:avLst>
          </a:prstGeom>
          <a:solidFill>
            <a:srgbClr val="FBF3F2"/>
          </a:solidFill>
          <a:ln/>
        </p:spPr>
      </p:sp>
      <p:sp>
        <p:nvSpPr>
          <p:cNvPr id="95" name="Text 93"/>
          <p:cNvSpPr txBox="1"/>
          <p:nvPr/>
        </p:nvSpPr>
        <p:spPr>
          <a:xfrm>
            <a:off x="7726680" y="1819656"/>
            <a:ext cx="3721608"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Why it is a trap here specifically</a:t>
            </a:r>
            <a:endParaRPr lang="en-US" sz="1450" dirty="0"/>
          </a:p>
        </p:txBody>
      </p:sp>
      <p:sp>
        <p:nvSpPr>
          <p:cNvPr id="96" name="Text 94"/>
          <p:cNvSpPr txBox="1"/>
          <p:nvPr/>
        </p:nvSpPr>
        <p:spPr>
          <a:xfrm>
            <a:off x="7726680" y="2148840"/>
            <a:ext cx="3721608" cy="31272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In a generic MIL problem bag size is incidental. Here it is not: the number of tokens inside the box is a deterministic function of lesion area, and lesion area is the grading criterion.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DIAGNOSIS  ·  THE CENTRAL FINDING</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bag-size bias, measured</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Random ViT (frozen)</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I-JEPA (frozen) and no encoder at all</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As prescribed (bbox mask)</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macro-F1, test, 5 seeds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6 / 27</a:t>
            </a:r>
            <a:endParaRPr lang="en-US" sz="1050" dirty="0"/>
          </a:p>
        </p:txBody>
      </p:sp>
      <p:sp>
        <p:nvSpPr>
          <p:cNvPr id="17" name="Text 15"/>
          <p:cNvSpPr txBox="1"/>
          <p:nvPr/>
        </p:nvSpPr>
        <p:spPr>
          <a:xfrm>
            <a:off x="566928" y="1691640"/>
            <a:ext cx="6766560" cy="320040"/>
          </a:xfrm>
          <a:prstGeom prst="rect">
            <a:avLst/>
          </a:prstGeom>
          <a:noFill/>
          <a:ln/>
        </p:spPr>
        <p:txBody>
          <a:bodyPr wrap="square" lIns="0" tIns="0" rIns="0" bIns="0" rtlCol="0" anchor="ctr"/>
          <a:lstStyle/>
          <a:p>
            <a:pPr indent="0" marL="0">
              <a:buNone/>
            </a:pPr>
            <a:r>
              <a:rPr lang="en-US" sz="1400" dirty="0">
                <a:solidFill>
                  <a:srgbClr val="111418"/>
                </a:solidFill>
                <a:latin typeface="Calibri" pitchFamily="34" charset="0"/>
                <a:ea typeface="Calibri" pitchFamily="34" charset="-122"/>
                <a:cs typeface="Calibri" pitchFamily="34" charset="-120"/>
              </a:rPr>
              <a:t>If bag size is the signal, then removing the image entirely should not hurt. We tested exactly that.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6766560" cy="914400"/>
        </p:xfrm>
        <a:graphic>
          <a:graphicData uri="http://schemas.openxmlformats.org/drawingml/2006/table">
            <a:tbl>
              <a:tblPr/>
              <a:tblGrid>
                <a:gridCol w="3840480"/>
                <a:gridCol w="1371600"/>
                <a:gridCol w="15544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 classifier is given</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Image content?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Bounding-box mask only — all pixels zeroed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A62B1F"/>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0.7708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Random ViT, full 1,152-d latent vector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full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A62B1F"/>
                          </a:solidFill>
                          <a:latin typeface="Calibri" pitchFamily="34" charset="0"/>
                          <a:ea typeface="Calibri" pitchFamily="34" charset="-122"/>
                          <a:cs typeface="Calibri" pitchFamily="34" charset="-120"/>
                        </a:rPr>
                        <a:t>0.7705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I-JEPA, full 1,152-d latent vector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full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0.7663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Two thresholds on bbox side length — no network</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A62B1F"/>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0.7567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Shape 16"/>
          <p:cNvSpPr/>
          <p:nvPr/>
        </p:nvSpPr>
        <p:spPr>
          <a:xfrm>
            <a:off x="566928" y="4434840"/>
            <a:ext cx="6766560" cy="1371600"/>
          </a:xfrm>
          <a:prstGeom prst="roundRect">
            <a:avLst>
              <a:gd name="adj" fmla="val 4667"/>
            </a:avLst>
          </a:prstGeom>
          <a:solidFill>
            <a:srgbClr val="FBF3F2"/>
          </a:solidFill>
          <a:ln/>
        </p:spPr>
      </p:sp>
      <p:sp>
        <p:nvSpPr>
          <p:cNvPr id="20" name="Text 17"/>
          <p:cNvSpPr txBox="1"/>
          <p:nvPr/>
        </p:nvSpPr>
        <p:spPr>
          <a:xfrm>
            <a:off x="749808" y="4562856"/>
            <a:ext cx="6400800"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Read the first two rows together</a:t>
            </a:r>
            <a:endParaRPr lang="en-US" sz="1450" dirty="0"/>
          </a:p>
        </p:txBody>
      </p:sp>
      <p:sp>
        <p:nvSpPr>
          <p:cNvPr id="21" name="Text 18"/>
          <p:cNvSpPr txBox="1"/>
          <p:nvPr/>
        </p:nvSpPr>
        <p:spPr>
          <a:xfrm>
            <a:off x="749808" y="4892040"/>
            <a:ext cx="6400800" cy="7498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A mask with no image and a random projection with the full image land within 0.0003 of each other. The encoder contributes nothing measurable — not because the encoders are equivalent, but because this protocol never asks them anything.</a:t>
            </a:r>
            <a:endParaRPr lang="en-US" sz="1200" dirty="0"/>
          </a:p>
        </p:txBody>
      </p:sp>
      <p:sp>
        <p:nvSpPr>
          <p:cNvPr id="22" name="Shape 19"/>
          <p:cNvSpPr/>
          <p:nvPr/>
        </p:nvSpPr>
        <p:spPr>
          <a:xfrm>
            <a:off x="7543800" y="1691640"/>
            <a:ext cx="4087368" cy="4023360"/>
          </a:xfrm>
          <a:prstGeom prst="roundRect">
            <a:avLst>
              <a:gd name="adj" fmla="val 1591"/>
            </a:avLst>
          </a:prstGeom>
          <a:solidFill>
            <a:srgbClr val="F4F6F7"/>
          </a:solidFill>
          <a:ln/>
        </p:spPr>
      </p:sp>
      <p:sp>
        <p:nvSpPr>
          <p:cNvPr id="23" name="Text 20"/>
          <p:cNvSpPr txBox="1"/>
          <p:nvPr/>
        </p:nvSpPr>
        <p:spPr>
          <a:xfrm>
            <a:off x="7726680" y="1819656"/>
            <a:ext cx="372160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What this does and does not prove</a:t>
            </a:r>
            <a:endParaRPr lang="en-US" sz="1450" dirty="0"/>
          </a:p>
        </p:txBody>
      </p:sp>
      <p:sp>
        <p:nvSpPr>
          <p:cNvPr id="24" name="Text 21"/>
          <p:cNvSpPr txBox="1"/>
          <p:nvPr/>
        </p:nvSpPr>
        <p:spPr>
          <a:xfrm>
            <a:off x="7726680" y="2148840"/>
            <a:ext cx="3721608" cy="340156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It does NOT prove that self-supervised pre-training is useless.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SOLUTION  ·  STEP 1</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Removing the bias: the box becomes a pointer</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Same frozen encoders</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Each other, unchanged</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Fixed count K — new</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Everything else held constant</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7 / 27</a:t>
            </a:r>
            <a:endParaRPr lang="en-US" sz="1050" dirty="0"/>
          </a:p>
        </p:txBody>
      </p:sp>
      <p:sp>
        <p:nvSpPr>
          <p:cNvPr id="17" name="Text 15"/>
          <p:cNvSpPr txBox="1"/>
          <p:nvPr/>
        </p:nvSpPr>
        <p:spPr>
          <a:xfrm>
            <a:off x="566928" y="1691640"/>
            <a:ext cx="5852160" cy="685800"/>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Keep the box centre, take the K nearest tokens, same K for every class. Bag size becomes constant, so it can no longer carry the label — while localisation, which is legitimate information, is preserved.</a:t>
            </a:r>
            <a:endParaRPr lang="en-US" sz="1350" dirty="0"/>
          </a:p>
        </p:txBody>
      </p:sp>
      <p:sp>
        <p:nvSpPr>
          <p:cNvPr id="18" name="Text 16"/>
          <p:cNvSpPr txBox="1"/>
          <p:nvPr/>
        </p:nvSpPr>
        <p:spPr>
          <a:xfrm>
            <a:off x="1344168" y="2606040"/>
            <a:ext cx="1856232" cy="237744"/>
          </a:xfrm>
          <a:prstGeom prst="rect">
            <a:avLst/>
          </a:prstGeom>
          <a:noFill/>
          <a:ln/>
        </p:spPr>
        <p:txBody>
          <a:bodyPr wrap="square" lIns="0" tIns="0" rIns="0" bIns="0" rtlCol="0" anchor="ctr"/>
          <a:lstStyle/>
          <a:p>
            <a:pPr algn="ctr" indent="0" marL="0">
              <a:buNone/>
            </a:pPr>
            <a:r>
              <a:rPr lang="en-US" sz="1150" b="1" dirty="0">
                <a:solidFill>
                  <a:srgbClr val="A62B1F"/>
                </a:solidFill>
                <a:latin typeface="Calibri" pitchFamily="34" charset="0"/>
                <a:ea typeface="Calibri" pitchFamily="34" charset="-122"/>
                <a:cs typeface="Calibri" pitchFamily="34" charset="-120"/>
              </a:rPr>
              <a:t>Prescribed: bag varies</a:t>
            </a:r>
            <a:endParaRPr lang="en-US" sz="1150" dirty="0"/>
          </a:p>
        </p:txBody>
      </p:sp>
      <p:sp>
        <p:nvSpPr>
          <p:cNvPr id="19" name="Text 17"/>
          <p:cNvSpPr txBox="1"/>
          <p:nvPr/>
        </p:nvSpPr>
        <p:spPr>
          <a:xfrm>
            <a:off x="3355848" y="2606040"/>
            <a:ext cx="1856232" cy="237744"/>
          </a:xfrm>
          <a:prstGeom prst="rect">
            <a:avLst/>
          </a:prstGeom>
          <a:noFill/>
          <a:ln/>
        </p:spPr>
        <p:txBody>
          <a:bodyPr wrap="square" lIns="0" tIns="0" rIns="0" bIns="0" rtlCol="0" anchor="ctr"/>
          <a:lstStyle/>
          <a:p>
            <a:pPr algn="ctr" indent="0" marL="0">
              <a:buNone/>
            </a:pPr>
            <a:r>
              <a:rPr lang="en-US" sz="1150" b="1" dirty="0">
                <a:solidFill>
                  <a:srgbClr val="1F6F43"/>
                </a:solidFill>
                <a:latin typeface="Calibri" pitchFamily="34" charset="0"/>
                <a:ea typeface="Calibri" pitchFamily="34" charset="-122"/>
                <a:cs typeface="Calibri" pitchFamily="34" charset="-120"/>
              </a:rPr>
              <a:t>Fixed count K = 16</a:t>
            </a:r>
            <a:endParaRPr lang="en-US" sz="1150" dirty="0"/>
          </a:p>
        </p:txBody>
      </p:sp>
      <p:sp>
        <p:nvSpPr>
          <p:cNvPr id="20" name="Text 18"/>
          <p:cNvSpPr txBox="1"/>
          <p:nvPr/>
        </p:nvSpPr>
        <p:spPr>
          <a:xfrm>
            <a:off x="566928" y="2971800"/>
            <a:ext cx="713232" cy="274320"/>
          </a:xfrm>
          <a:prstGeom prst="rect">
            <a:avLst/>
          </a:prstGeom>
          <a:noFill/>
          <a:ln/>
        </p:spPr>
        <p:txBody>
          <a:bodyPr wrap="square" lIns="0" tIns="0" rIns="0" bIns="0" rtlCol="0" anchor="ctr"/>
          <a:lstStyle/>
          <a:p>
            <a:pPr indent="0" marL="0">
              <a:buNone/>
            </a:pPr>
            <a:r>
              <a:rPr lang="en-US" sz="1100" dirty="0">
                <a:solidFill>
                  <a:srgbClr val="111418"/>
                </a:solidFill>
                <a:latin typeface="Calibri" pitchFamily="34" charset="0"/>
                <a:ea typeface="Calibri" pitchFamily="34" charset="-122"/>
                <a:cs typeface="Calibri" pitchFamily="34" charset="-120"/>
              </a:rPr>
              <a:t>PAI 3</a:t>
            </a:r>
            <a:endParaRPr lang="en-US" sz="1100" dirty="0"/>
          </a:p>
        </p:txBody>
      </p:sp>
      <p:sp>
        <p:nvSpPr>
          <p:cNvPr id="21" name="Shape 19"/>
          <p:cNvSpPr/>
          <p:nvPr/>
        </p:nvSpPr>
        <p:spPr>
          <a:xfrm>
            <a:off x="1344168" y="2907792"/>
            <a:ext cx="1856232" cy="1856232"/>
          </a:xfrm>
          <a:prstGeom prst="rect">
            <a:avLst/>
          </a:prstGeom>
          <a:solidFill>
            <a:srgbClr val="EDF0F2"/>
          </a:solidFill>
          <a:ln w="9525">
            <a:solidFill>
              <a:srgbClr val="D6DBDF"/>
            </a:solidFill>
            <a:prstDash val="solid"/>
          </a:ln>
        </p:spPr>
      </p:sp>
      <p:sp>
        <p:nvSpPr>
          <p:cNvPr id="22" name="Shape 20"/>
          <p:cNvSpPr/>
          <p:nvPr/>
        </p:nvSpPr>
        <p:spPr>
          <a:xfrm>
            <a:off x="2007108" y="3570732"/>
            <a:ext cx="530352" cy="530352"/>
          </a:xfrm>
          <a:prstGeom prst="rect">
            <a:avLst/>
          </a:prstGeom>
          <a:solidFill>
            <a:srgbClr val="A62B1F"/>
          </a:solidFill>
          <a:ln/>
        </p:spPr>
      </p:sp>
      <p:sp>
        <p:nvSpPr>
          <p:cNvPr id="23" name="Shape 21"/>
          <p:cNvSpPr/>
          <p:nvPr/>
        </p:nvSpPr>
        <p:spPr>
          <a:xfrm>
            <a:off x="2007108" y="3570732"/>
            <a:ext cx="530352" cy="530352"/>
          </a:xfrm>
          <a:prstGeom prst="rect">
            <a:avLst/>
          </a:prstGeom>
          <a:ln w="19050">
            <a:solidFill>
              <a:srgbClr val="111418"/>
            </a:solidFill>
            <a:prstDash val="dash"/>
          </a:ln>
        </p:spPr>
      </p:sp>
      <p:sp>
        <p:nvSpPr>
          <p:cNvPr id="24" name="Shape 22"/>
          <p:cNvSpPr/>
          <p:nvPr/>
        </p:nvSpPr>
        <p:spPr>
          <a:xfrm>
            <a:off x="3355848" y="2907792"/>
            <a:ext cx="1856232" cy="1856232"/>
          </a:xfrm>
          <a:prstGeom prst="rect">
            <a:avLst/>
          </a:prstGeom>
          <a:solidFill>
            <a:srgbClr val="EDF0F2"/>
          </a:solidFill>
          <a:ln w="9525">
            <a:solidFill>
              <a:srgbClr val="D6DBDF"/>
            </a:solidFill>
            <a:prstDash val="solid"/>
          </a:ln>
        </p:spPr>
      </p:sp>
      <p:sp>
        <p:nvSpPr>
          <p:cNvPr id="25" name="Shape 23"/>
          <p:cNvSpPr/>
          <p:nvPr/>
        </p:nvSpPr>
        <p:spPr>
          <a:xfrm>
            <a:off x="4018788" y="3570732"/>
            <a:ext cx="530352" cy="530352"/>
          </a:xfrm>
          <a:prstGeom prst="rect">
            <a:avLst/>
          </a:prstGeom>
          <a:solidFill>
            <a:srgbClr val="1F6F43"/>
          </a:solidFill>
          <a:ln/>
        </p:spPr>
      </p:sp>
      <p:sp>
        <p:nvSpPr>
          <p:cNvPr id="26" name="Shape 24"/>
          <p:cNvSpPr/>
          <p:nvPr/>
        </p:nvSpPr>
        <p:spPr>
          <a:xfrm>
            <a:off x="4018788" y="3570732"/>
            <a:ext cx="530352" cy="530352"/>
          </a:xfrm>
          <a:prstGeom prst="rect">
            <a:avLst/>
          </a:prstGeom>
          <a:ln w="19050">
            <a:solidFill>
              <a:srgbClr val="111418"/>
            </a:solidFill>
            <a:prstDash val="dash"/>
          </a:ln>
        </p:spPr>
      </p:sp>
      <p:sp>
        <p:nvSpPr>
          <p:cNvPr id="27" name="Text 25"/>
          <p:cNvSpPr txBox="1"/>
          <p:nvPr/>
        </p:nvSpPr>
        <p:spPr>
          <a:xfrm>
            <a:off x="566928" y="4846320"/>
            <a:ext cx="713232" cy="274320"/>
          </a:xfrm>
          <a:prstGeom prst="rect">
            <a:avLst/>
          </a:prstGeom>
          <a:noFill/>
          <a:ln/>
        </p:spPr>
        <p:txBody>
          <a:bodyPr wrap="square" lIns="0" tIns="0" rIns="0" bIns="0" rtlCol="0" anchor="ctr"/>
          <a:lstStyle/>
          <a:p>
            <a:pPr indent="0" marL="0">
              <a:buNone/>
            </a:pPr>
            <a:r>
              <a:rPr lang="en-US" sz="1100" dirty="0">
                <a:solidFill>
                  <a:srgbClr val="111418"/>
                </a:solidFill>
                <a:latin typeface="Calibri" pitchFamily="34" charset="0"/>
                <a:ea typeface="Calibri" pitchFamily="34" charset="-122"/>
                <a:cs typeface="Calibri" pitchFamily="34" charset="-120"/>
              </a:rPr>
              <a:t>PAI 5</a:t>
            </a:r>
            <a:endParaRPr lang="en-US" sz="1100" dirty="0"/>
          </a:p>
        </p:txBody>
      </p:sp>
      <p:sp>
        <p:nvSpPr>
          <p:cNvPr id="28" name="Shape 26"/>
          <p:cNvSpPr/>
          <p:nvPr/>
        </p:nvSpPr>
        <p:spPr>
          <a:xfrm>
            <a:off x="1344168" y="4782312"/>
            <a:ext cx="1856232" cy="1856232"/>
          </a:xfrm>
          <a:prstGeom prst="rect">
            <a:avLst/>
          </a:prstGeom>
          <a:solidFill>
            <a:srgbClr val="EDF0F2"/>
          </a:solidFill>
          <a:ln w="9525">
            <a:solidFill>
              <a:srgbClr val="D6DBDF"/>
            </a:solidFill>
            <a:prstDash val="solid"/>
          </a:ln>
        </p:spPr>
      </p:sp>
      <p:sp>
        <p:nvSpPr>
          <p:cNvPr id="29" name="Shape 27"/>
          <p:cNvSpPr/>
          <p:nvPr/>
        </p:nvSpPr>
        <p:spPr>
          <a:xfrm>
            <a:off x="1741932" y="5180076"/>
            <a:ext cx="1060704" cy="1060704"/>
          </a:xfrm>
          <a:prstGeom prst="rect">
            <a:avLst/>
          </a:prstGeom>
          <a:solidFill>
            <a:srgbClr val="A62B1F"/>
          </a:solidFill>
          <a:ln/>
        </p:spPr>
      </p:sp>
      <p:sp>
        <p:nvSpPr>
          <p:cNvPr id="30" name="Shape 28"/>
          <p:cNvSpPr/>
          <p:nvPr/>
        </p:nvSpPr>
        <p:spPr>
          <a:xfrm>
            <a:off x="1741932" y="5180076"/>
            <a:ext cx="1060704" cy="1060704"/>
          </a:xfrm>
          <a:prstGeom prst="rect">
            <a:avLst/>
          </a:prstGeom>
          <a:ln w="19050">
            <a:solidFill>
              <a:srgbClr val="111418"/>
            </a:solidFill>
            <a:prstDash val="dash"/>
          </a:ln>
        </p:spPr>
      </p:sp>
      <p:sp>
        <p:nvSpPr>
          <p:cNvPr id="31" name="Shape 29"/>
          <p:cNvSpPr/>
          <p:nvPr/>
        </p:nvSpPr>
        <p:spPr>
          <a:xfrm>
            <a:off x="3355848" y="4782312"/>
            <a:ext cx="1856232" cy="1856232"/>
          </a:xfrm>
          <a:prstGeom prst="rect">
            <a:avLst/>
          </a:prstGeom>
          <a:solidFill>
            <a:srgbClr val="EDF0F2"/>
          </a:solidFill>
          <a:ln w="9525">
            <a:solidFill>
              <a:srgbClr val="D6DBDF"/>
            </a:solidFill>
            <a:prstDash val="solid"/>
          </a:ln>
        </p:spPr>
      </p:sp>
      <p:sp>
        <p:nvSpPr>
          <p:cNvPr id="32" name="Shape 30"/>
          <p:cNvSpPr/>
          <p:nvPr/>
        </p:nvSpPr>
        <p:spPr>
          <a:xfrm>
            <a:off x="4018788" y="5445252"/>
            <a:ext cx="530352" cy="530352"/>
          </a:xfrm>
          <a:prstGeom prst="rect">
            <a:avLst/>
          </a:prstGeom>
          <a:solidFill>
            <a:srgbClr val="1F6F43"/>
          </a:solidFill>
          <a:ln/>
        </p:spPr>
      </p:sp>
      <p:sp>
        <p:nvSpPr>
          <p:cNvPr id="33" name="Shape 31"/>
          <p:cNvSpPr/>
          <p:nvPr/>
        </p:nvSpPr>
        <p:spPr>
          <a:xfrm>
            <a:off x="3753612" y="5180076"/>
            <a:ext cx="1060704" cy="1060704"/>
          </a:xfrm>
          <a:prstGeom prst="rect">
            <a:avLst/>
          </a:prstGeom>
          <a:ln w="19050">
            <a:solidFill>
              <a:srgbClr val="111418"/>
            </a:solidFill>
            <a:prstDash val="dash"/>
          </a:ln>
        </p:spPr>
      </p:sp>
      <p:sp>
        <p:nvSpPr>
          <p:cNvPr id="34" name="Text 32"/>
          <p:cNvSpPr txBox="1"/>
          <p:nvPr/>
        </p:nvSpPr>
        <p:spPr>
          <a:xfrm>
            <a:off x="1344168" y="6400800"/>
            <a:ext cx="1856232" cy="219456"/>
          </a:xfrm>
          <a:prstGeom prst="rect">
            <a:avLst/>
          </a:prstGeom>
          <a:noFill/>
          <a:ln/>
        </p:spPr>
        <p:txBody>
          <a:bodyPr wrap="square" lIns="0" tIns="0" rIns="0" bIns="0" rtlCol="0" anchor="ctr"/>
          <a:lstStyle/>
          <a:p>
            <a:pPr algn="ctr" indent="0" marL="0">
              <a:buNone/>
            </a:pPr>
            <a:r>
              <a:rPr lang="en-US" sz="1100" b="1" dirty="0">
                <a:solidFill>
                  <a:srgbClr val="A62B1F"/>
                </a:solidFill>
                <a:latin typeface="Calibri" pitchFamily="34" charset="0"/>
                <a:ea typeface="Calibri" pitchFamily="34" charset="-122"/>
                <a:cs typeface="Calibri" pitchFamily="34" charset="-120"/>
              </a:rPr>
              <a:t>16 vs 64 tokens</a:t>
            </a:r>
            <a:endParaRPr lang="en-US" sz="1100" dirty="0"/>
          </a:p>
        </p:txBody>
      </p:sp>
      <p:sp>
        <p:nvSpPr>
          <p:cNvPr id="35" name="Text 33"/>
          <p:cNvSpPr txBox="1"/>
          <p:nvPr/>
        </p:nvSpPr>
        <p:spPr>
          <a:xfrm>
            <a:off x="3355848" y="6400800"/>
            <a:ext cx="1856232" cy="219456"/>
          </a:xfrm>
          <a:prstGeom prst="rect">
            <a:avLst/>
          </a:prstGeom>
          <a:noFill/>
          <a:ln/>
        </p:spPr>
        <p:txBody>
          <a:bodyPr wrap="square" lIns="0" tIns="0" rIns="0" bIns="0" rtlCol="0" anchor="ctr"/>
          <a:lstStyle/>
          <a:p>
            <a:pPr algn="ctr" indent="0" marL="0">
              <a:buNone/>
            </a:pPr>
            <a:r>
              <a:rPr lang="en-US" sz="1100" b="1" dirty="0">
                <a:solidFill>
                  <a:srgbClr val="1F6F43"/>
                </a:solidFill>
                <a:latin typeface="Calibri" pitchFamily="34" charset="0"/>
                <a:ea typeface="Calibri" pitchFamily="34" charset="-122"/>
                <a:cs typeface="Calibri" pitchFamily="34" charset="-120"/>
              </a:rPr>
              <a:t>16 vs 16 tokens</a:t>
            </a:r>
            <a:endParaRPr lang="en-US" sz="1100" dirty="0"/>
          </a:p>
        </p:txBody>
      </p:sp>
      <p:sp>
        <p:nvSpPr>
          <p:cNvPr id="36" name="Shape 34"/>
          <p:cNvSpPr/>
          <p:nvPr/>
        </p:nvSpPr>
        <p:spPr>
          <a:xfrm>
            <a:off x="6675120" y="1691640"/>
            <a:ext cx="4956048" cy="1965960"/>
          </a:xfrm>
          <a:prstGeom prst="roundRect">
            <a:avLst>
              <a:gd name="adj" fmla="val 3256"/>
            </a:avLst>
          </a:prstGeom>
          <a:solidFill>
            <a:srgbClr val="F4F6F7"/>
          </a:solidFill>
          <a:ln/>
        </p:spPr>
      </p:sp>
      <p:sp>
        <p:nvSpPr>
          <p:cNvPr id="37" name="Text 35"/>
          <p:cNvSpPr txBox="1"/>
          <p:nvPr/>
        </p:nvSpPr>
        <p:spPr>
          <a:xfrm>
            <a:off x="6858000" y="1819656"/>
            <a:ext cx="459028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What is held constant — say this out loud</a:t>
            </a:r>
            <a:endParaRPr lang="en-US" sz="1450" dirty="0"/>
          </a:p>
        </p:txBody>
      </p:sp>
      <p:sp>
        <p:nvSpPr>
          <p:cNvPr id="38" name="Text 36"/>
          <p:cNvSpPr txBox="1"/>
          <p:nvPr/>
        </p:nvSpPr>
        <p:spPr>
          <a:xfrm>
            <a:off x="6858000" y="2148840"/>
            <a:ext cx="4590288" cy="134416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Same 224 px crop, same resolution, same apparent lesion scale, same frozen encoder tokens, same pooling, same head, same five seeds. The only thing that changes is which tokens are aggregated.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75120" y="3931920"/>
          <a:ext cx="4956048" cy="914400"/>
        </p:xfrm>
        <a:graphic>
          <a:graphicData uri="http://schemas.openxmlformats.org/drawingml/2006/table">
            <a:tbl>
              <a:tblPr/>
              <a:tblGrid>
                <a:gridCol w="822960"/>
                <a:gridCol w="2212848"/>
                <a:gridCol w="1920240"/>
              </a:tblGrid>
              <a:tr h="0">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K</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tokens inside lesion</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lesion covered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99.3 %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73.2 %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65.1 %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92.5 %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41.9 %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97.9 %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40" name="Text 37"/>
          <p:cNvSpPr txBox="1"/>
          <p:nvPr/>
        </p:nvSpPr>
        <p:spPr>
          <a:xfrm>
            <a:off x="6675120" y="5394960"/>
            <a:ext cx="4956048" cy="914400"/>
          </a:xfrm>
          <a:prstGeom prst="rect">
            <a:avLst/>
          </a:prstGeom>
          <a:noFill/>
          <a:ln/>
        </p:spPr>
        <p:txBody>
          <a:bodyPr wrap="square" lIns="0" tIns="0" rIns="0" bIns="0" rtlCol="0" anchor="ctr"/>
          <a:lstStyle/>
          <a:p>
            <a:pPr indent="0" marL="0">
              <a:lnSpc>
                <a:spcPts val="1700"/>
              </a:lnSpc>
              <a:buNone/>
            </a:pPr>
            <a:r>
              <a:rPr lang="en-US" sz="1150" dirty="0">
                <a:solidFill>
                  <a:srgbClr val="111418"/>
                </a:solidFill>
                <a:latin typeface="Calibri" pitchFamily="34" charset="0"/>
                <a:ea typeface="Calibri" pitchFamily="34" charset="-122"/>
                <a:cs typeface="Calibri" pitchFamily="34" charset="-120"/>
              </a:rPr>
              <a:t>K controls how much healthy bone enters the window, so the task shifts from “what does this tissue look like” to “how much of this window is lesion” — a question only an encoder that distinguishes lesion from bone can answer.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SOLUTION  ·  STEP 2</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control that makes the correction defensible</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I-JEPA (frozen, ep. 69)</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Random ViT (frozen)</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Two-factor design</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macro-F1, test, 5 seeds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8 / 27</a:t>
            </a:r>
            <a:endParaRPr lang="en-US" sz="1050" dirty="0"/>
          </a:p>
        </p:txBody>
      </p:sp>
      <p:sp>
        <p:nvSpPr>
          <p:cNvPr id="17" name="Text 15"/>
          <p:cNvSpPr txBox="1"/>
          <p:nvPr/>
        </p:nvSpPr>
        <p:spPr>
          <a:xfrm>
            <a:off x="566928" y="1691640"/>
            <a:ext cx="6675120" cy="457200"/>
          </a:xfrm>
          <a:prstGeom prst="rect">
            <a:avLst/>
          </a:prstGeom>
          <a:noFill/>
          <a:ln/>
        </p:spPr>
        <p:txBody>
          <a:bodyPr wrap="square" lIns="0" tIns="0" rIns="0" bIns="0" rtlCol="0" anchor="ctr"/>
          <a:lstStyle/>
          <a:p>
            <a:pPr indent="0" marL="0">
              <a:buNone/>
            </a:pPr>
            <a:r>
              <a:rPr lang="en-US" sz="1400" dirty="0">
                <a:solidFill>
                  <a:srgbClr val="111418"/>
                </a:solidFill>
                <a:latin typeface="Calibri" pitchFamily="34" charset="0"/>
                <a:ea typeface="Calibri" pitchFamily="34" charset="-122"/>
                <a:cs typeface="Calibri" pitchFamily="34" charset="-120"/>
              </a:rPr>
              <a:t>A protocol built to favour our model would help it everywhere. We therefore built a design in which it must NOT help in two of three cells.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2286000"/>
                <a:gridCol w="1463040"/>
                <a:gridCol w="1463040"/>
                <a:gridCol w="2103120"/>
                <a:gridCol w="1371600"/>
                <a:gridCol w="23774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Bag-size cue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Localisation</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I-JEPA − random</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As prescribed (bbox)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−0.0041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tie — as predicted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Fixed 6×6 grid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−0.0046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tie — as predicted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Fixed count K</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+0.05 … +0.07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+3.1 … +5.7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F6F43"/>
                          </a:solidFill>
                          <a:latin typeface="Calibri" pitchFamily="34" charset="0"/>
                          <a:ea typeface="Calibri" pitchFamily="34" charset="-122"/>
                          <a:cs typeface="Calibri" pitchFamily="34" charset="-120"/>
                        </a:rPr>
                        <a:t>I-JEPA wins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Shape 16"/>
          <p:cNvSpPr/>
          <p:nvPr/>
        </p:nvSpPr>
        <p:spPr>
          <a:xfrm>
            <a:off x="566928" y="4160520"/>
            <a:ext cx="5394960" cy="1828800"/>
          </a:xfrm>
          <a:prstGeom prst="roundRect">
            <a:avLst>
              <a:gd name="adj" fmla="val 3500"/>
            </a:avLst>
          </a:prstGeom>
          <a:solidFill>
            <a:srgbClr val="FBF3F2"/>
          </a:solidFill>
          <a:ln/>
        </p:spPr>
      </p:sp>
      <p:sp>
        <p:nvSpPr>
          <p:cNvPr id="20" name="Text 17"/>
          <p:cNvSpPr txBox="1"/>
          <p:nvPr/>
        </p:nvSpPr>
        <p:spPr>
          <a:xfrm>
            <a:off x="749808" y="4288536"/>
            <a:ext cx="5029200"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Answering the hostile question</a:t>
            </a:r>
            <a:endParaRPr lang="en-US" sz="1450" dirty="0"/>
          </a:p>
        </p:txBody>
      </p:sp>
      <p:sp>
        <p:nvSpPr>
          <p:cNvPr id="21" name="Text 18"/>
          <p:cNvSpPr txBox="1"/>
          <p:nvPr/>
        </p:nvSpPr>
        <p:spPr>
          <a:xfrm>
            <a:off x="749808" y="4617720"/>
            <a:ext cx="5029200" cy="12070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“Did you design a protocol that flatters your model?” — On the fixed grid, which removes the cue but also removes localisation, I-JEPA does not win. If we had gone looking for a favourable protocol, that row would be one to hide. We report it because it is what makes the third row interpretable.</a:t>
            </a:r>
            <a:endParaRPr lang="en-US" sz="1200" dirty="0"/>
          </a:p>
        </p:txBody>
      </p:sp>
      <p:sp>
        <p:nvSpPr>
          <p:cNvPr id="22" name="Shape 19"/>
          <p:cNvSpPr/>
          <p:nvPr/>
        </p:nvSpPr>
        <p:spPr>
          <a:xfrm>
            <a:off x="6172200" y="4160520"/>
            <a:ext cx="5458968" cy="1828800"/>
          </a:xfrm>
          <a:prstGeom prst="roundRect">
            <a:avLst>
              <a:gd name="adj" fmla="val 3500"/>
            </a:avLst>
          </a:prstGeom>
          <a:solidFill>
            <a:srgbClr val="F1F6F2"/>
          </a:solidFill>
          <a:ln/>
        </p:spPr>
      </p:sp>
      <p:sp>
        <p:nvSpPr>
          <p:cNvPr id="23" name="Text 20"/>
          <p:cNvSpPr txBox="1"/>
          <p:nvPr/>
        </p:nvSpPr>
        <p:spPr>
          <a:xfrm>
            <a:off x="6355080" y="4288536"/>
            <a:ext cx="509320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What the design isolates</a:t>
            </a:r>
            <a:endParaRPr lang="en-US" sz="1450" dirty="0"/>
          </a:p>
        </p:txBody>
      </p:sp>
      <p:sp>
        <p:nvSpPr>
          <p:cNvPr id="24" name="Text 21"/>
          <p:cNvSpPr txBox="1"/>
          <p:nvPr/>
        </p:nvSpPr>
        <p:spPr>
          <a:xfrm>
            <a:off x="6355080" y="4617720"/>
            <a:ext cx="5093208" cy="12070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advantage appears only when the bag-size cue is gone AND localisation is kept. So the bounding box is genuinely useful — as a pointer, telling the model where to look — and harmful as a counter, telling it the answer. That distinction is the contribution.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OBJECTIVE 1</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network: two encoders and a deliberately small predictor</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9 / 27</a:t>
            </a:r>
            <a:endParaRPr lang="en-US" sz="1050" dirty="0"/>
          </a:p>
        </p:txBody>
      </p:sp>
      <p:sp>
        <p:nvSpPr>
          <p:cNvPr id="5" name="Shape 3"/>
          <p:cNvSpPr/>
          <p:nvPr/>
        </p:nvSpPr>
        <p:spPr>
          <a:xfrm>
            <a:off x="566928" y="1280160"/>
            <a:ext cx="3200400" cy="2286000"/>
          </a:xfrm>
          <a:prstGeom prst="roundRect">
            <a:avLst>
              <a:gd name="adj" fmla="val 2400"/>
            </a:avLst>
          </a:prstGeom>
          <a:solidFill>
            <a:srgbClr val="FFFFFF"/>
          </a:solidFill>
          <a:ln w="20320">
            <a:solidFill>
              <a:srgbClr val="0B3C49"/>
            </a:solidFill>
            <a:prstDash val="solid"/>
          </a:ln>
        </p:spPr>
      </p:sp>
      <p:sp>
        <p:nvSpPr>
          <p:cNvPr id="6" name="Text 4"/>
          <p:cNvSpPr txBox="1"/>
          <p:nvPr/>
        </p:nvSpPr>
        <p:spPr>
          <a:xfrm>
            <a:off x="658368" y="1389888"/>
            <a:ext cx="3017520" cy="256032"/>
          </a:xfrm>
          <a:prstGeom prst="rect">
            <a:avLst/>
          </a:prstGeom>
          <a:noFill/>
          <a:ln/>
        </p:spPr>
        <p:txBody>
          <a:bodyPr wrap="square" lIns="0" tIns="0" rIns="0" bIns="0" rtlCol="0" anchor="ctr"/>
          <a:lstStyle/>
          <a:p>
            <a:pPr algn="ctr" indent="0" marL="0">
              <a:buNone/>
            </a:pPr>
            <a:r>
              <a:rPr lang="en-US" sz="1250" b="1" dirty="0">
                <a:solidFill>
                  <a:srgbClr val="0B3C49"/>
                </a:solidFill>
                <a:latin typeface="Calibri" pitchFamily="34" charset="0"/>
                <a:ea typeface="Calibri" pitchFamily="34" charset="-122"/>
                <a:cs typeface="Calibri" pitchFamily="34" charset="-120"/>
              </a:rPr>
              <a:t>Context encoder</a:t>
            </a:r>
            <a:endParaRPr lang="en-US" sz="1250" dirty="0"/>
          </a:p>
        </p:txBody>
      </p:sp>
      <p:sp>
        <p:nvSpPr>
          <p:cNvPr id="7" name="Text 5"/>
          <p:cNvSpPr txBox="1"/>
          <p:nvPr/>
        </p:nvSpPr>
        <p:spPr>
          <a:xfrm>
            <a:off x="658368" y="1664208"/>
            <a:ext cx="3017520" cy="1508760"/>
          </a:xfrm>
          <a:prstGeom prst="rect">
            <a:avLst/>
          </a:prstGeom>
          <a:noFill/>
          <a:ln/>
        </p:spPr>
        <p:txBody>
          <a:bodyPr wrap="square" lIns="0" tIns="0" rIns="0" bIns="0" rtlCol="0" anchor="ctr"/>
          <a:lstStyle/>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ViT-S/16</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patch embed 16×16 → 384</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12 × Block (384, 6 heads)</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LayerNorm</a:t>
            </a:r>
            <a:endParaRPr lang="en-US" sz="1050" dirty="0"/>
          </a:p>
        </p:txBody>
      </p:sp>
      <p:sp>
        <p:nvSpPr>
          <p:cNvPr id="8" name="Text 6"/>
          <p:cNvSpPr txBox="1"/>
          <p:nvPr/>
        </p:nvSpPr>
        <p:spPr>
          <a:xfrm>
            <a:off x="658368" y="3200400"/>
            <a:ext cx="3017520" cy="256032"/>
          </a:xfrm>
          <a:prstGeom prst="rect">
            <a:avLst/>
          </a:prstGeom>
          <a:noFill/>
          <a:ln/>
        </p:spPr>
        <p:txBody>
          <a:bodyPr wrap="square" lIns="0" tIns="0" rIns="0" bIns="0" rtlCol="0" anchor="ctr"/>
          <a:lstStyle/>
          <a:p>
            <a:pPr algn="ctr" indent="0" marL="0">
              <a:buNone/>
            </a:pPr>
            <a:r>
              <a:rPr lang="en-US" sz="1150" b="1" dirty="0">
                <a:solidFill>
                  <a:srgbClr val="0B3C49"/>
                </a:solidFill>
                <a:latin typeface="Calibri" pitchFamily="34" charset="0"/>
                <a:ea typeface="Calibri" pitchFamily="34" charset="-122"/>
                <a:cs typeface="Calibri" pitchFamily="34" charset="-120"/>
              </a:rPr>
              <a:t>21,589,632 par.</a:t>
            </a:r>
            <a:endParaRPr lang="en-US" sz="1150" dirty="0"/>
          </a:p>
        </p:txBody>
      </p:sp>
      <p:sp>
        <p:nvSpPr>
          <p:cNvPr id="9" name="Shape 7"/>
          <p:cNvSpPr/>
          <p:nvPr/>
        </p:nvSpPr>
        <p:spPr>
          <a:xfrm>
            <a:off x="4087368" y="1280160"/>
            <a:ext cx="2743200" cy="2286000"/>
          </a:xfrm>
          <a:prstGeom prst="roundRect">
            <a:avLst>
              <a:gd name="adj" fmla="val 2400"/>
            </a:avLst>
          </a:prstGeom>
          <a:solidFill>
            <a:srgbClr val="FFFFFF"/>
          </a:solidFill>
          <a:ln w="20320">
            <a:solidFill>
              <a:srgbClr val="1F6F43"/>
            </a:solidFill>
            <a:prstDash val="solid"/>
          </a:ln>
        </p:spPr>
      </p:sp>
      <p:sp>
        <p:nvSpPr>
          <p:cNvPr id="10" name="Text 8"/>
          <p:cNvSpPr txBox="1"/>
          <p:nvPr/>
        </p:nvSpPr>
        <p:spPr>
          <a:xfrm>
            <a:off x="4178808" y="1389888"/>
            <a:ext cx="2560320" cy="256032"/>
          </a:xfrm>
          <a:prstGeom prst="rect">
            <a:avLst/>
          </a:prstGeom>
          <a:noFill/>
          <a:ln/>
        </p:spPr>
        <p:txBody>
          <a:bodyPr wrap="square" lIns="0" tIns="0" rIns="0" bIns="0" rtlCol="0" anchor="ctr"/>
          <a:lstStyle/>
          <a:p>
            <a:pPr algn="ctr" indent="0" marL="0">
              <a:buNone/>
            </a:pPr>
            <a:r>
              <a:rPr lang="en-US" sz="1250" b="1" dirty="0">
                <a:solidFill>
                  <a:srgbClr val="1F6F43"/>
                </a:solidFill>
                <a:latin typeface="Calibri" pitchFamily="34" charset="0"/>
                <a:ea typeface="Calibri" pitchFamily="34" charset="-122"/>
                <a:cs typeface="Calibri" pitchFamily="34" charset="-120"/>
              </a:rPr>
              <a:t>Predictor</a:t>
            </a:r>
            <a:endParaRPr lang="en-US" sz="1250" dirty="0"/>
          </a:p>
        </p:txBody>
      </p:sp>
      <p:sp>
        <p:nvSpPr>
          <p:cNvPr id="11" name="Text 9"/>
          <p:cNvSpPr txBox="1"/>
          <p:nvPr/>
        </p:nvSpPr>
        <p:spPr>
          <a:xfrm>
            <a:off x="4178808" y="1664208"/>
            <a:ext cx="2560320" cy="1508760"/>
          </a:xfrm>
          <a:prstGeom prst="rect">
            <a:avLst/>
          </a:prstGeom>
          <a:noFill/>
          <a:ln/>
        </p:spPr>
        <p:txBody>
          <a:bodyPr wrap="square" lIns="0" tIns="0" rIns="0" bIns="0" rtlCol="0" anchor="ctr"/>
          <a:lstStyle/>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384 → 96</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4 × Block (96, 3 heads)</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96 → 384</a:t>
            </a:r>
            <a:endParaRPr lang="en-US" sz="1050" dirty="0"/>
          </a:p>
        </p:txBody>
      </p:sp>
      <p:sp>
        <p:nvSpPr>
          <p:cNvPr id="12" name="Text 10"/>
          <p:cNvSpPr txBox="1"/>
          <p:nvPr/>
        </p:nvSpPr>
        <p:spPr>
          <a:xfrm>
            <a:off x="4178808" y="3200400"/>
            <a:ext cx="2560320" cy="256032"/>
          </a:xfrm>
          <a:prstGeom prst="rect">
            <a:avLst/>
          </a:prstGeom>
          <a:noFill/>
          <a:ln/>
        </p:spPr>
        <p:txBody>
          <a:bodyPr wrap="square" lIns="0" tIns="0" rIns="0" bIns="0" rtlCol="0" anchor="ctr"/>
          <a:lstStyle/>
          <a:p>
            <a:pPr algn="ctr" indent="0" marL="0">
              <a:buNone/>
            </a:pPr>
            <a:r>
              <a:rPr lang="en-US" sz="1150" b="1" dirty="0">
                <a:solidFill>
                  <a:srgbClr val="1F6F43"/>
                </a:solidFill>
                <a:latin typeface="Calibri" pitchFamily="34" charset="0"/>
                <a:ea typeface="Calibri" pitchFamily="34" charset="-122"/>
                <a:cs typeface="Calibri" pitchFamily="34" charset="-120"/>
              </a:rPr>
              <a:t>521,856 par.</a:t>
            </a:r>
            <a:endParaRPr lang="en-US" sz="1150" dirty="0"/>
          </a:p>
        </p:txBody>
      </p:sp>
      <p:sp>
        <p:nvSpPr>
          <p:cNvPr id="13" name="Shape 11"/>
          <p:cNvSpPr/>
          <p:nvPr/>
        </p:nvSpPr>
        <p:spPr>
          <a:xfrm>
            <a:off x="7150608" y="1280160"/>
            <a:ext cx="3200400" cy="2286000"/>
          </a:xfrm>
          <a:prstGeom prst="roundRect">
            <a:avLst>
              <a:gd name="adj" fmla="val 2400"/>
            </a:avLst>
          </a:prstGeom>
          <a:solidFill>
            <a:srgbClr val="FFFFFF"/>
          </a:solidFill>
          <a:ln w="20320">
            <a:solidFill>
              <a:srgbClr val="1C7293"/>
            </a:solidFill>
            <a:prstDash val="solid"/>
          </a:ln>
        </p:spPr>
      </p:sp>
      <p:sp>
        <p:nvSpPr>
          <p:cNvPr id="14" name="Text 12"/>
          <p:cNvSpPr txBox="1"/>
          <p:nvPr/>
        </p:nvSpPr>
        <p:spPr>
          <a:xfrm>
            <a:off x="7242048" y="1389888"/>
            <a:ext cx="3017520" cy="256032"/>
          </a:xfrm>
          <a:prstGeom prst="rect">
            <a:avLst/>
          </a:prstGeom>
          <a:noFill/>
          <a:ln/>
        </p:spPr>
        <p:txBody>
          <a:bodyPr wrap="square" lIns="0" tIns="0" rIns="0" bIns="0" rtlCol="0" anchor="ctr"/>
          <a:lstStyle/>
          <a:p>
            <a:pPr algn="ctr" indent="0" marL="0">
              <a:buNone/>
            </a:pPr>
            <a:r>
              <a:rPr lang="en-US" sz="1250" b="1" dirty="0">
                <a:solidFill>
                  <a:srgbClr val="1C7293"/>
                </a:solidFill>
                <a:latin typeface="Calibri" pitchFamily="34" charset="0"/>
                <a:ea typeface="Calibri" pitchFamily="34" charset="-122"/>
                <a:cs typeface="Calibri" pitchFamily="34" charset="-120"/>
              </a:rPr>
              <a:t>Target encoder</a:t>
            </a:r>
            <a:endParaRPr lang="en-US" sz="1250" dirty="0"/>
          </a:p>
        </p:txBody>
      </p:sp>
      <p:sp>
        <p:nvSpPr>
          <p:cNvPr id="15" name="Text 13"/>
          <p:cNvSpPr txBox="1"/>
          <p:nvPr/>
        </p:nvSpPr>
        <p:spPr>
          <a:xfrm>
            <a:off x="7242048" y="1664208"/>
            <a:ext cx="3017520" cy="1508760"/>
          </a:xfrm>
          <a:prstGeom prst="rect">
            <a:avLst/>
          </a:prstGeom>
          <a:noFill/>
          <a:ln/>
        </p:spPr>
        <p:txBody>
          <a:bodyPr wrap="square" lIns="0" tIns="0" rIns="0" bIns="0" rtlCol="0" anchor="ctr"/>
          <a:lstStyle/>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identical architecture</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same 12 blocks, same widths</a:t>
            </a:r>
            <a:endParaRPr lang="en-US" sz="1050" dirty="0"/>
          </a:p>
          <a:p>
            <a:pPr algn="ctr" indent="0" marL="0">
              <a:lnSpc>
                <a:spcPts val="1500"/>
              </a:lnSpc>
              <a:buNone/>
            </a:pPr>
            <a:r>
              <a:rPr lang="en-US" sz="1050" dirty="0">
                <a:solidFill>
                  <a:srgbClr val="111418"/>
                </a:solidFill>
                <a:latin typeface="Calibri" pitchFamily="34" charset="0"/>
                <a:ea typeface="Calibri" pitchFamily="34" charset="-122"/>
                <a:cs typeface="Calibri" pitchFamily="34" charset="-120"/>
              </a:rPr>
              <a:t>only the weight VALUES differ</a:t>
            </a:r>
            <a:endParaRPr lang="en-US" sz="1050" dirty="0"/>
          </a:p>
        </p:txBody>
      </p:sp>
      <p:sp>
        <p:nvSpPr>
          <p:cNvPr id="16" name="Text 14"/>
          <p:cNvSpPr txBox="1"/>
          <p:nvPr/>
        </p:nvSpPr>
        <p:spPr>
          <a:xfrm>
            <a:off x="7242048" y="3200400"/>
            <a:ext cx="3017520" cy="256032"/>
          </a:xfrm>
          <a:prstGeom prst="rect">
            <a:avLst/>
          </a:prstGeom>
          <a:noFill/>
          <a:ln/>
        </p:spPr>
        <p:txBody>
          <a:bodyPr wrap="square" lIns="0" tIns="0" rIns="0" bIns="0" rtlCol="0" anchor="ctr"/>
          <a:lstStyle/>
          <a:p>
            <a:pPr algn="ctr" indent="0" marL="0">
              <a:buNone/>
            </a:pPr>
            <a:r>
              <a:rPr lang="en-US" sz="1150" b="1" dirty="0">
                <a:solidFill>
                  <a:srgbClr val="1C7293"/>
                </a:solidFill>
                <a:latin typeface="Calibri" pitchFamily="34" charset="0"/>
                <a:ea typeface="Calibri" pitchFamily="34" charset="-122"/>
                <a:cs typeface="Calibri" pitchFamily="34" charset="-120"/>
              </a:rPr>
              <a:t>21,589,632 par.</a:t>
            </a:r>
            <a:endParaRPr lang="en-US" sz="1150" dirty="0"/>
          </a:p>
        </p:txBody>
      </p:sp>
      <p:sp>
        <p:nvSpPr>
          <p:cNvPr id="17" name="Text 15"/>
          <p:cNvSpPr txBox="1"/>
          <p:nvPr/>
        </p:nvSpPr>
        <p:spPr>
          <a:xfrm>
            <a:off x="3767328" y="3657600"/>
            <a:ext cx="5943600" cy="274320"/>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EMA:  θtarget ← τ·θtarget + (1−τ)·θcontext</a:t>
            </a:r>
            <a:endParaRPr lang="en-US" sz="1200" dirty="0"/>
          </a:p>
        </p:txBody>
      </p:sp>
      <p:sp>
        <p:nvSpPr>
          <p:cNvPr id="18" name="Shape 16"/>
          <p:cNvSpPr/>
          <p:nvPr/>
        </p:nvSpPr>
        <p:spPr>
          <a:xfrm>
            <a:off x="566928" y="4069080"/>
            <a:ext cx="5486400" cy="1920240"/>
          </a:xfrm>
          <a:prstGeom prst="roundRect">
            <a:avLst>
              <a:gd name="adj" fmla="val 3333"/>
            </a:avLst>
          </a:prstGeom>
          <a:solidFill>
            <a:srgbClr val="F4F6F7"/>
          </a:solidFill>
          <a:ln/>
        </p:spPr>
      </p:sp>
      <p:sp>
        <p:nvSpPr>
          <p:cNvPr id="19" name="Text 17"/>
          <p:cNvSpPr txBox="1"/>
          <p:nvPr/>
        </p:nvSpPr>
        <p:spPr>
          <a:xfrm>
            <a:off x="749808" y="4197096"/>
            <a:ext cx="5120640"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One block class, three instantiations</a:t>
            </a:r>
            <a:endParaRPr lang="en-US" sz="1450" dirty="0"/>
          </a:p>
        </p:txBody>
      </p:sp>
      <p:sp>
        <p:nvSpPr>
          <p:cNvPr id="20" name="Text 18"/>
          <p:cNvSpPr txBox="1"/>
          <p:nvPr/>
        </p:nvSpPr>
        <p:spPr>
          <a:xfrm>
            <a:off x="749808" y="4526280"/>
            <a:ext cx="5120640" cy="12984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same Block — LayerNorm, multi-head attention, residual, LayerNorm, MLP (d→4d→d), residual — is used everywhere. The predictor is not a different architecture: it is the same one at width 96 instead of 384, repeated 4 times instead of 12.</a:t>
            </a:r>
            <a:endParaRPr lang="en-US" sz="1200" dirty="0"/>
          </a:p>
        </p:txBody>
      </p:sp>
      <p:sp>
        <p:nvSpPr>
          <p:cNvPr id="21" name="Shape 19"/>
          <p:cNvSpPr/>
          <p:nvPr/>
        </p:nvSpPr>
        <p:spPr>
          <a:xfrm>
            <a:off x="6263640" y="4069080"/>
            <a:ext cx="5367528" cy="1920240"/>
          </a:xfrm>
          <a:prstGeom prst="roundRect">
            <a:avLst>
              <a:gd name="adj" fmla="val 3333"/>
            </a:avLst>
          </a:prstGeom>
          <a:solidFill>
            <a:srgbClr val="F1F6F2"/>
          </a:solidFill>
          <a:ln/>
        </p:spPr>
      </p:sp>
      <p:sp>
        <p:nvSpPr>
          <p:cNvPr id="22" name="Text 20"/>
          <p:cNvSpPr txBox="1"/>
          <p:nvPr/>
        </p:nvSpPr>
        <p:spPr>
          <a:xfrm>
            <a:off x="6446520" y="4197096"/>
            <a:ext cx="500176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Why the predictor is only 2.4 % of an encoder</a:t>
            </a:r>
            <a:endParaRPr lang="en-US" sz="1450" dirty="0"/>
          </a:p>
        </p:txBody>
      </p:sp>
      <p:sp>
        <p:nvSpPr>
          <p:cNvPr id="23" name="Text 21"/>
          <p:cNvSpPr txBox="1"/>
          <p:nvPr/>
        </p:nvSpPr>
        <p:spPr>
          <a:xfrm>
            <a:off x="6446520" y="4526280"/>
            <a:ext cx="5001768" cy="12984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assignment asks for a SHALLOW predictor, and the reason is structural. If the predictor were capable enough to guess the targets on its own, the encoder would never be forced to build useful representations. The 384→96→384 bottleneck prevents that by construction.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OBJECTIVE 2</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What “frozen” means, and what is actually trained</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Target encoder — 21.6 M par.</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Head — 5.3 M par.</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Encoder frozen, as required</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no backbone weight moves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10 / 27</a:t>
            </a:r>
            <a:endParaRPr lang="en-US" sz="1050" dirty="0"/>
          </a:p>
        </p:txBody>
      </p:sp>
      <p:sp>
        <p:nvSpPr>
          <p:cNvPr id="17" name="Text 15"/>
          <p:cNvSpPr txBox="1"/>
          <p:nvPr/>
        </p:nvSpPr>
        <p:spPr>
          <a:xfrm>
            <a:off x="566928" y="1691640"/>
            <a:ext cx="6675120" cy="594360"/>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The assignment requires the representations to be evaluated FROZEN. After pre-training, no weight of the backbone is updated again — not by the classifier's gradient, not by fine-tuning.</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468880"/>
          <a:ext cx="11057839" cy="914400"/>
        </p:xfrm>
        <a:graphic>
          <a:graphicData uri="http://schemas.openxmlformats.org/drawingml/2006/table">
            <a:tbl>
              <a:tblPr/>
              <a:tblGrid>
                <a:gridCol w="2468880"/>
                <a:gridCol w="2011680"/>
                <a:gridCol w="3108960"/>
                <a:gridCol w="34747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During pre-training</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Context encoder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21,589,632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trained by gradient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58626C"/>
                          </a:solidFill>
                          <a:latin typeface="Calibri" pitchFamily="34" charset="0"/>
                          <a:ea typeface="Calibri" pitchFamily="34" charset="-122"/>
                          <a:cs typeface="Calibri" pitchFamily="34" charset="-120"/>
                        </a:rPr>
                        <a:t>discarded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Predictor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521,856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trained by gradient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58626C"/>
                          </a:solidFill>
                          <a:latin typeface="Calibri" pitchFamily="34" charset="0"/>
                          <a:ea typeface="Calibri" pitchFamily="34" charset="-122"/>
                          <a:cs typeface="Calibri" pitchFamily="34" charset="-120"/>
                        </a:rPr>
                        <a:t>discarded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Target encoder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11418"/>
                          </a:solidFill>
                          <a:latin typeface="Calibri" pitchFamily="34" charset="0"/>
                          <a:ea typeface="Calibri" pitchFamily="34" charset="-122"/>
                          <a:cs typeface="Calibri" pitchFamily="34" charset="-120"/>
                        </a:rPr>
                        <a:t>21,589,632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C7293"/>
                          </a:solidFill>
                          <a:latin typeface="Calibri" pitchFamily="34" charset="0"/>
                          <a:ea typeface="Calibri" pitchFamily="34" charset="-122"/>
                          <a:cs typeface="Calibri" pitchFamily="34" charset="-120"/>
                        </a:rPr>
                        <a:t>EMA only, no gradient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C7293"/>
                          </a:solidFill>
                          <a:latin typeface="Calibri" pitchFamily="34" charset="0"/>
                          <a:ea typeface="Calibri" pitchFamily="34" charset="-122"/>
                          <a:cs typeface="Calibri" pitchFamily="34" charset="-120"/>
                        </a:rPr>
                        <a:t>FROZEN — this is what we ship</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Attention pooling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5,316,480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58626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trained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Head (flat)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3,459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58626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F6F43"/>
                          </a:solidFill>
                          <a:latin typeface="Calibri" pitchFamily="34" charset="0"/>
                          <a:ea typeface="Calibri" pitchFamily="34" charset="-122"/>
                          <a:cs typeface="Calibri" pitchFamily="34" charset="-120"/>
                        </a:rPr>
                        <a:t>trained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Shape 16"/>
          <p:cNvSpPr/>
          <p:nvPr/>
        </p:nvSpPr>
        <p:spPr>
          <a:xfrm>
            <a:off x="566928" y="4434840"/>
            <a:ext cx="5486400" cy="1554480"/>
          </a:xfrm>
          <a:prstGeom prst="roundRect">
            <a:avLst>
              <a:gd name="adj" fmla="val 4118"/>
            </a:avLst>
          </a:prstGeom>
          <a:solidFill>
            <a:srgbClr val="E4F0F2"/>
          </a:solidFill>
          <a:ln/>
        </p:spPr>
      </p:sp>
      <p:sp>
        <p:nvSpPr>
          <p:cNvPr id="20" name="Text 17"/>
          <p:cNvSpPr txBox="1"/>
          <p:nvPr/>
        </p:nvSpPr>
        <p:spPr>
          <a:xfrm>
            <a:off x="749808" y="4562856"/>
            <a:ext cx="5120640" cy="274320"/>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Two consequences worth stating</a:t>
            </a:r>
            <a:endParaRPr lang="en-US" sz="1450" dirty="0"/>
          </a:p>
        </p:txBody>
      </p:sp>
      <p:sp>
        <p:nvSpPr>
          <p:cNvPr id="21" name="Text 18"/>
          <p:cNvSpPr txBox="1"/>
          <p:nvPr/>
        </p:nvSpPr>
        <p:spPr>
          <a:xfrm>
            <a:off x="749808" y="4892040"/>
            <a:ext cx="5120640" cy="93268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encoder we deliver never saw a label — not one, at any point.</a:t>
            </a:r>
            <a:endParaRPr lang="en-US" sz="1200" dirty="0"/>
          </a:p>
        </p:txBody>
      </p:sp>
      <p:sp>
        <p:nvSpPr>
          <p:cNvPr id="22" name="Shape 19"/>
          <p:cNvSpPr/>
          <p:nvPr/>
        </p:nvSpPr>
        <p:spPr>
          <a:xfrm>
            <a:off x="6263640" y="4434840"/>
            <a:ext cx="5367528" cy="1554480"/>
          </a:xfrm>
          <a:prstGeom prst="roundRect">
            <a:avLst>
              <a:gd name="adj" fmla="val 4118"/>
            </a:avLst>
          </a:prstGeom>
          <a:solidFill>
            <a:srgbClr val="F4F6F7"/>
          </a:solidFill>
          <a:ln/>
        </p:spPr>
      </p:sp>
      <p:sp>
        <p:nvSpPr>
          <p:cNvPr id="23" name="Text 20"/>
          <p:cNvSpPr txBox="1"/>
          <p:nvPr/>
        </p:nvSpPr>
        <p:spPr>
          <a:xfrm>
            <a:off x="6446520" y="4562856"/>
            <a:ext cx="500176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The trainable part is smaller than it looks</a:t>
            </a:r>
            <a:endParaRPr lang="en-US" sz="1450" dirty="0"/>
          </a:p>
        </p:txBody>
      </p:sp>
      <p:sp>
        <p:nvSpPr>
          <p:cNvPr id="24" name="Text 21"/>
          <p:cNvSpPr txBox="1"/>
          <p:nvPr/>
        </p:nvSpPr>
        <p:spPr>
          <a:xfrm>
            <a:off x="6446520" y="4892040"/>
            <a:ext cx="5001768" cy="93268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5,319,939 parameters downstream — and 5,316,480 of them are the pooling. The classifier itself is 3,459: a single Linear from 1,152 to 3. Almost all downstream capacity sits in deciding HOW to aggregate tokens, not in classifying.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SPATIAL DECOMPOSITION</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From a 224 px window to 196 tokens</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ViT-S/16 patch embedding</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224 px input, fixed</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14 × 14 = 196 tokens, always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11 / 27</a:t>
            </a:r>
            <a:endParaRPr lang="en-US" sz="1050" dirty="0"/>
          </a:p>
        </p:txBody>
      </p:sp>
      <p:sp>
        <p:nvSpPr>
          <p:cNvPr id="17" name="Text 15"/>
          <p:cNvSpPr txBox="1"/>
          <p:nvPr/>
        </p:nvSpPr>
        <p:spPr>
          <a:xfrm>
            <a:off x="566928" y="1691640"/>
            <a:ext cx="3566160" cy="566928"/>
          </a:xfrm>
          <a:prstGeom prst="rect">
            <a:avLst/>
          </a:prstGeom>
          <a:noFill/>
          <a:ln/>
        </p:spPr>
        <p:txBody>
          <a:bodyPr wrap="square" lIns="0" tIns="0" rIns="0" bIns="0" rtlCol="0" anchor="ctr"/>
          <a:lstStyle/>
          <a:p>
            <a:pPr indent="0" marL="0">
              <a:lnSpc>
                <a:spcPts val="1800"/>
              </a:lnSpc>
              <a:buNone/>
            </a:pPr>
            <a:r>
              <a:rPr lang="en-US" sz="1250" dirty="0">
                <a:solidFill>
                  <a:srgbClr val="111418"/>
                </a:solidFill>
                <a:latin typeface="Calibri" pitchFamily="34" charset="0"/>
                <a:ea typeface="Calibri" pitchFamily="34" charset="-122"/>
                <a:cs typeface="Calibri" pitchFamily="34" charset="-120"/>
              </a:rPr>
              <a:t>The window is cut into a regular grid of square patches. Each patch becomes exactly one token — no pooling, no overlap, no resizing at this stage.</a:t>
            </a:r>
            <a:endParaRPr lang="en-US" sz="1250" dirty="0"/>
          </a:p>
        </p:txBody>
      </p:sp>
      <p:sp>
        <p:nvSpPr>
          <p:cNvPr id="18" name="Shape 16"/>
          <p:cNvSpPr/>
          <p:nvPr/>
        </p:nvSpPr>
        <p:spPr>
          <a:xfrm>
            <a:off x="822960" y="2395728"/>
            <a:ext cx="1920240" cy="1920240"/>
          </a:xfrm>
          <a:prstGeom prst="rect">
            <a:avLst/>
          </a:prstGeom>
          <a:solidFill>
            <a:srgbClr val="F4F6F7"/>
          </a:solidFill>
          <a:ln w="17780">
            <a:solidFill>
              <a:srgbClr val="0B3C49"/>
            </a:solidFill>
            <a:prstDash val="solid"/>
          </a:ln>
        </p:spPr>
      </p:sp>
      <p:sp>
        <p:nvSpPr>
          <p:cNvPr id="19" name="Shape 17"/>
          <p:cNvSpPr/>
          <p:nvPr/>
        </p:nvSpPr>
        <p:spPr>
          <a:xfrm>
            <a:off x="960120" y="2395728"/>
            <a:ext cx="0" cy="1920240"/>
          </a:xfrm>
          <a:prstGeom prst="line">
            <a:avLst/>
          </a:prstGeom>
          <a:noFill/>
          <a:ln w="6350">
            <a:solidFill>
              <a:srgbClr val="D6DBDF"/>
            </a:solidFill>
            <a:prstDash val="solid"/>
          </a:ln>
        </p:spPr>
      </p:sp>
      <p:sp>
        <p:nvSpPr>
          <p:cNvPr id="20" name="Shape 18"/>
          <p:cNvSpPr/>
          <p:nvPr/>
        </p:nvSpPr>
        <p:spPr>
          <a:xfrm>
            <a:off x="822960" y="2532888"/>
            <a:ext cx="1920240" cy="0"/>
          </a:xfrm>
          <a:prstGeom prst="line">
            <a:avLst/>
          </a:prstGeom>
          <a:noFill/>
          <a:ln w="6350">
            <a:solidFill>
              <a:srgbClr val="D6DBDF"/>
            </a:solidFill>
            <a:prstDash val="solid"/>
          </a:ln>
        </p:spPr>
      </p:sp>
      <p:sp>
        <p:nvSpPr>
          <p:cNvPr id="21" name="Shape 19"/>
          <p:cNvSpPr/>
          <p:nvPr/>
        </p:nvSpPr>
        <p:spPr>
          <a:xfrm>
            <a:off x="1097280" y="2395728"/>
            <a:ext cx="0" cy="1920240"/>
          </a:xfrm>
          <a:prstGeom prst="line">
            <a:avLst/>
          </a:prstGeom>
          <a:noFill/>
          <a:ln w="6350">
            <a:solidFill>
              <a:srgbClr val="D6DBDF"/>
            </a:solidFill>
            <a:prstDash val="solid"/>
          </a:ln>
        </p:spPr>
      </p:sp>
      <p:sp>
        <p:nvSpPr>
          <p:cNvPr id="22" name="Shape 20"/>
          <p:cNvSpPr/>
          <p:nvPr/>
        </p:nvSpPr>
        <p:spPr>
          <a:xfrm>
            <a:off x="822960" y="2670048"/>
            <a:ext cx="1920240" cy="0"/>
          </a:xfrm>
          <a:prstGeom prst="line">
            <a:avLst/>
          </a:prstGeom>
          <a:noFill/>
          <a:ln w="6350">
            <a:solidFill>
              <a:srgbClr val="D6DBDF"/>
            </a:solidFill>
            <a:prstDash val="solid"/>
          </a:ln>
        </p:spPr>
      </p:sp>
      <p:sp>
        <p:nvSpPr>
          <p:cNvPr id="23" name="Shape 21"/>
          <p:cNvSpPr/>
          <p:nvPr/>
        </p:nvSpPr>
        <p:spPr>
          <a:xfrm>
            <a:off x="1234440" y="2395728"/>
            <a:ext cx="0" cy="1920240"/>
          </a:xfrm>
          <a:prstGeom prst="line">
            <a:avLst/>
          </a:prstGeom>
          <a:noFill/>
          <a:ln w="6350">
            <a:solidFill>
              <a:srgbClr val="D6DBDF"/>
            </a:solidFill>
            <a:prstDash val="solid"/>
          </a:ln>
        </p:spPr>
      </p:sp>
      <p:sp>
        <p:nvSpPr>
          <p:cNvPr id="24" name="Shape 22"/>
          <p:cNvSpPr/>
          <p:nvPr/>
        </p:nvSpPr>
        <p:spPr>
          <a:xfrm>
            <a:off x="822960" y="2807208"/>
            <a:ext cx="1920240" cy="0"/>
          </a:xfrm>
          <a:prstGeom prst="line">
            <a:avLst/>
          </a:prstGeom>
          <a:noFill/>
          <a:ln w="6350">
            <a:solidFill>
              <a:srgbClr val="D6DBDF"/>
            </a:solidFill>
            <a:prstDash val="solid"/>
          </a:ln>
        </p:spPr>
      </p:sp>
      <p:sp>
        <p:nvSpPr>
          <p:cNvPr id="25" name="Shape 23"/>
          <p:cNvSpPr/>
          <p:nvPr/>
        </p:nvSpPr>
        <p:spPr>
          <a:xfrm>
            <a:off x="1371600" y="2395728"/>
            <a:ext cx="0" cy="1920240"/>
          </a:xfrm>
          <a:prstGeom prst="line">
            <a:avLst/>
          </a:prstGeom>
          <a:noFill/>
          <a:ln w="6350">
            <a:solidFill>
              <a:srgbClr val="D6DBDF"/>
            </a:solidFill>
            <a:prstDash val="solid"/>
          </a:ln>
        </p:spPr>
      </p:sp>
      <p:sp>
        <p:nvSpPr>
          <p:cNvPr id="26" name="Shape 24"/>
          <p:cNvSpPr/>
          <p:nvPr/>
        </p:nvSpPr>
        <p:spPr>
          <a:xfrm>
            <a:off x="822960" y="2944368"/>
            <a:ext cx="1920240" cy="0"/>
          </a:xfrm>
          <a:prstGeom prst="line">
            <a:avLst/>
          </a:prstGeom>
          <a:noFill/>
          <a:ln w="6350">
            <a:solidFill>
              <a:srgbClr val="D6DBDF"/>
            </a:solidFill>
            <a:prstDash val="solid"/>
          </a:ln>
        </p:spPr>
      </p:sp>
      <p:sp>
        <p:nvSpPr>
          <p:cNvPr id="27" name="Shape 25"/>
          <p:cNvSpPr/>
          <p:nvPr/>
        </p:nvSpPr>
        <p:spPr>
          <a:xfrm>
            <a:off x="1508760" y="2395728"/>
            <a:ext cx="0" cy="1920240"/>
          </a:xfrm>
          <a:prstGeom prst="line">
            <a:avLst/>
          </a:prstGeom>
          <a:noFill/>
          <a:ln w="6350">
            <a:solidFill>
              <a:srgbClr val="D6DBDF"/>
            </a:solidFill>
            <a:prstDash val="solid"/>
          </a:ln>
        </p:spPr>
      </p:sp>
      <p:sp>
        <p:nvSpPr>
          <p:cNvPr id="28" name="Shape 26"/>
          <p:cNvSpPr/>
          <p:nvPr/>
        </p:nvSpPr>
        <p:spPr>
          <a:xfrm>
            <a:off x="822960" y="3081528"/>
            <a:ext cx="1920240" cy="0"/>
          </a:xfrm>
          <a:prstGeom prst="line">
            <a:avLst/>
          </a:prstGeom>
          <a:noFill/>
          <a:ln w="6350">
            <a:solidFill>
              <a:srgbClr val="D6DBDF"/>
            </a:solidFill>
            <a:prstDash val="solid"/>
          </a:ln>
        </p:spPr>
      </p:sp>
      <p:sp>
        <p:nvSpPr>
          <p:cNvPr id="29" name="Shape 27"/>
          <p:cNvSpPr/>
          <p:nvPr/>
        </p:nvSpPr>
        <p:spPr>
          <a:xfrm>
            <a:off x="1645920" y="2395728"/>
            <a:ext cx="0" cy="1920240"/>
          </a:xfrm>
          <a:prstGeom prst="line">
            <a:avLst/>
          </a:prstGeom>
          <a:noFill/>
          <a:ln w="6350">
            <a:solidFill>
              <a:srgbClr val="D6DBDF"/>
            </a:solidFill>
            <a:prstDash val="solid"/>
          </a:ln>
        </p:spPr>
      </p:sp>
      <p:sp>
        <p:nvSpPr>
          <p:cNvPr id="30" name="Shape 28"/>
          <p:cNvSpPr/>
          <p:nvPr/>
        </p:nvSpPr>
        <p:spPr>
          <a:xfrm>
            <a:off x="822960" y="3218688"/>
            <a:ext cx="1920240" cy="0"/>
          </a:xfrm>
          <a:prstGeom prst="line">
            <a:avLst/>
          </a:prstGeom>
          <a:noFill/>
          <a:ln w="6350">
            <a:solidFill>
              <a:srgbClr val="D6DBDF"/>
            </a:solidFill>
            <a:prstDash val="solid"/>
          </a:ln>
        </p:spPr>
      </p:sp>
      <p:sp>
        <p:nvSpPr>
          <p:cNvPr id="31" name="Shape 29"/>
          <p:cNvSpPr/>
          <p:nvPr/>
        </p:nvSpPr>
        <p:spPr>
          <a:xfrm>
            <a:off x="1783080" y="2395728"/>
            <a:ext cx="0" cy="1920240"/>
          </a:xfrm>
          <a:prstGeom prst="line">
            <a:avLst/>
          </a:prstGeom>
          <a:noFill/>
          <a:ln w="6350">
            <a:solidFill>
              <a:srgbClr val="D6DBDF"/>
            </a:solidFill>
            <a:prstDash val="solid"/>
          </a:ln>
        </p:spPr>
      </p:sp>
      <p:sp>
        <p:nvSpPr>
          <p:cNvPr id="32" name="Shape 30"/>
          <p:cNvSpPr/>
          <p:nvPr/>
        </p:nvSpPr>
        <p:spPr>
          <a:xfrm>
            <a:off x="822960" y="3355848"/>
            <a:ext cx="1920240" cy="0"/>
          </a:xfrm>
          <a:prstGeom prst="line">
            <a:avLst/>
          </a:prstGeom>
          <a:noFill/>
          <a:ln w="6350">
            <a:solidFill>
              <a:srgbClr val="D6DBDF"/>
            </a:solidFill>
            <a:prstDash val="solid"/>
          </a:ln>
        </p:spPr>
      </p:sp>
      <p:sp>
        <p:nvSpPr>
          <p:cNvPr id="33" name="Shape 31"/>
          <p:cNvSpPr/>
          <p:nvPr/>
        </p:nvSpPr>
        <p:spPr>
          <a:xfrm>
            <a:off x="1920240" y="2395728"/>
            <a:ext cx="0" cy="1920240"/>
          </a:xfrm>
          <a:prstGeom prst="line">
            <a:avLst/>
          </a:prstGeom>
          <a:noFill/>
          <a:ln w="6350">
            <a:solidFill>
              <a:srgbClr val="D6DBDF"/>
            </a:solidFill>
            <a:prstDash val="solid"/>
          </a:ln>
        </p:spPr>
      </p:sp>
      <p:sp>
        <p:nvSpPr>
          <p:cNvPr id="34" name="Shape 32"/>
          <p:cNvSpPr/>
          <p:nvPr/>
        </p:nvSpPr>
        <p:spPr>
          <a:xfrm>
            <a:off x="822960" y="3493008"/>
            <a:ext cx="1920240" cy="0"/>
          </a:xfrm>
          <a:prstGeom prst="line">
            <a:avLst/>
          </a:prstGeom>
          <a:noFill/>
          <a:ln w="6350">
            <a:solidFill>
              <a:srgbClr val="D6DBDF"/>
            </a:solidFill>
            <a:prstDash val="solid"/>
          </a:ln>
        </p:spPr>
      </p:sp>
      <p:sp>
        <p:nvSpPr>
          <p:cNvPr id="35" name="Shape 33"/>
          <p:cNvSpPr/>
          <p:nvPr/>
        </p:nvSpPr>
        <p:spPr>
          <a:xfrm>
            <a:off x="2057400" y="2395728"/>
            <a:ext cx="0" cy="1920240"/>
          </a:xfrm>
          <a:prstGeom prst="line">
            <a:avLst/>
          </a:prstGeom>
          <a:noFill/>
          <a:ln w="6350">
            <a:solidFill>
              <a:srgbClr val="D6DBDF"/>
            </a:solidFill>
            <a:prstDash val="solid"/>
          </a:ln>
        </p:spPr>
      </p:sp>
      <p:sp>
        <p:nvSpPr>
          <p:cNvPr id="36" name="Shape 34"/>
          <p:cNvSpPr/>
          <p:nvPr/>
        </p:nvSpPr>
        <p:spPr>
          <a:xfrm>
            <a:off x="822960" y="3630168"/>
            <a:ext cx="1920240" cy="0"/>
          </a:xfrm>
          <a:prstGeom prst="line">
            <a:avLst/>
          </a:prstGeom>
          <a:noFill/>
          <a:ln w="6350">
            <a:solidFill>
              <a:srgbClr val="D6DBDF"/>
            </a:solidFill>
            <a:prstDash val="solid"/>
          </a:ln>
        </p:spPr>
      </p:sp>
      <p:sp>
        <p:nvSpPr>
          <p:cNvPr id="37" name="Shape 35"/>
          <p:cNvSpPr/>
          <p:nvPr/>
        </p:nvSpPr>
        <p:spPr>
          <a:xfrm>
            <a:off x="2194560" y="2395728"/>
            <a:ext cx="0" cy="1920240"/>
          </a:xfrm>
          <a:prstGeom prst="line">
            <a:avLst/>
          </a:prstGeom>
          <a:noFill/>
          <a:ln w="6350">
            <a:solidFill>
              <a:srgbClr val="D6DBDF"/>
            </a:solidFill>
            <a:prstDash val="solid"/>
          </a:ln>
        </p:spPr>
      </p:sp>
      <p:sp>
        <p:nvSpPr>
          <p:cNvPr id="38" name="Shape 36"/>
          <p:cNvSpPr/>
          <p:nvPr/>
        </p:nvSpPr>
        <p:spPr>
          <a:xfrm>
            <a:off x="822960" y="3767328"/>
            <a:ext cx="1920240" cy="0"/>
          </a:xfrm>
          <a:prstGeom prst="line">
            <a:avLst/>
          </a:prstGeom>
          <a:noFill/>
          <a:ln w="6350">
            <a:solidFill>
              <a:srgbClr val="D6DBDF"/>
            </a:solidFill>
            <a:prstDash val="solid"/>
          </a:ln>
        </p:spPr>
      </p:sp>
      <p:sp>
        <p:nvSpPr>
          <p:cNvPr id="39" name="Shape 37"/>
          <p:cNvSpPr/>
          <p:nvPr/>
        </p:nvSpPr>
        <p:spPr>
          <a:xfrm>
            <a:off x="2331720" y="2395728"/>
            <a:ext cx="0" cy="1920240"/>
          </a:xfrm>
          <a:prstGeom prst="line">
            <a:avLst/>
          </a:prstGeom>
          <a:noFill/>
          <a:ln w="6350">
            <a:solidFill>
              <a:srgbClr val="D6DBDF"/>
            </a:solidFill>
            <a:prstDash val="solid"/>
          </a:ln>
        </p:spPr>
      </p:sp>
      <p:sp>
        <p:nvSpPr>
          <p:cNvPr id="40" name="Shape 38"/>
          <p:cNvSpPr/>
          <p:nvPr/>
        </p:nvSpPr>
        <p:spPr>
          <a:xfrm>
            <a:off x="822960" y="3904488"/>
            <a:ext cx="1920240" cy="0"/>
          </a:xfrm>
          <a:prstGeom prst="line">
            <a:avLst/>
          </a:prstGeom>
          <a:noFill/>
          <a:ln w="6350">
            <a:solidFill>
              <a:srgbClr val="D6DBDF"/>
            </a:solidFill>
            <a:prstDash val="solid"/>
          </a:ln>
        </p:spPr>
      </p:sp>
      <p:sp>
        <p:nvSpPr>
          <p:cNvPr id="41" name="Shape 39"/>
          <p:cNvSpPr/>
          <p:nvPr/>
        </p:nvSpPr>
        <p:spPr>
          <a:xfrm>
            <a:off x="2468880" y="2395728"/>
            <a:ext cx="0" cy="1920240"/>
          </a:xfrm>
          <a:prstGeom prst="line">
            <a:avLst/>
          </a:prstGeom>
          <a:noFill/>
          <a:ln w="6350">
            <a:solidFill>
              <a:srgbClr val="D6DBDF"/>
            </a:solidFill>
            <a:prstDash val="solid"/>
          </a:ln>
        </p:spPr>
      </p:sp>
      <p:sp>
        <p:nvSpPr>
          <p:cNvPr id="42" name="Shape 40"/>
          <p:cNvSpPr/>
          <p:nvPr/>
        </p:nvSpPr>
        <p:spPr>
          <a:xfrm>
            <a:off x="822960" y="4041648"/>
            <a:ext cx="1920240" cy="0"/>
          </a:xfrm>
          <a:prstGeom prst="line">
            <a:avLst/>
          </a:prstGeom>
          <a:noFill/>
          <a:ln w="6350">
            <a:solidFill>
              <a:srgbClr val="D6DBDF"/>
            </a:solidFill>
            <a:prstDash val="solid"/>
          </a:ln>
        </p:spPr>
      </p:sp>
      <p:sp>
        <p:nvSpPr>
          <p:cNvPr id="43" name="Shape 41"/>
          <p:cNvSpPr/>
          <p:nvPr/>
        </p:nvSpPr>
        <p:spPr>
          <a:xfrm>
            <a:off x="2606040" y="2395728"/>
            <a:ext cx="0" cy="1920240"/>
          </a:xfrm>
          <a:prstGeom prst="line">
            <a:avLst/>
          </a:prstGeom>
          <a:noFill/>
          <a:ln w="6350">
            <a:solidFill>
              <a:srgbClr val="D6DBDF"/>
            </a:solidFill>
            <a:prstDash val="solid"/>
          </a:ln>
        </p:spPr>
      </p:sp>
      <p:sp>
        <p:nvSpPr>
          <p:cNvPr id="44" name="Shape 42"/>
          <p:cNvSpPr/>
          <p:nvPr/>
        </p:nvSpPr>
        <p:spPr>
          <a:xfrm>
            <a:off x="822960" y="4178808"/>
            <a:ext cx="1920240" cy="0"/>
          </a:xfrm>
          <a:prstGeom prst="line">
            <a:avLst/>
          </a:prstGeom>
          <a:noFill/>
          <a:ln w="6350">
            <a:solidFill>
              <a:srgbClr val="D6DBDF"/>
            </a:solidFill>
            <a:prstDash val="solid"/>
          </a:ln>
        </p:spPr>
      </p:sp>
      <p:sp>
        <p:nvSpPr>
          <p:cNvPr id="45" name="Shape 43"/>
          <p:cNvSpPr/>
          <p:nvPr/>
        </p:nvSpPr>
        <p:spPr>
          <a:xfrm>
            <a:off x="1508760" y="2944368"/>
            <a:ext cx="137160" cy="137160"/>
          </a:xfrm>
          <a:prstGeom prst="rect">
            <a:avLst/>
          </a:prstGeom>
          <a:solidFill>
            <a:srgbClr val="1F6F43"/>
          </a:solidFill>
          <a:ln/>
        </p:spPr>
      </p:sp>
      <p:sp>
        <p:nvSpPr>
          <p:cNvPr id="46" name="Shape 44"/>
          <p:cNvSpPr/>
          <p:nvPr/>
        </p:nvSpPr>
        <p:spPr>
          <a:xfrm>
            <a:off x="1645920" y="3012948"/>
            <a:ext cx="960120" cy="-182880"/>
          </a:xfrm>
          <a:prstGeom prst="line">
            <a:avLst/>
          </a:prstGeom>
          <a:noFill/>
          <a:ln w="15240">
            <a:solidFill>
              <a:srgbClr val="1F6F43"/>
            </a:solidFill>
            <a:prstDash val="solid"/>
            <a:tailEnd type="triangle"/>
          </a:ln>
        </p:spPr>
      </p:sp>
      <p:sp>
        <p:nvSpPr>
          <p:cNvPr id="47" name="Text 45"/>
          <p:cNvSpPr txBox="1"/>
          <p:nvPr/>
        </p:nvSpPr>
        <p:spPr>
          <a:xfrm>
            <a:off x="2852928" y="2697480"/>
            <a:ext cx="1325880" cy="685800"/>
          </a:xfrm>
          <a:prstGeom prst="rect">
            <a:avLst/>
          </a:prstGeom>
          <a:noFill/>
          <a:ln/>
        </p:spPr>
        <p:txBody>
          <a:bodyPr wrap="square" lIns="0" tIns="0" rIns="0" bIns="0" rtlCol="0" anchor="ctr"/>
          <a:lstStyle/>
          <a:p>
            <a:pPr indent="0" marL="0">
              <a:lnSpc>
                <a:spcPts val="1400"/>
              </a:lnSpc>
              <a:buNone/>
            </a:pPr>
            <a:r>
              <a:rPr lang="en-US" sz="1100" b="1" dirty="0">
                <a:solidFill>
                  <a:srgbClr val="1F6F43"/>
                </a:solidFill>
                <a:latin typeface="Calibri" pitchFamily="34" charset="0"/>
                <a:ea typeface="Calibri" pitchFamily="34" charset="-122"/>
                <a:cs typeface="Calibri" pitchFamily="34" charset="-120"/>
              </a:rPr>
              <a:t>one patch</a:t>
            </a:r>
            <a:endParaRPr lang="en-US" sz="1100" dirty="0"/>
          </a:p>
          <a:p>
            <a:pPr indent="0" marL="0">
              <a:lnSpc>
                <a:spcPts val="1400"/>
              </a:lnSpc>
              <a:buNone/>
            </a:pPr>
            <a:r>
              <a:rPr lang="en-US" sz="1100" b="1" dirty="0">
                <a:solidFill>
                  <a:srgbClr val="1F6F43"/>
                </a:solidFill>
                <a:latin typeface="Calibri" pitchFamily="34" charset="0"/>
                <a:ea typeface="Calibri" pitchFamily="34" charset="-122"/>
                <a:cs typeface="Calibri" pitchFamily="34" charset="-120"/>
              </a:rPr>
              <a:t>16 × 16 px</a:t>
            </a:r>
            <a:endParaRPr lang="en-US" sz="1100" dirty="0"/>
          </a:p>
          <a:p>
            <a:pPr indent="0" marL="0">
              <a:lnSpc>
                <a:spcPts val="1400"/>
              </a:lnSpc>
              <a:buNone/>
            </a:pPr>
            <a:r>
              <a:rPr lang="en-US" sz="1100" b="1" dirty="0">
                <a:solidFill>
                  <a:srgbClr val="1F6F43"/>
                </a:solidFill>
                <a:latin typeface="Calibri" pitchFamily="34" charset="0"/>
                <a:ea typeface="Calibri" pitchFamily="34" charset="-122"/>
                <a:cs typeface="Calibri" pitchFamily="34" charset="-120"/>
              </a:rPr>
              <a:t>→ one token</a:t>
            </a:r>
            <a:endParaRPr lang="en-US" sz="1100" dirty="0"/>
          </a:p>
        </p:txBody>
      </p:sp>
      <p:sp>
        <p:nvSpPr>
          <p:cNvPr id="48" name="Text 46"/>
          <p:cNvSpPr txBox="1"/>
          <p:nvPr/>
        </p:nvSpPr>
        <p:spPr>
          <a:xfrm>
            <a:off x="822960" y="4389120"/>
            <a:ext cx="1920240" cy="219456"/>
          </a:xfrm>
          <a:prstGeom prst="rect">
            <a:avLst/>
          </a:prstGeom>
          <a:noFill/>
          <a:ln/>
        </p:spPr>
        <p:txBody>
          <a:bodyPr wrap="square" lIns="0" tIns="0" rIns="0" bIns="0" rtlCol="0" anchor="ctr"/>
          <a:lstStyle/>
          <a:p>
            <a:pPr algn="ctr" indent="0" marL="0">
              <a:buNone/>
            </a:pPr>
            <a:r>
              <a:rPr lang="en-US" sz="1100" dirty="0">
                <a:solidFill>
                  <a:srgbClr val="0B3C49"/>
                </a:solidFill>
                <a:latin typeface="Calibri" pitchFamily="34" charset="0"/>
                <a:ea typeface="Calibri" pitchFamily="34" charset="-122"/>
                <a:cs typeface="Calibri" pitchFamily="34" charset="-120"/>
              </a:rPr>
              <a:t>224 px  ·  14 × 14 cells</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06240" y="2331720"/>
          <a:ext cx="7406640" cy="914400"/>
        </p:xfrm>
        <a:graphic>
          <a:graphicData uri="http://schemas.openxmlformats.org/drawingml/2006/table">
            <a:tbl>
              <a:tblPr/>
              <a:tblGrid>
                <a:gridCol w="1737360"/>
                <a:gridCol w="1371600"/>
                <a:gridCol w="42976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Quantity</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it cannot change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Input window</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224 × 224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fixed crop, chosen so lesion scale is preserved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Patch size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16 × 16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Conv2d kernel = stride = 16 → exact, non-overlapping tiling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Grid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14 × 14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224 ÷ 16 = 14, with no remainder and no padding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Tokens per window</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0B3C49"/>
                          </a:solidFill>
                          <a:latin typeface="Calibri" pitchFamily="34" charset="0"/>
                          <a:ea typeface="Calibri" pitchFamily="34" charset="-122"/>
                          <a:cs typeface="Calibri" pitchFamily="34" charset="-120"/>
                        </a:rPr>
                        <a:t>196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the positional embedding has exactly 196 entries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50" name="Shape 47"/>
          <p:cNvSpPr/>
          <p:nvPr/>
        </p:nvSpPr>
        <p:spPr>
          <a:xfrm>
            <a:off x="4206240" y="4114800"/>
            <a:ext cx="7406640" cy="868680"/>
          </a:xfrm>
          <a:prstGeom prst="roundRect">
            <a:avLst>
              <a:gd name="adj" fmla="val 7368"/>
            </a:avLst>
          </a:prstGeom>
          <a:solidFill>
            <a:srgbClr val="F4F6F7"/>
          </a:solidFill>
          <a:ln/>
        </p:spPr>
      </p:sp>
      <p:sp>
        <p:nvSpPr>
          <p:cNvPr id="51" name="Text 48"/>
          <p:cNvSpPr txBox="1"/>
          <p:nvPr/>
        </p:nvSpPr>
        <p:spPr>
          <a:xfrm>
            <a:off x="4389120" y="4242816"/>
            <a:ext cx="7040880"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The grid is fixed by construction, not by convention</a:t>
            </a:r>
            <a:endParaRPr lang="en-US" sz="1450" dirty="0"/>
          </a:p>
        </p:txBody>
      </p:sp>
      <p:sp>
        <p:nvSpPr>
          <p:cNvPr id="52" name="Text 49"/>
          <p:cNvSpPr txBox="1"/>
          <p:nvPr/>
        </p:nvSpPr>
        <p:spPr>
          <a:xfrm>
            <a:off x="4389120" y="4572000"/>
            <a:ext cx="7040880" cy="24688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model could not accept a different grid without interpolating its positional embedding: 196 is baked into the architecture. Verified empirically — input (2, 3, 224, 224) gives tokens (2, 196, 384).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BACK TO THE THESIS</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bias enters at tiling time</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Nothing learned yet</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Just the 16 px grid</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tokens covered by the box</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12 / 27</a:t>
            </a:r>
            <a:endParaRPr lang="en-US" sz="1050" dirty="0"/>
          </a:p>
        </p:txBody>
      </p:sp>
      <p:sp>
        <p:nvSpPr>
          <p:cNvPr id="17" name="Text 15"/>
          <p:cNvSpPr txBox="1"/>
          <p:nvPr/>
        </p:nvSpPr>
        <p:spPr>
          <a:xfrm>
            <a:off x="566928" y="1691640"/>
            <a:ext cx="6035040" cy="329184"/>
          </a:xfrm>
          <a:prstGeom prst="rect">
            <a:avLst/>
          </a:prstGeom>
          <a:noFill/>
          <a:ln/>
        </p:spPr>
        <p:txBody>
          <a:bodyPr wrap="square" lIns="0" tIns="0" rIns="0" bIns="0" rtlCol="0" anchor="ctr"/>
          <a:lstStyle/>
          <a:p>
            <a:pPr indent="0" marL="0">
              <a:buNone/>
            </a:pPr>
            <a:r>
              <a:rPr lang="en-US" sz="1400" dirty="0">
                <a:solidFill>
                  <a:srgbClr val="111418"/>
                </a:solidFill>
                <a:latin typeface="Calibri" pitchFamily="34" charset="0"/>
                <a:ea typeface="Calibri" pitchFamily="34" charset="-122"/>
                <a:cs typeface="Calibri" pitchFamily="34" charset="-120"/>
              </a:rPr>
              <a:t>A patch is 16 px wide. The median lesion box measures: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6035040" cy="914400"/>
        </p:xfrm>
        <a:graphic>
          <a:graphicData uri="http://schemas.openxmlformats.org/drawingml/2006/table">
            <a:tbl>
              <a:tblPr/>
              <a:tblGrid>
                <a:gridCol w="1737360"/>
                <a:gridCol w="1508760"/>
                <a:gridCol w="1463040"/>
                <a:gridCol w="13258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PAI grade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median box side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patches per side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tokens covered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3 — mild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57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4 — moderate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80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5 — severe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127 px</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7.9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Text 16"/>
          <p:cNvSpPr txBox="1"/>
          <p:nvPr/>
        </p:nvSpPr>
        <p:spPr>
          <a:xfrm>
            <a:off x="566928" y="3977640"/>
            <a:ext cx="6035040" cy="365760"/>
          </a:xfrm>
          <a:prstGeom prst="rect">
            <a:avLst/>
          </a:prstGeom>
          <a:noFill/>
          <a:ln/>
        </p:spPr>
        <p:txBody>
          <a:bodyPr wrap="square" lIns="0" tIns="0" rIns="0" bIns="0" rtlCol="0" anchor="ctr"/>
          <a:lstStyle/>
          <a:p>
            <a:pPr indent="0" marL="0">
              <a:buNone/>
            </a:pPr>
            <a:r>
              <a:rPr lang="en-US" sz="1400" b="1" dirty="0">
                <a:solidFill>
                  <a:srgbClr val="A62B1F"/>
                </a:solidFill>
                <a:latin typeface="Calibri" pitchFamily="34" charset="0"/>
                <a:ea typeface="Calibri" pitchFamily="34" charset="-122"/>
                <a:cs typeface="Calibri" pitchFamily="34" charset="-120"/>
              </a:rPr>
              <a:t>The grade is written into how many cells the box covers.</a:t>
            </a:r>
            <a:endParaRPr lang="en-US" sz="1400" dirty="0"/>
          </a:p>
        </p:txBody>
      </p:sp>
      <p:sp>
        <p:nvSpPr>
          <p:cNvPr id="20" name="Shape 17"/>
          <p:cNvSpPr/>
          <p:nvPr/>
        </p:nvSpPr>
        <p:spPr>
          <a:xfrm>
            <a:off x="6766560" y="1691640"/>
            <a:ext cx="4864608" cy="2377440"/>
          </a:xfrm>
          <a:prstGeom prst="roundRect">
            <a:avLst>
              <a:gd name="adj" fmla="val 2692"/>
            </a:avLst>
          </a:prstGeom>
          <a:solidFill>
            <a:srgbClr val="FBF3F2"/>
          </a:solidFill>
          <a:ln/>
        </p:spPr>
      </p:sp>
      <p:sp>
        <p:nvSpPr>
          <p:cNvPr id="21" name="Text 18"/>
          <p:cNvSpPr txBox="1"/>
          <p:nvPr/>
        </p:nvSpPr>
        <p:spPr>
          <a:xfrm>
            <a:off x="6949440" y="1819656"/>
            <a:ext cx="4498848"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Neither the head nor the encoder introduces it</a:t>
            </a:r>
            <a:endParaRPr lang="en-US" sz="1450" dirty="0"/>
          </a:p>
        </p:txBody>
      </p:sp>
      <p:sp>
        <p:nvSpPr>
          <p:cNvPr id="22" name="Text 19"/>
          <p:cNvSpPr txBox="1"/>
          <p:nvPr/>
        </p:nvSpPr>
        <p:spPr>
          <a:xfrm>
            <a:off x="6949440" y="2148840"/>
            <a:ext cx="4498848" cy="17556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shortcut is already present the moment the window is cut into a grid — before a single weight is applied. No architecture choice downstream can remove something that entered upstream of it.</a:t>
            </a:r>
            <a:endParaRPr lang="en-US" sz="1200" dirty="0"/>
          </a:p>
        </p:txBody>
      </p:sp>
      <p:sp>
        <p:nvSpPr>
          <p:cNvPr id="23" name="Shape 20"/>
          <p:cNvSpPr/>
          <p:nvPr/>
        </p:nvSpPr>
        <p:spPr>
          <a:xfrm>
            <a:off x="6766560" y="4526280"/>
            <a:ext cx="4864608" cy="1554480"/>
          </a:xfrm>
          <a:prstGeom prst="roundRect">
            <a:avLst>
              <a:gd name="adj" fmla="val 4118"/>
            </a:avLst>
          </a:prstGeom>
          <a:solidFill>
            <a:srgbClr val="F1F6F2"/>
          </a:solidFill>
          <a:ln/>
        </p:spPr>
      </p:sp>
      <p:sp>
        <p:nvSpPr>
          <p:cNvPr id="24" name="Text 21"/>
          <p:cNvSpPr txBox="1"/>
          <p:nvPr/>
        </p:nvSpPr>
        <p:spPr>
          <a:xfrm>
            <a:off x="6949440" y="4654296"/>
            <a:ext cx="449884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Which is why the fix had to be there too</a:t>
            </a:r>
            <a:endParaRPr lang="en-US" sz="1450" dirty="0"/>
          </a:p>
        </p:txBody>
      </p:sp>
      <p:sp>
        <p:nvSpPr>
          <p:cNvPr id="25" name="Text 22"/>
          <p:cNvSpPr txBox="1"/>
          <p:nvPr/>
        </p:nvSpPr>
        <p:spPr>
          <a:xfrm>
            <a:off x="6949440" y="4983480"/>
            <a:ext cx="4498848" cy="93268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We did not change the encoder, the head, or the loss. We changed which tokens the box selects — the one stage where the leak occurs.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REPRESENTATION</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What one latent vector actually contains</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Target encoder (frozen)</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3 blocks concatenated</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196 tokens × 1,152 d per lesion</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13 / 27</a:t>
            </a:r>
            <a:endParaRPr lang="en-US" sz="1050" dirty="0"/>
          </a:p>
        </p:txBody>
      </p:sp>
      <p:sp>
        <p:nvSpPr>
          <p:cNvPr id="17" name="Text 15"/>
          <p:cNvSpPr txBox="1"/>
          <p:nvPr/>
        </p:nvSpPr>
        <p:spPr>
          <a:xfrm>
            <a:off x="566928" y="1691640"/>
            <a:ext cx="11057839" cy="438912"/>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Each 224 px window becomes a 14×14 grid of 196 tokens. We do not take the last block alone: we concatenate three depths, so every token is 1,152 numbers in three contiguous sections.</a:t>
            </a:r>
            <a:endParaRPr lang="en-US" sz="1350" dirty="0"/>
          </a:p>
        </p:txBody>
      </p:sp>
      <p:sp>
        <p:nvSpPr>
          <p:cNvPr id="18" name="Shape 16"/>
          <p:cNvSpPr/>
          <p:nvPr/>
        </p:nvSpPr>
        <p:spPr>
          <a:xfrm>
            <a:off x="566928" y="2468880"/>
            <a:ext cx="3649370" cy="566928"/>
          </a:xfrm>
          <a:prstGeom prst="rect">
            <a:avLst/>
          </a:prstGeom>
          <a:solidFill>
            <a:srgbClr val="FFFFFF"/>
          </a:solidFill>
          <a:ln w="20320">
            <a:solidFill>
              <a:srgbClr val="0B3C49"/>
            </a:solidFill>
            <a:prstDash val="solid"/>
          </a:ln>
        </p:spPr>
      </p:sp>
      <p:sp>
        <p:nvSpPr>
          <p:cNvPr id="19" name="Text 17"/>
          <p:cNvSpPr txBox="1"/>
          <p:nvPr/>
        </p:nvSpPr>
        <p:spPr>
          <a:xfrm>
            <a:off x="566928" y="2615184"/>
            <a:ext cx="3649370" cy="274320"/>
          </a:xfrm>
          <a:prstGeom prst="rect">
            <a:avLst/>
          </a:prstGeom>
          <a:noFill/>
          <a:ln/>
        </p:spPr>
        <p:txBody>
          <a:bodyPr wrap="square" lIns="0" tIns="0" rIns="0" bIns="0" rtlCol="0" anchor="ctr"/>
          <a:lstStyle/>
          <a:p>
            <a:pPr algn="ctr" indent="0" marL="0">
              <a:buNone/>
            </a:pPr>
            <a:r>
              <a:rPr lang="en-US" sz="1300" dirty="0">
                <a:solidFill>
                  <a:srgbClr val="111418"/>
                </a:solidFill>
                <a:latin typeface="Courier New" pitchFamily="34" charset="0"/>
                <a:ea typeface="Courier New" pitchFamily="34" charset="-122"/>
                <a:cs typeface="Courier New" pitchFamily="34" charset="-120"/>
              </a:rPr>
              <a:t>x₁ … x₃₈₄</a:t>
            </a:r>
            <a:endParaRPr lang="en-US" sz="1300" dirty="0"/>
          </a:p>
        </p:txBody>
      </p:sp>
      <p:sp>
        <p:nvSpPr>
          <p:cNvPr id="20" name="Text 18"/>
          <p:cNvSpPr txBox="1"/>
          <p:nvPr/>
        </p:nvSpPr>
        <p:spPr>
          <a:xfrm>
            <a:off x="566928" y="3090672"/>
            <a:ext cx="3649370" cy="237744"/>
          </a:xfrm>
          <a:prstGeom prst="rect">
            <a:avLst/>
          </a:prstGeom>
          <a:noFill/>
          <a:ln/>
        </p:spPr>
        <p:txBody>
          <a:bodyPr wrap="square" lIns="0" tIns="0" rIns="0" bIns="0" rtlCol="0" anchor="ctr"/>
          <a:lstStyle/>
          <a:p>
            <a:pPr algn="ctr" indent="0" marL="0">
              <a:buNone/>
            </a:pPr>
            <a:r>
              <a:rPr lang="en-US" sz="1200" b="1" dirty="0">
                <a:solidFill>
                  <a:srgbClr val="0B3C49"/>
                </a:solidFill>
                <a:latin typeface="Calibri" pitchFamily="34" charset="0"/>
                <a:ea typeface="Calibri" pitchFamily="34" charset="-122"/>
                <a:cs typeface="Calibri" pitchFamily="34" charset="-120"/>
              </a:rPr>
              <a:t>Block 2</a:t>
            </a:r>
            <a:endParaRPr lang="en-US" sz="1200" dirty="0"/>
          </a:p>
        </p:txBody>
      </p:sp>
      <p:sp>
        <p:nvSpPr>
          <p:cNvPr id="21" name="Text 19"/>
          <p:cNvSpPr txBox="1"/>
          <p:nvPr/>
        </p:nvSpPr>
        <p:spPr>
          <a:xfrm>
            <a:off x="566928" y="3310128"/>
            <a:ext cx="3649370" cy="219456"/>
          </a:xfrm>
          <a:prstGeom prst="rect">
            <a:avLst/>
          </a:prstGeom>
          <a:noFill/>
          <a:ln/>
        </p:spPr>
        <p:txBody>
          <a:bodyPr wrap="square" lIns="0" tIns="0" rIns="0" bIns="0" rtlCol="0" anchor="ctr"/>
          <a:lstStyle/>
          <a:p>
            <a:pPr algn="ctr" indent="0" marL="0">
              <a:buNone/>
            </a:pPr>
            <a:r>
              <a:rPr lang="en-US" sz="1050" dirty="0">
                <a:solidFill>
                  <a:srgbClr val="58626C"/>
                </a:solidFill>
                <a:latin typeface="Calibri" pitchFamily="34" charset="0"/>
                <a:ea typeface="Calibri" pitchFamily="34" charset="-122"/>
                <a:cs typeface="Calibri" pitchFamily="34" charset="-120"/>
              </a:rPr>
              <a:t>384 values</a:t>
            </a:r>
            <a:endParaRPr lang="en-US" sz="1050" dirty="0"/>
          </a:p>
        </p:txBody>
      </p:sp>
      <p:sp>
        <p:nvSpPr>
          <p:cNvPr id="22" name="Shape 20"/>
          <p:cNvSpPr/>
          <p:nvPr/>
        </p:nvSpPr>
        <p:spPr>
          <a:xfrm>
            <a:off x="4252874" y="2468880"/>
            <a:ext cx="3649370" cy="566928"/>
          </a:xfrm>
          <a:prstGeom prst="rect">
            <a:avLst/>
          </a:prstGeom>
          <a:solidFill>
            <a:srgbClr val="FFFFFF"/>
          </a:solidFill>
          <a:ln w="20320">
            <a:solidFill>
              <a:srgbClr val="1C7293"/>
            </a:solidFill>
            <a:prstDash val="solid"/>
          </a:ln>
        </p:spPr>
      </p:sp>
      <p:sp>
        <p:nvSpPr>
          <p:cNvPr id="23" name="Text 21"/>
          <p:cNvSpPr txBox="1"/>
          <p:nvPr/>
        </p:nvSpPr>
        <p:spPr>
          <a:xfrm>
            <a:off x="4252874" y="2615184"/>
            <a:ext cx="3649370" cy="274320"/>
          </a:xfrm>
          <a:prstGeom prst="rect">
            <a:avLst/>
          </a:prstGeom>
          <a:noFill/>
          <a:ln/>
        </p:spPr>
        <p:txBody>
          <a:bodyPr wrap="square" lIns="0" tIns="0" rIns="0" bIns="0" rtlCol="0" anchor="ctr"/>
          <a:lstStyle/>
          <a:p>
            <a:pPr algn="ctr" indent="0" marL="0">
              <a:buNone/>
            </a:pPr>
            <a:r>
              <a:rPr lang="en-US" sz="1300" dirty="0">
                <a:solidFill>
                  <a:srgbClr val="111418"/>
                </a:solidFill>
                <a:latin typeface="Courier New" pitchFamily="34" charset="0"/>
                <a:ea typeface="Courier New" pitchFamily="34" charset="-122"/>
                <a:cs typeface="Courier New" pitchFamily="34" charset="-120"/>
              </a:rPr>
              <a:t>x₃₈₅ … x₇₆₈</a:t>
            </a:r>
            <a:endParaRPr lang="en-US" sz="1300" dirty="0"/>
          </a:p>
        </p:txBody>
      </p:sp>
      <p:sp>
        <p:nvSpPr>
          <p:cNvPr id="24" name="Text 22"/>
          <p:cNvSpPr txBox="1"/>
          <p:nvPr/>
        </p:nvSpPr>
        <p:spPr>
          <a:xfrm>
            <a:off x="4252874" y="3090672"/>
            <a:ext cx="3649370"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Block 7</a:t>
            </a:r>
            <a:endParaRPr lang="en-US" sz="1200" dirty="0"/>
          </a:p>
        </p:txBody>
      </p:sp>
      <p:sp>
        <p:nvSpPr>
          <p:cNvPr id="25" name="Text 23"/>
          <p:cNvSpPr txBox="1"/>
          <p:nvPr/>
        </p:nvSpPr>
        <p:spPr>
          <a:xfrm>
            <a:off x="4252874" y="3310128"/>
            <a:ext cx="3649370" cy="219456"/>
          </a:xfrm>
          <a:prstGeom prst="rect">
            <a:avLst/>
          </a:prstGeom>
          <a:noFill/>
          <a:ln/>
        </p:spPr>
        <p:txBody>
          <a:bodyPr wrap="square" lIns="0" tIns="0" rIns="0" bIns="0" rtlCol="0" anchor="ctr"/>
          <a:lstStyle/>
          <a:p>
            <a:pPr algn="ctr" indent="0" marL="0">
              <a:buNone/>
            </a:pPr>
            <a:r>
              <a:rPr lang="en-US" sz="1050" dirty="0">
                <a:solidFill>
                  <a:srgbClr val="58626C"/>
                </a:solidFill>
                <a:latin typeface="Calibri" pitchFamily="34" charset="0"/>
                <a:ea typeface="Calibri" pitchFamily="34" charset="-122"/>
                <a:cs typeface="Calibri" pitchFamily="34" charset="-120"/>
              </a:rPr>
              <a:t>384 values</a:t>
            </a:r>
            <a:endParaRPr lang="en-US" sz="1050" dirty="0"/>
          </a:p>
        </p:txBody>
      </p:sp>
      <p:sp>
        <p:nvSpPr>
          <p:cNvPr id="26" name="Shape 24"/>
          <p:cNvSpPr/>
          <p:nvPr/>
        </p:nvSpPr>
        <p:spPr>
          <a:xfrm>
            <a:off x="7938821" y="2468880"/>
            <a:ext cx="3649370" cy="566928"/>
          </a:xfrm>
          <a:prstGeom prst="rect">
            <a:avLst/>
          </a:prstGeom>
          <a:solidFill>
            <a:srgbClr val="FFFFFF"/>
          </a:solidFill>
          <a:ln w="20320">
            <a:solidFill>
              <a:srgbClr val="1F6F43"/>
            </a:solidFill>
            <a:prstDash val="solid"/>
          </a:ln>
        </p:spPr>
      </p:sp>
      <p:sp>
        <p:nvSpPr>
          <p:cNvPr id="27" name="Text 25"/>
          <p:cNvSpPr txBox="1"/>
          <p:nvPr/>
        </p:nvSpPr>
        <p:spPr>
          <a:xfrm>
            <a:off x="7938821" y="2615184"/>
            <a:ext cx="3649370" cy="274320"/>
          </a:xfrm>
          <a:prstGeom prst="rect">
            <a:avLst/>
          </a:prstGeom>
          <a:noFill/>
          <a:ln/>
        </p:spPr>
        <p:txBody>
          <a:bodyPr wrap="square" lIns="0" tIns="0" rIns="0" bIns="0" rtlCol="0" anchor="ctr"/>
          <a:lstStyle/>
          <a:p>
            <a:pPr algn="ctr" indent="0" marL="0">
              <a:buNone/>
            </a:pPr>
            <a:r>
              <a:rPr lang="en-US" sz="1300" dirty="0">
                <a:solidFill>
                  <a:srgbClr val="111418"/>
                </a:solidFill>
                <a:latin typeface="Courier New" pitchFamily="34" charset="0"/>
                <a:ea typeface="Courier New" pitchFamily="34" charset="-122"/>
                <a:cs typeface="Courier New" pitchFamily="34" charset="-120"/>
              </a:rPr>
              <a:t>x₇₆₉ … x₁₁₅₂</a:t>
            </a:r>
            <a:endParaRPr lang="en-US" sz="1300" dirty="0"/>
          </a:p>
        </p:txBody>
      </p:sp>
      <p:sp>
        <p:nvSpPr>
          <p:cNvPr id="28" name="Text 26"/>
          <p:cNvSpPr txBox="1"/>
          <p:nvPr/>
        </p:nvSpPr>
        <p:spPr>
          <a:xfrm>
            <a:off x="7938821" y="3090672"/>
            <a:ext cx="3649370" cy="237744"/>
          </a:xfrm>
          <a:prstGeom prst="rect">
            <a:avLst/>
          </a:prstGeom>
          <a:noFill/>
          <a:ln/>
        </p:spPr>
        <p:txBody>
          <a:bodyPr wrap="square" lIns="0" tIns="0" rIns="0" bIns="0" rtlCol="0" anchor="ctr"/>
          <a:lstStyle/>
          <a:p>
            <a:pPr algn="ctr" indent="0" marL="0">
              <a:buNone/>
            </a:pPr>
            <a:r>
              <a:rPr lang="en-US" sz="1200" b="1" dirty="0">
                <a:solidFill>
                  <a:srgbClr val="1F6F43"/>
                </a:solidFill>
                <a:latin typeface="Calibri" pitchFamily="34" charset="0"/>
                <a:ea typeface="Calibri" pitchFamily="34" charset="-122"/>
                <a:cs typeface="Calibri" pitchFamily="34" charset="-120"/>
              </a:rPr>
              <a:t>Block 11</a:t>
            </a:r>
            <a:endParaRPr lang="en-US" sz="1200" dirty="0"/>
          </a:p>
        </p:txBody>
      </p:sp>
      <p:sp>
        <p:nvSpPr>
          <p:cNvPr id="29" name="Text 27"/>
          <p:cNvSpPr txBox="1"/>
          <p:nvPr/>
        </p:nvSpPr>
        <p:spPr>
          <a:xfrm>
            <a:off x="7938821" y="3310128"/>
            <a:ext cx="3649370" cy="219456"/>
          </a:xfrm>
          <a:prstGeom prst="rect">
            <a:avLst/>
          </a:prstGeom>
          <a:noFill/>
          <a:ln/>
        </p:spPr>
        <p:txBody>
          <a:bodyPr wrap="square" lIns="0" tIns="0" rIns="0" bIns="0" rtlCol="0" anchor="ctr"/>
          <a:lstStyle/>
          <a:p>
            <a:pPr algn="ctr" indent="0" marL="0">
              <a:buNone/>
            </a:pPr>
            <a:r>
              <a:rPr lang="en-US" sz="1050" dirty="0">
                <a:solidFill>
                  <a:srgbClr val="58626C"/>
                </a:solidFill>
                <a:latin typeface="Calibri" pitchFamily="34" charset="0"/>
                <a:ea typeface="Calibri" pitchFamily="34" charset="-122"/>
                <a:cs typeface="Calibri" pitchFamily="34" charset="-120"/>
              </a:rPr>
              <a:t>384 values</a:t>
            </a:r>
            <a:endParaRPr lang="en-US" sz="1050" dirty="0"/>
          </a:p>
        </p:txBody>
      </p:sp>
      <p:sp>
        <p:nvSpPr>
          <p:cNvPr id="30" name="Text 28"/>
          <p:cNvSpPr txBox="1"/>
          <p:nvPr/>
        </p:nvSpPr>
        <p:spPr>
          <a:xfrm>
            <a:off x="566928" y="2176272"/>
            <a:ext cx="11057839" cy="237744"/>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tᵢ  ∈  ℝ¹¹⁵²        i ∈ [1, 196]</a:t>
            </a:r>
            <a:endParaRPr lang="en-US" sz="1300" dirty="0"/>
          </a:p>
        </p:txBody>
      </p:sp>
      <p:sp>
        <p:nvSpPr>
          <p:cNvPr id="31" name="Shape 29"/>
          <p:cNvSpPr/>
          <p:nvPr/>
        </p:nvSpPr>
        <p:spPr>
          <a:xfrm>
            <a:off x="566928" y="3794760"/>
            <a:ext cx="5486400" cy="2103120"/>
          </a:xfrm>
          <a:prstGeom prst="roundRect">
            <a:avLst>
              <a:gd name="adj" fmla="val 3043"/>
            </a:avLst>
          </a:prstGeom>
          <a:solidFill>
            <a:srgbClr val="F4F6F7"/>
          </a:solidFill>
          <a:ln/>
        </p:spPr>
      </p:sp>
      <p:sp>
        <p:nvSpPr>
          <p:cNvPr id="32" name="Text 30"/>
          <p:cNvSpPr txBox="1"/>
          <p:nvPr/>
        </p:nvSpPr>
        <p:spPr>
          <a:xfrm>
            <a:off x="749808" y="3922776"/>
            <a:ext cx="5120640"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Why not the last block only</a:t>
            </a:r>
            <a:endParaRPr lang="en-US" sz="1450" dirty="0"/>
          </a:p>
        </p:txBody>
      </p:sp>
      <p:sp>
        <p:nvSpPr>
          <p:cNvPr id="33" name="Text 31"/>
          <p:cNvSpPr txBox="1"/>
          <p:nvPr/>
        </p:nvSpPr>
        <p:spPr>
          <a:xfrm>
            <a:off x="749808" y="4251960"/>
            <a:ext cx="5120640" cy="148132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last block is the most COMPRESSED: it has discarded whatever the pre-training objective did not need. With a linear head — which is what the assignment's protocol uses — an intermediate block reads better.</a:t>
            </a:r>
            <a:endParaRPr lang="en-US" sz="1200" dirty="0"/>
          </a:p>
        </p:txBody>
      </p:sp>
      <p:sp>
        <p:nvSpPr>
          <p:cNvPr id="34" name="Shape 32"/>
          <p:cNvSpPr/>
          <p:nvPr/>
        </p:nvSpPr>
        <p:spPr>
          <a:xfrm>
            <a:off x="6263640" y="3794760"/>
            <a:ext cx="5367528" cy="2103120"/>
          </a:xfrm>
          <a:prstGeom prst="roundRect">
            <a:avLst>
              <a:gd name="adj" fmla="val 3043"/>
            </a:avLst>
          </a:prstGeom>
          <a:solidFill>
            <a:srgbClr val="FDF7EC"/>
          </a:solidFill>
          <a:ln/>
        </p:spPr>
      </p:sp>
      <p:sp>
        <p:nvSpPr>
          <p:cNvPr id="35" name="Text 33"/>
          <p:cNvSpPr txBox="1"/>
          <p:nvPr/>
        </p:nvSpPr>
        <p:spPr>
          <a:xfrm>
            <a:off x="6446520" y="3922776"/>
            <a:ext cx="5001768" cy="274320"/>
          </a:xfrm>
          <a:prstGeom prst="rect">
            <a:avLst/>
          </a:prstGeom>
          <a:noFill/>
          <a:ln/>
        </p:spPr>
        <p:txBody>
          <a:bodyPr wrap="square" lIns="0" tIns="0" rIns="0" bIns="0" rtlCol="0" anchor="ctr"/>
          <a:lstStyle/>
          <a:p>
            <a:pPr indent="0" marL="0">
              <a:buNone/>
            </a:pPr>
            <a:r>
              <a:rPr lang="en-US" sz="1450" b="1" dirty="0">
                <a:solidFill>
                  <a:srgbClr val="8A5A12"/>
                </a:solidFill>
                <a:latin typeface="Cambria" pitchFamily="34" charset="0"/>
                <a:ea typeface="Cambria" pitchFamily="34" charset="-122"/>
                <a:cs typeface="Cambria" pitchFamily="34" charset="-120"/>
              </a:rPr>
              <a:t>The usual interpretation, and our caution</a:t>
            </a:r>
            <a:endParaRPr lang="en-US" sz="1450" dirty="0"/>
          </a:p>
        </p:txBody>
      </p:sp>
      <p:sp>
        <p:nvSpPr>
          <p:cNvPr id="36" name="Text 34"/>
          <p:cNvSpPr txBox="1"/>
          <p:nvPr/>
        </p:nvSpPr>
        <p:spPr>
          <a:xfrm>
            <a:off x="6446520" y="4251960"/>
            <a:ext cx="5001768" cy="148132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Textbooks read depth as low-level texture → mid-level structure → high-level semantics. It is a reasonable motivation for taking three depths.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ENCODER  ·  REPRESENTATION</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What depth actually does, measured</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Three encoders, 0 / 69 / 179 epochs</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One another, block by block</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k-NN probe, no trained parameters</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macro-F1, validation</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14 / 27</a:t>
            </a:r>
            <a:endParaRPr lang="en-US" sz="1050" dirty="0"/>
          </a:p>
        </p:txBody>
      </p:sp>
      <p:sp>
        <p:nvSpPr>
          <p:cNvPr id="17" name="Text 15"/>
          <p:cNvSpPr txBox="1"/>
          <p:nvPr/>
        </p:nvSpPr>
        <p:spPr>
          <a:xfrm>
            <a:off x="566928" y="1691640"/>
            <a:ext cx="6766560" cy="502920"/>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A parameter-free k-NN probe read each block separately. The random encoder is the control: with untrained weights, depth should carry no structure — and it does not.</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6766560" cy="914400"/>
        </p:xfrm>
        <a:graphic>
          <a:graphicData uri="http://schemas.openxmlformats.org/drawingml/2006/table">
            <a:tbl>
              <a:tblPr/>
              <a:tblGrid>
                <a:gridCol w="1828800"/>
                <a:gridCol w="777240"/>
                <a:gridCol w="1143000"/>
                <a:gridCol w="1143000"/>
                <a:gridCol w="1143000"/>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Encoder</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epochs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 2</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 7</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 11</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spread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Random init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0.7626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0.7639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0.7680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I-JEPA finale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0B3C49"/>
                          </a:solidFill>
                          <a:latin typeface="Calibri" pitchFamily="34" charset="0"/>
                          <a:ea typeface="Calibri" pitchFamily="34" charset="-122"/>
                          <a:cs typeface="Calibri" pitchFamily="34" charset="-120"/>
                        </a:rPr>
                        <a:t>0.6782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0.4043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A62B1F"/>
                          </a:solidFill>
                          <a:latin typeface="Calibri" pitchFamily="34" charset="0"/>
                          <a:ea typeface="Calibri" pitchFamily="34" charset="-122"/>
                          <a:cs typeface="Calibri" pitchFamily="34" charset="-120"/>
                        </a:rPr>
                        <a:t>0.3845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0B3C49"/>
                          </a:solidFill>
                          <a:latin typeface="Calibri" pitchFamily="34" charset="0"/>
                          <a:ea typeface="Calibri" pitchFamily="34" charset="-122"/>
                          <a:cs typeface="Calibri" pitchFamily="34" charset="-120"/>
                        </a:rPr>
                        <a:t>0.294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I-JEPA completa</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179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0B3C49"/>
                          </a:solidFill>
                          <a:latin typeface="Calibri" pitchFamily="34" charset="0"/>
                          <a:ea typeface="Calibri" pitchFamily="34" charset="-122"/>
                          <a:cs typeface="Calibri" pitchFamily="34" charset="-120"/>
                        </a:rPr>
                        <a:t>0.6400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0.4910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0.4892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0B3C49"/>
                          </a:solidFill>
                          <a:latin typeface="Calibri" pitchFamily="34" charset="0"/>
                          <a:ea typeface="Calibri" pitchFamily="34" charset="-122"/>
                          <a:cs typeface="Calibri" pitchFamily="34" charset="-120"/>
                        </a:rPr>
                        <a:t>0.151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Shape 16"/>
          <p:cNvSpPr/>
          <p:nvPr/>
        </p:nvSpPr>
        <p:spPr>
          <a:xfrm>
            <a:off x="566928" y="4023360"/>
            <a:ext cx="6766560" cy="1920240"/>
          </a:xfrm>
          <a:prstGeom prst="roundRect">
            <a:avLst>
              <a:gd name="adj" fmla="val 3333"/>
            </a:avLst>
          </a:prstGeom>
          <a:solidFill>
            <a:srgbClr val="F4F6F7"/>
          </a:solidFill>
          <a:ln/>
        </p:spPr>
      </p:sp>
      <p:sp>
        <p:nvSpPr>
          <p:cNvPr id="20" name="Text 17"/>
          <p:cNvSpPr txBox="1"/>
          <p:nvPr/>
        </p:nvSpPr>
        <p:spPr>
          <a:xfrm>
            <a:off x="749808" y="4151376"/>
            <a:ext cx="6400800"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Read the first row against the others</a:t>
            </a:r>
            <a:endParaRPr lang="en-US" sz="1450" dirty="0"/>
          </a:p>
        </p:txBody>
      </p:sp>
      <p:sp>
        <p:nvSpPr>
          <p:cNvPr id="21" name="Text 18"/>
          <p:cNvSpPr txBox="1"/>
          <p:nvPr/>
        </p:nvSpPr>
        <p:spPr>
          <a:xfrm>
            <a:off x="749808" y="4480560"/>
            <a:ext cx="6400800" cy="12984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On untrained weights the three blocks are indistinguishable — spread 0.005. On trained ones block 2 is worth nearly twice block 11.</a:t>
            </a:r>
            <a:endParaRPr lang="en-US" sz="1200" dirty="0"/>
          </a:p>
        </p:txBody>
      </p:sp>
      <p:sp>
        <p:nvSpPr>
          <p:cNvPr id="22" name="Shape 19"/>
          <p:cNvSpPr/>
          <p:nvPr/>
        </p:nvSpPr>
        <p:spPr>
          <a:xfrm>
            <a:off x="7543800" y="1691640"/>
            <a:ext cx="4087368" cy="4023360"/>
          </a:xfrm>
          <a:prstGeom prst="roundRect">
            <a:avLst>
              <a:gd name="adj" fmla="val 1591"/>
            </a:avLst>
          </a:prstGeom>
          <a:solidFill>
            <a:srgbClr val="F1F6F2"/>
          </a:solidFill>
          <a:ln/>
        </p:spPr>
      </p:sp>
      <p:sp>
        <p:nvSpPr>
          <p:cNvPr id="23" name="Text 20"/>
          <p:cNvSpPr txBox="1"/>
          <p:nvPr/>
        </p:nvSpPr>
        <p:spPr>
          <a:xfrm>
            <a:off x="7726680" y="1819656"/>
            <a:ext cx="372160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Why this matters for our thesis</a:t>
            </a:r>
            <a:endParaRPr lang="en-US" sz="1450" dirty="0"/>
          </a:p>
        </p:txBody>
      </p:sp>
      <p:sp>
        <p:nvSpPr>
          <p:cNvPr id="24" name="Text 21"/>
          <p:cNvSpPr txBox="1"/>
          <p:nvPr/>
        </p:nvSpPr>
        <p:spPr>
          <a:xfrm>
            <a:off x="7726680" y="2148840"/>
            <a:ext cx="3721608" cy="340156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It is the same story as the training trajectory, seen along a different axis.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METHOD  ·  HEADS</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Classification heads: three ways to read a bag</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Frozen encoder tokens</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Three head designs</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Both protocols</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PR-AUC PAI 5 · macro-F1</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15 / 27</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651760"/>
                <a:gridCol w="4206240"/>
                <a:gridCol w="1645920"/>
                <a:gridCol w="25603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Head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it aggregates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Trainable params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Bag-size invariant?</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Flat + attention pooling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Learned weights over tokens, then one linear layer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5.3 M</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no — pooled vector depends on the set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Gated attention pooling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Same, with a gating branch (Ilse et al.)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0.3 M</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Instance-level MIL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Classify EVERY token, then average the probabilities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0.6 M</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F6F43"/>
                          </a:solidFill>
                          <a:latin typeface="Calibri" pitchFamily="34" charset="0"/>
                          <a:ea typeface="Calibri" pitchFamily="34" charset="-122"/>
                          <a:cs typeface="Calibri" pitchFamily="34" charset="-120"/>
                        </a:rPr>
                        <a:t>yes, by construction</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8" name="Shape 15"/>
          <p:cNvSpPr/>
          <p:nvPr/>
        </p:nvSpPr>
        <p:spPr>
          <a:xfrm>
            <a:off x="566928" y="3657600"/>
            <a:ext cx="5486400" cy="2286000"/>
          </a:xfrm>
          <a:prstGeom prst="roundRect">
            <a:avLst>
              <a:gd name="adj" fmla="val 2800"/>
            </a:avLst>
          </a:prstGeom>
          <a:solidFill>
            <a:srgbClr val="F1F6F2"/>
          </a:solidFill>
          <a:ln/>
        </p:spPr>
      </p:sp>
      <p:sp>
        <p:nvSpPr>
          <p:cNvPr id="19" name="Text 16"/>
          <p:cNvSpPr txBox="1"/>
          <p:nvPr/>
        </p:nvSpPr>
        <p:spPr>
          <a:xfrm>
            <a:off x="749808" y="3785616"/>
            <a:ext cx="5120640"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Why instance-level MIL is the principled answer</a:t>
            </a:r>
            <a:endParaRPr lang="en-US" sz="1450" dirty="0"/>
          </a:p>
        </p:txBody>
      </p:sp>
      <p:sp>
        <p:nvSpPr>
          <p:cNvPr id="20" name="Text 17"/>
          <p:cNvSpPr txBox="1"/>
          <p:nvPr/>
        </p:nvSpPr>
        <p:spPr>
          <a:xfrm>
            <a:off x="749808" y="4114800"/>
            <a:ext cx="5120640" cy="16642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Embedding-level pooling builds one vector from N tokens, so N leaks in. Instance-level aggregation classifies each token and averages the decisions — and the mean of N probabilities does not depend on N.</a:t>
            </a:r>
            <a:endParaRPr lang="en-US" sz="1200" dirty="0"/>
          </a:p>
        </p:txBody>
      </p:sp>
      <p:sp>
        <p:nvSpPr>
          <p:cNvPr id="21" name="Shape 18"/>
          <p:cNvSpPr/>
          <p:nvPr/>
        </p:nvSpPr>
        <p:spPr>
          <a:xfrm>
            <a:off x="6263640" y="3657600"/>
            <a:ext cx="5367528" cy="2286000"/>
          </a:xfrm>
          <a:prstGeom prst="roundRect">
            <a:avLst>
              <a:gd name="adj" fmla="val 2800"/>
            </a:avLst>
          </a:prstGeom>
          <a:solidFill>
            <a:srgbClr val="FDF7EC"/>
          </a:solidFill>
          <a:ln/>
        </p:spPr>
      </p:sp>
      <p:sp>
        <p:nvSpPr>
          <p:cNvPr id="22" name="Text 19"/>
          <p:cNvSpPr txBox="1"/>
          <p:nvPr/>
        </p:nvSpPr>
        <p:spPr>
          <a:xfrm>
            <a:off x="6446520" y="3785616"/>
            <a:ext cx="5001768" cy="274320"/>
          </a:xfrm>
          <a:prstGeom prst="rect">
            <a:avLst/>
          </a:prstGeom>
          <a:noFill/>
          <a:ln/>
        </p:spPr>
        <p:txBody>
          <a:bodyPr wrap="square" lIns="0" tIns="0" rIns="0" bIns="0" rtlCol="0" anchor="ctr"/>
          <a:lstStyle/>
          <a:p>
            <a:pPr indent="0" marL="0">
              <a:buNone/>
            </a:pPr>
            <a:r>
              <a:rPr lang="en-US" sz="1450" b="1" dirty="0">
                <a:solidFill>
                  <a:srgbClr val="8A5A12"/>
                </a:solidFill>
                <a:latin typeface="Cambria" pitchFamily="34" charset="0"/>
                <a:ea typeface="Cambria" pitchFamily="34" charset="-122"/>
                <a:cs typeface="Cambria" pitchFamily="34" charset="-120"/>
              </a:rPr>
              <a:t>The hypothesis it falsified</a:t>
            </a:r>
            <a:endParaRPr lang="en-US" sz="1450" dirty="0"/>
          </a:p>
        </p:txBody>
      </p:sp>
      <p:sp>
        <p:nvSpPr>
          <p:cNvPr id="23" name="Text 20"/>
          <p:cNvSpPr txBox="1"/>
          <p:nvPr/>
        </p:nvSpPr>
        <p:spPr>
          <a:xfrm>
            <a:off x="6446520" y="4114800"/>
            <a:ext cx="5001768" cy="16642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Under the prescribed protocol, MIL made the RANDOM encoder better, not worse: 0.7851 against 0.7705.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THE HEAD  ·  DESIGN CHOICE</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classifier is 3,459 parameters — and that is the point</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Linear 1,152 → 3</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Encoder: 21.6 M · pooling: 5.3 M</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Both protocols</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5 seeds per cell</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16 / 27</a:t>
            </a:r>
            <a:endParaRPr lang="en-US" sz="1050" dirty="0"/>
          </a:p>
        </p:txBody>
      </p:sp>
      <p:sp>
        <p:nvSpPr>
          <p:cNvPr id="17" name="Text 15"/>
          <p:cNvSpPr txBox="1"/>
          <p:nvPr/>
        </p:nvSpPr>
        <p:spPr>
          <a:xfrm>
            <a:off x="566928" y="1691640"/>
            <a:ext cx="5943600" cy="502920"/>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The final stage takes the aggregated vector and maps it to three logits — one per PAI grade. A single fully-connected layer, nothing else.</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5943600" cy="914400"/>
        </p:xfrm>
        <a:graphic>
          <a:graphicData uri="http://schemas.openxmlformats.org/drawingml/2006/table">
            <a:tbl>
              <a:tblPr/>
              <a:tblGrid>
                <a:gridCol w="2286000"/>
                <a:gridCol w="2011680"/>
                <a:gridCol w="16459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Share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Encoder (frozen)</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21,589,632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Attention pooling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5,316,480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99.9 %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Classifier head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3,459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0.1 %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Text 16"/>
          <p:cNvSpPr txBox="1"/>
          <p:nvPr/>
        </p:nvSpPr>
        <p:spPr>
          <a:xfrm>
            <a:off x="566928" y="4023360"/>
            <a:ext cx="5943600" cy="36576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Of everything trained downstream, the classifier is one part in a thousand.</a:t>
            </a:r>
            <a:endParaRPr lang="en-US" sz="1300" dirty="0"/>
          </a:p>
        </p:txBody>
      </p:sp>
      <p:sp>
        <p:nvSpPr>
          <p:cNvPr id="20" name="Shape 17"/>
          <p:cNvSpPr/>
          <p:nvPr/>
        </p:nvSpPr>
        <p:spPr>
          <a:xfrm>
            <a:off x="6675120" y="1691640"/>
            <a:ext cx="4956048" cy="2286000"/>
          </a:xfrm>
          <a:prstGeom prst="roundRect">
            <a:avLst>
              <a:gd name="adj" fmla="val 2800"/>
            </a:avLst>
          </a:prstGeom>
          <a:solidFill>
            <a:srgbClr val="F1F6F2"/>
          </a:solidFill>
          <a:ln/>
        </p:spPr>
      </p:sp>
      <p:sp>
        <p:nvSpPr>
          <p:cNvPr id="21" name="Text 18"/>
          <p:cNvSpPr txBox="1"/>
          <p:nvPr/>
        </p:nvSpPr>
        <p:spPr>
          <a:xfrm>
            <a:off x="6858000" y="1819656"/>
            <a:ext cx="459028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Small on purpose, not for lack of capacity</a:t>
            </a:r>
            <a:endParaRPr lang="en-US" sz="1450" dirty="0"/>
          </a:p>
        </p:txBody>
      </p:sp>
      <p:sp>
        <p:nvSpPr>
          <p:cNvPr id="22" name="Text 19"/>
          <p:cNvSpPr txBox="1"/>
          <p:nvPr/>
        </p:nvSpPr>
        <p:spPr>
          <a:xfrm>
            <a:off x="6858000" y="2148840"/>
            <a:ext cx="4590288" cy="16642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A large head could reconstruct information the encoder had discarded, and the comparison would then measure the head, not the representation. Keeping it linear forces the answer to be already present in the frozen vector.</a:t>
            </a:r>
            <a:endParaRPr lang="en-US" sz="1200" dirty="0"/>
          </a:p>
        </p:txBody>
      </p:sp>
      <p:sp>
        <p:nvSpPr>
          <p:cNvPr id="23" name="Shape 20"/>
          <p:cNvSpPr/>
          <p:nvPr/>
        </p:nvSpPr>
        <p:spPr>
          <a:xfrm>
            <a:off x="6675120" y="4434840"/>
            <a:ext cx="4956048" cy="1645920"/>
          </a:xfrm>
          <a:prstGeom prst="roundRect">
            <a:avLst>
              <a:gd name="adj" fmla="val 3889"/>
            </a:avLst>
          </a:prstGeom>
          <a:solidFill>
            <a:srgbClr val="F4F6F7"/>
          </a:solidFill>
          <a:ln/>
        </p:spPr>
      </p:sp>
      <p:sp>
        <p:nvSpPr>
          <p:cNvPr id="24" name="Text 21"/>
          <p:cNvSpPr txBox="1"/>
          <p:nvPr/>
        </p:nvSpPr>
        <p:spPr>
          <a:xfrm>
            <a:off x="6858000" y="4562856"/>
            <a:ext cx="459028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And what the 5 seeds change</a:t>
            </a:r>
            <a:endParaRPr lang="en-US" sz="1450" dirty="0"/>
          </a:p>
        </p:txBody>
      </p:sp>
      <p:sp>
        <p:nvSpPr>
          <p:cNvPr id="25" name="Text 22"/>
          <p:cNvSpPr txBox="1"/>
          <p:nvPr/>
        </p:nvSpPr>
        <p:spPr>
          <a:xfrm>
            <a:off x="6858000" y="4892040"/>
            <a:ext cx="4590288" cy="102412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Head initialisation, batch order, and — for the sampling methods — which views are drawn. Not the encoder, not the split, not the test set.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METHOD  ·  HEADS  ·  RESULT</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Instance-level MIL isolates the encoder</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I-JEPA (frozen, ep. 69)</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Random ViT (frozen)</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Instance-level MIL head</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macro-F1, test, 5 seeds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17 / 27</a:t>
            </a:r>
            <a:endParaRPr lang="en-US" sz="1050" dirty="0"/>
          </a:p>
        </p:txBody>
      </p:sp>
      <p:graphicFrame>
        <p:nvGraphicFramePr>
          <p:cNvPr id="17" name="Chart 0" descr=""/>
          <p:cNvGraphicFramePr/>
          <p:nvPr/>
        </p:nvGraphicFramePr>
        <p:xfrm>
          <a:off x="566928" y="169164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66928" y="5120640"/>
            <a:ext cx="6309360" cy="365760"/>
          </a:xfrm>
          <a:prstGeom prst="rect">
            <a:avLst/>
          </a:prstGeom>
          <a:noFill/>
          <a:ln/>
        </p:spPr>
        <p:txBody>
          <a:bodyPr wrap="square" lIns="0" tIns="0" rIns="0" bIns="0" rtlCol="0" anchor="ctr"/>
          <a:lstStyle/>
          <a:p>
            <a:pPr indent="0" marL="0">
              <a:buNone/>
            </a:pPr>
            <a:r>
              <a:rPr lang="en-US" sz="1250" i="1" dirty="0">
                <a:solidFill>
                  <a:srgbClr val="0B3C49"/>
                </a:solidFill>
                <a:latin typeface="Calibri" pitchFamily="34" charset="0"/>
                <a:ea typeface="Calibri" pitchFamily="34" charset="-122"/>
                <a:cs typeface="Calibri" pitchFamily="34" charset="-120"/>
              </a:rPr>
              <a:t>Same head, same encoders, same seeds — the only difference is whether bag size varies with the class.</a:t>
            </a:r>
            <a:endParaRPr lang="en-US" sz="1250" dirty="0"/>
          </a:p>
        </p:txBody>
      </p:sp>
      <p:sp>
        <p:nvSpPr>
          <p:cNvPr id="19" name="Shape 16"/>
          <p:cNvSpPr/>
          <p:nvPr/>
        </p:nvSpPr>
        <p:spPr>
          <a:xfrm>
            <a:off x="7086600" y="1691640"/>
            <a:ext cx="4544568" cy="2103120"/>
          </a:xfrm>
          <a:prstGeom prst="roundRect">
            <a:avLst>
              <a:gd name="adj" fmla="val 3043"/>
            </a:avLst>
          </a:prstGeom>
          <a:solidFill>
            <a:srgbClr val="FBF3F2"/>
          </a:solidFill>
          <a:ln/>
        </p:spPr>
      </p:sp>
      <p:sp>
        <p:nvSpPr>
          <p:cNvPr id="20" name="Text 17"/>
          <p:cNvSpPr txBox="1"/>
          <p:nvPr/>
        </p:nvSpPr>
        <p:spPr>
          <a:xfrm>
            <a:off x="7269480" y="1819656"/>
            <a:ext cx="4178808" cy="274320"/>
          </a:xfrm>
          <a:prstGeom prst="rect">
            <a:avLst/>
          </a:prstGeom>
          <a:noFill/>
          <a:ln/>
        </p:spPr>
        <p:txBody>
          <a:bodyPr wrap="square" lIns="0" tIns="0" rIns="0" bIns="0" rtlCol="0" anchor="ctr"/>
          <a:lstStyle/>
          <a:p>
            <a:pPr indent="0" marL="0">
              <a:buNone/>
            </a:pPr>
            <a:r>
              <a:rPr lang="en-US" sz="1450" b="1" dirty="0">
                <a:solidFill>
                  <a:srgbClr val="A62B1F"/>
                </a:solidFill>
                <a:latin typeface="Cambria" pitchFamily="34" charset="0"/>
                <a:ea typeface="Cambria" pitchFamily="34" charset="-122"/>
                <a:cs typeface="Cambria" pitchFamily="34" charset="-120"/>
              </a:rPr>
              <a:t>With the bias present</a:t>
            </a:r>
            <a:endParaRPr lang="en-US" sz="1450" dirty="0"/>
          </a:p>
        </p:txBody>
      </p:sp>
      <p:sp>
        <p:nvSpPr>
          <p:cNvPr id="21" name="Text 18"/>
          <p:cNvSpPr txBox="1"/>
          <p:nvPr/>
        </p:nvSpPr>
        <p:spPr>
          <a:xfrm>
            <a:off x="7269480" y="2148840"/>
            <a:ext cx="4178808" cy="148132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random encoder wins by 0.0282 (z = −5.76). The head reads position, and position encodes size.</a:t>
            </a:r>
            <a:endParaRPr lang="en-US" sz="1200" dirty="0"/>
          </a:p>
        </p:txBody>
      </p:sp>
      <p:sp>
        <p:nvSpPr>
          <p:cNvPr id="22" name="Shape 19"/>
          <p:cNvSpPr/>
          <p:nvPr/>
        </p:nvSpPr>
        <p:spPr>
          <a:xfrm>
            <a:off x="7086600" y="3977640"/>
            <a:ext cx="4544568" cy="2148840"/>
          </a:xfrm>
          <a:prstGeom prst="roundRect">
            <a:avLst>
              <a:gd name="adj" fmla="val 2979"/>
            </a:avLst>
          </a:prstGeom>
          <a:solidFill>
            <a:srgbClr val="F1F6F2"/>
          </a:solidFill>
          <a:ln/>
        </p:spPr>
      </p:sp>
      <p:sp>
        <p:nvSpPr>
          <p:cNvPr id="23" name="Text 20"/>
          <p:cNvSpPr txBox="1"/>
          <p:nvPr/>
        </p:nvSpPr>
        <p:spPr>
          <a:xfrm>
            <a:off x="7269480" y="4105656"/>
            <a:ext cx="417880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With the bias removed</a:t>
            </a:r>
            <a:endParaRPr lang="en-US" sz="1450" dirty="0"/>
          </a:p>
        </p:txBody>
      </p:sp>
      <p:sp>
        <p:nvSpPr>
          <p:cNvPr id="24" name="Text 21"/>
          <p:cNvSpPr txBox="1"/>
          <p:nvPr/>
        </p:nvSpPr>
        <p:spPr>
          <a:xfrm>
            <a:off x="7269480" y="4434840"/>
            <a:ext cx="4178808" cy="15270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random encoder collapses to 0.4014 while I-JEPA holds at 0.5171: +0.1158, z = +6.49, a relative gain of +28.8 %.</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METHOD  ·  NOVELTY</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Our novelty: balanced token sampling</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Any frozen encoder</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Focal · class-weighted · oversampling · SMOTE</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Both protocols</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PR-AUC PAI 5</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18 / 27</a:t>
            </a:r>
            <a:endParaRPr lang="en-US" sz="1050" dirty="0"/>
          </a:p>
        </p:txBody>
      </p:sp>
      <p:sp>
        <p:nvSpPr>
          <p:cNvPr id="17" name="Text 15"/>
          <p:cNvSpPr txBox="1"/>
          <p:nvPr/>
        </p:nvSpPr>
        <p:spPr>
          <a:xfrm>
            <a:off x="566928" y="1691640"/>
            <a:ext cx="6583680" cy="548640"/>
          </a:xfrm>
          <a:prstGeom prst="rect">
            <a:avLst/>
          </a:prstGeom>
          <a:noFill/>
          <a:ln/>
        </p:spPr>
        <p:txBody>
          <a:bodyPr wrap="square" lIns="0" tIns="0" rIns="0" bIns="0" rtlCol="0" anchor="ctr"/>
          <a:lstStyle/>
          <a:p>
            <a:pPr indent="0" marL="0">
              <a:lnSpc>
                <a:spcPts val="2000"/>
              </a:lnSpc>
              <a:buNone/>
            </a:pPr>
            <a:r>
              <a:rPr lang="en-US" sz="1400" dirty="0">
                <a:solidFill>
                  <a:srgbClr val="111418"/>
                </a:solidFill>
                <a:latin typeface="Calibri" pitchFamily="34" charset="0"/>
                <a:ea typeface="Calibri" pitchFamily="34" charset="-122"/>
                <a:cs typeface="Calibri" pitchFamily="34" charset="-120"/>
              </a:rPr>
              <a:t>The assignment asks for a novelty acting in latent space. Ours rebalances by sampling different subsets of a lesion's own tokens — each subset becomes a training instance.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6583680" cy="914400"/>
        </p:xfrm>
        <a:graphic>
          <a:graphicData uri="http://schemas.openxmlformats.org/drawingml/2006/table">
            <a:tbl>
              <a:tblPr/>
              <a:tblGrid>
                <a:gridCol w="2011680"/>
                <a:gridCol w="2651760"/>
                <a:gridCol w="1188720"/>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multiplies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Operates in latent space?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Invents data?</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Random oversampling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identical copies of the same vector</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Focal / class-weighted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nothing — reweights the loss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SMOTE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interpolated synthetic points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A62B1F"/>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Balanced token sampling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genuine distinct views of the same lesion</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F6F43"/>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F6F43"/>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Text 16"/>
          <p:cNvSpPr txBox="1"/>
          <p:nvPr/>
        </p:nvSpPr>
        <p:spPr>
          <a:xfrm>
            <a:off x="566928" y="4480560"/>
            <a:ext cx="6583680" cy="320040"/>
          </a:xfrm>
          <a:prstGeom prst="rect">
            <a:avLst/>
          </a:prstGeom>
          <a:noFill/>
          <a:ln/>
        </p:spPr>
        <p:txBody>
          <a:bodyPr wrap="square" lIns="0" tIns="0" rIns="0" bIns="0" rtlCol="0" anchor="ctr"/>
          <a:lstStyle/>
          <a:p>
            <a:pPr indent="0" marL="0">
              <a:buNone/>
            </a:pPr>
            <a:r>
              <a:rPr lang="en-US" sz="1250" b="1" dirty="0">
                <a:solidFill>
                  <a:srgbClr val="111418"/>
                </a:solidFill>
                <a:latin typeface="Calibri" pitchFamily="34" charset="0"/>
                <a:ea typeface="Calibri" pitchFamily="34" charset="-122"/>
                <a:cs typeface="Calibri" pitchFamily="34" charset="-120"/>
              </a:rPr>
              <a:t>α</a:t>
            </a:r>
            <a:pPr indent="0" marL="0">
              <a:buNone/>
            </a:pPr>
            <a:r>
              <a:rPr lang="en-US" sz="1250" dirty="0">
                <a:solidFill>
                  <a:srgbClr val="111418"/>
                </a:solidFill>
                <a:latin typeface="Calibri" pitchFamily="34" charset="0"/>
                <a:ea typeface="Calibri" pitchFamily="34" charset="-122"/>
                <a:cs typeface="Calibri" pitchFamily="34" charset="-120"/>
              </a:rPr>
              <a:t> sets views per class:  n</a:t>
            </a:r>
            <a:pPr indent="0" marL="0">
              <a:buNone/>
            </a:pPr>
            <a:r>
              <a:rPr lang="en-US" sz="900" dirty="0">
                <a:solidFill>
                  <a:srgbClr val="111418"/>
                </a:solidFill>
                <a:latin typeface="Calibri" pitchFamily="34" charset="0"/>
                <a:ea typeface="Calibri" pitchFamily="34" charset="-122"/>
                <a:cs typeface="Calibri" pitchFamily="34" charset="-120"/>
              </a:rPr>
              <a:t>c</a:t>
            </a:r>
            <a:pPr indent="0" marL="0">
              <a:buNone/>
            </a:pPr>
            <a:r>
              <a:rPr lang="en-US" sz="1250" dirty="0">
                <a:solidFill>
                  <a:srgbClr val="111418"/>
                </a:solidFill>
                <a:latin typeface="Calibri" pitchFamily="34" charset="0"/>
                <a:ea typeface="Calibri" pitchFamily="34" charset="-122"/>
                <a:cs typeface="Calibri" pitchFamily="34" charset="-120"/>
              </a:rPr>
              <a:t> = ⌈(max/n</a:t>
            </a:r>
            <a:pPr indent="0" marL="0">
              <a:buNone/>
            </a:pPr>
            <a:r>
              <a:rPr lang="en-US" sz="900" dirty="0">
                <a:solidFill>
                  <a:srgbClr val="111418"/>
                </a:solidFill>
                <a:latin typeface="Calibri" pitchFamily="34" charset="0"/>
                <a:ea typeface="Calibri" pitchFamily="34" charset="-122"/>
                <a:cs typeface="Calibri" pitchFamily="34" charset="-120"/>
              </a:rPr>
              <a:t>c</a:t>
            </a:r>
            <a:pPr indent="0" marL="0">
              <a:buNone/>
            </a:pPr>
            <a:r>
              <a:rPr lang="en-US" sz="1250" dirty="0">
                <a:solidFill>
                  <a:srgbClr val="111418"/>
                </a:solidFill>
                <a:latin typeface="Calibri" pitchFamily="34" charset="0"/>
                <a:ea typeface="Calibri" pitchFamily="34" charset="-122"/>
                <a:cs typeface="Calibri" pitchFamily="34" charset="-120"/>
              </a:rPr>
              <a:t>)</a:t>
            </a:r>
            <a:pPr indent="0" marL="0">
              <a:buNone/>
            </a:pPr>
            <a:r>
              <a:rPr lang="en-US" sz="900" dirty="0">
                <a:solidFill>
                  <a:srgbClr val="111418"/>
                </a:solidFill>
                <a:latin typeface="Calibri" pitchFamily="34" charset="0"/>
                <a:ea typeface="Calibri" pitchFamily="34" charset="-122"/>
                <a:cs typeface="Calibri" pitchFamily="34" charset="-120"/>
              </a:rPr>
              <a:t>α</a:t>
            </a:r>
            <a:pPr indent="0" marL="0">
              <a:buNone/>
            </a:pPr>
            <a:r>
              <a:rPr lang="en-US" sz="1250" dirty="0">
                <a:solidFill>
                  <a:srgbClr val="111418"/>
                </a:solidFill>
                <a:latin typeface="Calibri" pitchFamily="34" charset="0"/>
                <a:ea typeface="Calibri" pitchFamily="34" charset="-122"/>
                <a:cs typeface="Calibri" pitchFamily="34" charset="-120"/>
              </a:rPr>
              <a:t>⌉ — at α = 0.5, 6,894 instances against 4,719.</a:t>
            </a:r>
            <a:endParaRPr lang="en-US" sz="1250" dirty="0"/>
          </a:p>
        </p:txBody>
      </p:sp>
      <p:sp>
        <p:nvSpPr>
          <p:cNvPr id="20" name="Shape 17"/>
          <p:cNvSpPr/>
          <p:nvPr/>
        </p:nvSpPr>
        <p:spPr>
          <a:xfrm>
            <a:off x="7360920" y="1691640"/>
            <a:ext cx="4270248" cy="2286000"/>
          </a:xfrm>
          <a:prstGeom prst="roundRect">
            <a:avLst>
              <a:gd name="adj" fmla="val 2800"/>
            </a:avLst>
          </a:prstGeom>
          <a:solidFill>
            <a:srgbClr val="F1F6F2"/>
          </a:solidFill>
          <a:ln/>
        </p:spPr>
      </p:sp>
      <p:sp>
        <p:nvSpPr>
          <p:cNvPr id="21" name="Text 18"/>
          <p:cNvSpPr txBox="1"/>
          <p:nvPr/>
        </p:nvSpPr>
        <p:spPr>
          <a:xfrm>
            <a:off x="7543800" y="1819656"/>
            <a:ext cx="390448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Why the views are genuine</a:t>
            </a:r>
            <a:endParaRPr lang="en-US" sz="1450" dirty="0"/>
          </a:p>
        </p:txBody>
      </p:sp>
      <p:sp>
        <p:nvSpPr>
          <p:cNvPr id="22" name="Text 19"/>
          <p:cNvSpPr txBox="1"/>
          <p:nvPr/>
        </p:nvSpPr>
        <p:spPr>
          <a:xfrm>
            <a:off x="7543800" y="2148840"/>
            <a:ext cx="3904488" cy="16642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Every view is built from real tokens of the same lesion, so nothing is invented and no vector is duplicated. The classifier sees one lesion described several genuinely different ways — which is augmentation, not replication.</a:t>
            </a:r>
            <a:endParaRPr lang="en-US" sz="1200" dirty="0"/>
          </a:p>
        </p:txBody>
      </p:sp>
      <p:sp>
        <p:nvSpPr>
          <p:cNvPr id="23" name="Shape 20"/>
          <p:cNvSpPr/>
          <p:nvPr/>
        </p:nvSpPr>
        <p:spPr>
          <a:xfrm>
            <a:off x="7360920" y="4160520"/>
            <a:ext cx="4270248" cy="1920240"/>
          </a:xfrm>
          <a:prstGeom prst="roundRect">
            <a:avLst>
              <a:gd name="adj" fmla="val 3333"/>
            </a:avLst>
          </a:prstGeom>
          <a:solidFill>
            <a:srgbClr val="F4F6F7"/>
          </a:solidFill>
          <a:ln/>
        </p:spPr>
      </p:sp>
      <p:sp>
        <p:nvSpPr>
          <p:cNvPr id="24" name="Text 21"/>
          <p:cNvSpPr txBox="1"/>
          <p:nvPr/>
        </p:nvSpPr>
        <p:spPr>
          <a:xfrm>
            <a:off x="7543800" y="4288536"/>
            <a:ext cx="390448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The control we owed</a:t>
            </a:r>
            <a:endParaRPr lang="en-US" sz="1450" dirty="0"/>
          </a:p>
        </p:txBody>
      </p:sp>
      <p:sp>
        <p:nvSpPr>
          <p:cNvPr id="25" name="Text 22"/>
          <p:cNvSpPr txBox="1"/>
          <p:nvPr/>
        </p:nvSpPr>
        <p:spPr>
          <a:xfrm>
            <a:off x="7543800" y="4617720"/>
            <a:ext cx="3904488" cy="12984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method rebalances AND augments at once. A budget-matched uniform variant separates the two — without it we could not attribute the gain.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RESULTS  ·  NOVELTY</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Novelty: ablation against every baseline</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Random ViT (frozen)</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Four imbalance baselines</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As prescribed (bbox)</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PR-AUC PAI 5, test, 5 seeds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19 / 27</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6309360" cy="914400"/>
        </p:xfrm>
        <a:graphic>
          <a:graphicData uri="http://schemas.openxmlformats.org/drawingml/2006/table">
            <a:tbl>
              <a:tblPr/>
              <a:tblGrid>
                <a:gridCol w="2194560"/>
                <a:gridCol w="1737360"/>
                <a:gridCol w="1188720"/>
                <a:gridCol w="11887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PR-AUC PAI 5</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 5</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Precision 5</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Balanced token sampling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0.8826 ± 0.0050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0.771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0.789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Focal loss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0.8730 ± 0.0117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0.791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0.784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Class-weighted CE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0.8706 ± 0.0091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0.798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0.737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Plain cross-entropy</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0.8676 ± 0.0065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0.755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0.774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Random oversampling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0.8658 ± 0.0142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0.798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A62B1F"/>
                          </a:solidFill>
                          <a:latin typeface="Calibri" pitchFamily="34" charset="0"/>
                          <a:ea typeface="Calibri" pitchFamily="34" charset="-122"/>
                          <a:cs typeface="Calibri" pitchFamily="34" charset="-120"/>
                        </a:rPr>
                        <a:t>0.728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8" name="Text 15"/>
          <p:cNvSpPr txBox="1"/>
          <p:nvPr/>
        </p:nvSpPr>
        <p:spPr>
          <a:xfrm>
            <a:off x="566928" y="4023360"/>
            <a:ext cx="6309360" cy="502920"/>
          </a:xfrm>
          <a:prstGeom prst="rect">
            <a:avLst/>
          </a:prstGeom>
          <a:noFill/>
          <a:ln/>
        </p:spPr>
        <p:txBody>
          <a:bodyPr wrap="square" lIns="0" tIns="0" rIns="0" bIns="0" rtlCol="0" anchor="ctr"/>
          <a:lstStyle/>
          <a:p>
            <a:pPr indent="0" marL="0">
              <a:lnSpc>
                <a:spcPts val="1800"/>
              </a:lnSpc>
              <a:buNone/>
            </a:pPr>
            <a:r>
              <a:rPr lang="en-US" sz="1250" dirty="0">
                <a:solidFill>
                  <a:srgbClr val="111418"/>
                </a:solidFill>
                <a:latin typeface="Calibri" pitchFamily="34" charset="0"/>
                <a:ea typeface="Calibri" pitchFamily="34" charset="-122"/>
                <a:cs typeface="Calibri" pitchFamily="34" charset="-120"/>
              </a:rPr>
              <a:t>+0.0168 over oversampling (z = 2.50) and +0.0150 over plain CE (z = 4.11) — and it wins without the recall-for-precision trade the others make.</a:t>
            </a:r>
            <a:endParaRPr lang="en-US" sz="1250" dirty="0"/>
          </a:p>
        </p:txBody>
      </p:sp>
      <p:sp>
        <p:nvSpPr>
          <p:cNvPr id="19" name="Shape 16"/>
          <p:cNvSpPr/>
          <p:nvPr/>
        </p:nvSpPr>
        <p:spPr>
          <a:xfrm>
            <a:off x="566928" y="4663440"/>
            <a:ext cx="6309360" cy="1371600"/>
          </a:xfrm>
          <a:prstGeom prst="roundRect">
            <a:avLst>
              <a:gd name="adj" fmla="val 4667"/>
            </a:avLst>
          </a:prstGeom>
          <a:solidFill>
            <a:srgbClr val="FDF7EC"/>
          </a:solidFill>
          <a:ln/>
        </p:spPr>
      </p:sp>
      <p:sp>
        <p:nvSpPr>
          <p:cNvPr id="20" name="Text 17"/>
          <p:cNvSpPr txBox="1"/>
          <p:nvPr/>
        </p:nvSpPr>
        <p:spPr>
          <a:xfrm>
            <a:off x="749808" y="4791456"/>
            <a:ext cx="5943600" cy="274320"/>
          </a:xfrm>
          <a:prstGeom prst="rect">
            <a:avLst/>
          </a:prstGeom>
          <a:noFill/>
          <a:ln/>
        </p:spPr>
        <p:txBody>
          <a:bodyPr wrap="square" lIns="0" tIns="0" rIns="0" bIns="0" rtlCol="0" anchor="ctr"/>
          <a:lstStyle/>
          <a:p>
            <a:pPr indent="0" marL="0">
              <a:buNone/>
            </a:pPr>
            <a:r>
              <a:rPr lang="en-US" sz="1450" b="1" dirty="0">
                <a:solidFill>
                  <a:srgbClr val="8A5A12"/>
                </a:solidFill>
                <a:latin typeface="Cambria" pitchFamily="34" charset="0"/>
                <a:ea typeface="Cambria" pitchFamily="34" charset="-122"/>
                <a:cs typeface="Cambria" pitchFamily="34" charset="-120"/>
              </a:rPr>
              <a:t>Declared before being asked</a:t>
            </a:r>
            <a:endParaRPr lang="en-US" sz="1450" dirty="0"/>
          </a:p>
        </p:txBody>
      </p:sp>
      <p:sp>
        <p:nvSpPr>
          <p:cNvPr id="21" name="Text 18"/>
          <p:cNvSpPr txBox="1"/>
          <p:nvPr/>
        </p:nvSpPr>
        <p:spPr>
          <a:xfrm>
            <a:off x="749808" y="5120640"/>
            <a:ext cx="5943600" cy="7498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On F1 of the rare class focal loss edges ahead (0.7863 vs 0.7794). Our win is on the primary metric, not on all of them. And the α sweep ran on a fixed encoder, to isolate the parameter.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RESULTS  ·  OBJECTIVE 4</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The α sweep: more rebalancing is not better</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Random ViT (frozen)</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Four values of α</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As prescribed (bbox)</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PR-AUC PAI 5, test</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20 / 27</a:t>
            </a:r>
            <a:endParaRPr lang="en-US" sz="1050" dirty="0"/>
          </a:p>
        </p:txBody>
      </p:sp>
      <p:sp>
        <p:nvSpPr>
          <p:cNvPr id="17" name="Text 15"/>
          <p:cNvSpPr txBox="1"/>
          <p:nvPr/>
        </p:nvSpPr>
        <p:spPr>
          <a:xfrm>
            <a:off x="566928" y="1691640"/>
            <a:ext cx="5852160" cy="502920"/>
          </a:xfrm>
          <a:prstGeom prst="rect">
            <a:avLst/>
          </a:prstGeom>
          <a:noFill/>
          <a:ln/>
        </p:spPr>
        <p:txBody>
          <a:bodyPr wrap="square" lIns="0" tIns="0" rIns="0" bIns="0" rtlCol="0" anchor="ctr"/>
          <a:lstStyle/>
          <a:p>
            <a:pPr indent="0" marL="0">
              <a:lnSpc>
                <a:spcPts val="2000"/>
              </a:lnSpc>
              <a:buNone/>
            </a:pPr>
            <a:r>
              <a:rPr lang="en-US" sz="1350" dirty="0">
                <a:solidFill>
                  <a:srgbClr val="111418"/>
                </a:solidFill>
                <a:latin typeface="Calibri" pitchFamily="34" charset="0"/>
                <a:ea typeface="Calibri" pitchFamily="34" charset="-122"/>
                <a:cs typeface="Calibri" pitchFamily="34" charset="-120"/>
              </a:rPr>
              <a:t>α sets how many views each class receives. Screening on 3 seeds, then the two finalists re-measured on 5 seeds disjoint from the screening ones.</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5852160" cy="914400"/>
        </p:xfrm>
        <a:graphic>
          <a:graphicData uri="http://schemas.openxmlformats.org/drawingml/2006/table">
            <a:tbl>
              <a:tblPr/>
              <a:tblGrid>
                <a:gridCol w="777240"/>
                <a:gridCol w="1691640"/>
                <a:gridCol w="1691640"/>
                <a:gridCol w="16916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α</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views per class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instances/epoch</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PR-AUC PAI 5</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1 / 1 / 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6,421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0.8793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1 / 2 / 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6,894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0.8814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0.75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1 / 2 / 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7,840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0.8747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1 / 3 / 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10,015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A62B1F"/>
                          </a:solidFill>
                          <a:latin typeface="Calibri" pitchFamily="34" charset="0"/>
                          <a:ea typeface="Calibri" pitchFamily="34" charset="-122"/>
                          <a:cs typeface="Calibri" pitchFamily="34" charset="-120"/>
                        </a:rPr>
                        <a:t>0.8689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Text 16"/>
          <p:cNvSpPr txBox="1"/>
          <p:nvPr/>
        </p:nvSpPr>
        <p:spPr>
          <a:xfrm>
            <a:off x="566928" y="4389120"/>
            <a:ext cx="5852160" cy="502920"/>
          </a:xfrm>
          <a:prstGeom prst="rect">
            <a:avLst/>
          </a:prstGeom>
          <a:noFill/>
          <a:ln/>
        </p:spPr>
        <p:txBody>
          <a:bodyPr wrap="square" lIns="0" tIns="0" rIns="0" bIns="0" rtlCol="0" anchor="ctr"/>
          <a:lstStyle/>
          <a:p>
            <a:pPr indent="0" marL="0">
              <a:lnSpc>
                <a:spcPts val="1900"/>
              </a:lnSpc>
              <a:buNone/>
            </a:pPr>
            <a:r>
              <a:rPr lang="en-US" sz="1300" b="1" dirty="0">
                <a:solidFill>
                  <a:srgbClr val="0B3C49"/>
                </a:solidFill>
                <a:latin typeface="Calibri" pitchFamily="34" charset="0"/>
                <a:ea typeface="Calibri" pitchFamily="34" charset="-122"/>
                <a:cs typeface="Calibri" pitchFamily="34" charset="-120"/>
              </a:rPr>
              <a:t>α = 0.5 beats α = 1.0 by +0.0125, at 2.2 standard errors. Doubling the instances makes it worse.</a:t>
            </a:r>
            <a:endParaRPr lang="en-US" sz="1300" dirty="0"/>
          </a:p>
        </p:txBody>
      </p:sp>
      <p:sp>
        <p:nvSpPr>
          <p:cNvPr id="20" name="Shape 17"/>
          <p:cNvSpPr/>
          <p:nvPr/>
        </p:nvSpPr>
        <p:spPr>
          <a:xfrm>
            <a:off x="6903720" y="1691640"/>
            <a:ext cx="4727448" cy="2377440"/>
          </a:xfrm>
          <a:prstGeom prst="roundRect">
            <a:avLst>
              <a:gd name="adj" fmla="val 2692"/>
            </a:avLst>
          </a:prstGeom>
          <a:solidFill>
            <a:srgbClr val="F4F6F7"/>
          </a:solidFill>
          <a:ln/>
        </p:spPr>
      </p:sp>
      <p:sp>
        <p:nvSpPr>
          <p:cNvPr id="21" name="Text 18"/>
          <p:cNvSpPr txBox="1"/>
          <p:nvPr/>
        </p:nvSpPr>
        <p:spPr>
          <a:xfrm>
            <a:off x="7086600" y="1819656"/>
            <a:ext cx="436168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Why the optimum is interior</a:t>
            </a:r>
            <a:endParaRPr lang="en-US" sz="1450" dirty="0"/>
          </a:p>
        </p:txBody>
      </p:sp>
      <p:sp>
        <p:nvSpPr>
          <p:cNvPr id="22" name="Text 19"/>
          <p:cNvSpPr txBox="1"/>
          <p:nvPr/>
        </p:nvSpPr>
        <p:spPr>
          <a:xfrm>
            <a:off x="7086600" y="2148840"/>
            <a:ext cx="4361688" cy="17556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views are subsets of the SAME lesion, so they are strongly correlated. With ICC ρ = 0.9864, seven views of a PAI 5 are worth 1.01 independent samples: they move the decision boundary without adding information.</a:t>
            </a:r>
            <a:endParaRPr lang="en-US" sz="1200" dirty="0"/>
          </a:p>
        </p:txBody>
      </p:sp>
      <p:sp>
        <p:nvSpPr>
          <p:cNvPr id="23" name="Shape 20"/>
          <p:cNvSpPr/>
          <p:nvPr/>
        </p:nvSpPr>
        <p:spPr>
          <a:xfrm>
            <a:off x="6903720" y="4572000"/>
            <a:ext cx="4727448" cy="1463040"/>
          </a:xfrm>
          <a:prstGeom prst="roundRect">
            <a:avLst>
              <a:gd name="adj" fmla="val 4375"/>
            </a:avLst>
          </a:prstGeom>
          <a:solidFill>
            <a:srgbClr val="F1F6F2"/>
          </a:solidFill>
          <a:ln/>
        </p:spPr>
      </p:sp>
      <p:sp>
        <p:nvSpPr>
          <p:cNvPr id="24" name="Text 21"/>
          <p:cNvSpPr txBox="1"/>
          <p:nvPr/>
        </p:nvSpPr>
        <p:spPr>
          <a:xfrm>
            <a:off x="7086600" y="4700016"/>
            <a:ext cx="436168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Reproducible three times</a:t>
            </a:r>
            <a:endParaRPr lang="en-US" sz="1450" dirty="0"/>
          </a:p>
        </p:txBody>
      </p:sp>
      <p:sp>
        <p:nvSpPr>
          <p:cNvPr id="25" name="Text 22"/>
          <p:cNvSpPr txBox="1"/>
          <p:nvPr/>
        </p:nvSpPr>
        <p:spPr>
          <a:xfrm>
            <a:off x="7086600" y="5029200"/>
            <a:ext cx="4361688" cy="8412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α = 0.5 was measured independently three times — 0.8813 / 0.8814 / 0.8797 — with a maximum spread of 0.0017.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RESULTS  ·  OBJECTIVE 2</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What the frozen encoder is worth, once the bias is gone</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I-JEPA (frozen, ep. 69)</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Random ViT (frozen)</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Fixed count K ∈ {16, 36, 64}</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PR-AUC PAI 5, test, 5 seeds</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21 / 27</a:t>
            </a:r>
            <a:endParaRPr lang="en-US" sz="1050" dirty="0"/>
          </a:p>
        </p:txBody>
      </p:sp>
      <p:graphicFrame>
        <p:nvGraphicFramePr>
          <p:cNvPr id="17" name="Chart 0" descr=""/>
          <p:cNvGraphicFramePr/>
          <p:nvPr/>
        </p:nvGraphicFramePr>
        <p:xfrm>
          <a:off x="566928" y="1691640"/>
          <a:ext cx="6675120" cy="342900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66928" y="5230368"/>
            <a:ext cx="6675120" cy="365760"/>
          </a:xfrm>
          <a:prstGeom prst="rect">
            <a:avLst/>
          </a:prstGeom>
          <a:noFill/>
          <a:ln/>
        </p:spPr>
        <p:txBody>
          <a:bodyPr wrap="square" lIns="0" tIns="0" rIns="0" bIns="0" rtlCol="0" anchor="ctr"/>
          <a:lstStyle/>
          <a:p>
            <a:pPr indent="0" marL="0">
              <a:buNone/>
            </a:pPr>
            <a:r>
              <a:rPr lang="en-US" sz="1100" i="1" dirty="0">
                <a:solidFill>
                  <a:srgbClr val="58626C"/>
                </a:solidFill>
                <a:latin typeface="Calibri" pitchFamily="34" charset="0"/>
                <a:ea typeface="Calibri" pitchFamily="34" charset="-122"/>
                <a:cs typeface="Calibri" pitchFamily="34" charset="-120"/>
              </a:rPr>
              <a:t>The prescribed protocol is omitted here: at 0.87 its bars compress the range where the result lives. It is in the table on the right.</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452360" y="1691640"/>
          <a:ext cx="4178808" cy="914400"/>
        </p:xfrm>
        <a:graphic>
          <a:graphicData uri="http://schemas.openxmlformats.org/drawingml/2006/table">
            <a:tbl>
              <a:tblPr/>
              <a:tblGrid>
                <a:gridCol w="1709928"/>
                <a:gridCol w="137160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Relative gain</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Prescribed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+0.84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Fixed grid</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+5 %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+0.78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K = 16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+22 %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+5.11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K = 36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+32 %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+8.72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K = 64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+22 %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+5.60</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20" name="Shape 16"/>
          <p:cNvSpPr/>
          <p:nvPr/>
        </p:nvSpPr>
        <p:spPr>
          <a:xfrm>
            <a:off x="7452360" y="3749040"/>
            <a:ext cx="4178808" cy="2286000"/>
          </a:xfrm>
          <a:prstGeom prst="roundRect">
            <a:avLst>
              <a:gd name="adj" fmla="val 2800"/>
            </a:avLst>
          </a:prstGeom>
          <a:solidFill>
            <a:srgbClr val="F1F6F2"/>
          </a:solidFill>
          <a:ln/>
        </p:spPr>
      </p:sp>
      <p:sp>
        <p:nvSpPr>
          <p:cNvPr id="21" name="Text 17"/>
          <p:cNvSpPr txBox="1"/>
          <p:nvPr/>
        </p:nvSpPr>
        <p:spPr>
          <a:xfrm>
            <a:off x="7635240" y="3877056"/>
            <a:ext cx="3813048"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Not one lucky K</a:t>
            </a:r>
            <a:endParaRPr lang="en-US" sz="1450" dirty="0"/>
          </a:p>
        </p:txBody>
      </p:sp>
      <p:sp>
        <p:nvSpPr>
          <p:cNvPr id="22" name="Text 18"/>
          <p:cNvSpPr txBox="1"/>
          <p:nvPr/>
        </p:nvSpPr>
        <p:spPr>
          <a:xfrm>
            <a:off x="7635240" y="4206240"/>
            <a:ext cx="3813048" cy="166420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Significant on all three values, so the result survives a fourfold change of window size. The two grey rows are the controls, where by construction nothing should appear — and nothing does.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RESULTS  ·  OBJECTIVE 1</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Does the encoder actually learn? Measured during training</a:t>
            </a:r>
            <a:endParaRPr lang="en-US" sz="2700" dirty="0"/>
          </a:p>
        </p:txBody>
      </p:sp>
      <p:sp>
        <p:nvSpPr>
          <p:cNvPr id="4" name="Shape 2"/>
          <p:cNvSpPr/>
          <p:nvPr/>
        </p:nvSpPr>
        <p:spPr>
          <a:xfrm>
            <a:off x="566928" y="1115568"/>
            <a:ext cx="11057839" cy="384048"/>
          </a:xfrm>
          <a:prstGeom prst="rect">
            <a:avLst/>
          </a:prstGeom>
          <a:solidFill>
            <a:srgbClr val="F1F4F6"/>
          </a:solidFill>
          <a:ln/>
        </p:spPr>
      </p:sp>
      <p:sp>
        <p:nvSpPr>
          <p:cNvPr id="5" name="Text 3"/>
          <p:cNvSpPr txBox="1"/>
          <p:nvPr/>
        </p:nvSpPr>
        <p:spPr>
          <a:xfrm>
            <a:off x="713232"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MODEL</a:t>
            </a:r>
            <a:endParaRPr lang="en-US" sz="750" dirty="0"/>
          </a:p>
        </p:txBody>
      </p:sp>
      <p:sp>
        <p:nvSpPr>
          <p:cNvPr id="6" name="Text 4"/>
          <p:cNvSpPr txBox="1"/>
          <p:nvPr/>
        </p:nvSpPr>
        <p:spPr>
          <a:xfrm>
            <a:off x="713232" y="1298448"/>
            <a:ext cx="2554148" cy="173736"/>
          </a:xfrm>
          <a:prstGeom prst="rect">
            <a:avLst/>
          </a:prstGeom>
          <a:noFill/>
          <a:ln/>
        </p:spPr>
        <p:txBody>
          <a:bodyPr wrap="square" lIns="0" tIns="0" rIns="0" bIns="0" rtlCol="0" anchor="ctr"/>
          <a:lstStyle/>
          <a:p>
            <a:pPr indent="0" marL="0">
              <a:buNone/>
            </a:pPr>
            <a:r>
              <a:rPr lang="en-US" sz="1050" b="1" dirty="0">
                <a:solidFill>
                  <a:srgbClr val="1F6F43"/>
                </a:solidFill>
                <a:latin typeface="Calibri" pitchFamily="34" charset="0"/>
                <a:ea typeface="Calibri" pitchFamily="34" charset="-122"/>
                <a:cs typeface="Calibri" pitchFamily="34" charset="-120"/>
              </a:rPr>
              <a:t>I-JEPA, 279 epochs</a:t>
            </a:r>
            <a:endParaRPr lang="en-US" sz="1050" dirty="0"/>
          </a:p>
        </p:txBody>
      </p:sp>
      <p:sp>
        <p:nvSpPr>
          <p:cNvPr id="7" name="Shape 5"/>
          <p:cNvSpPr/>
          <p:nvPr/>
        </p:nvSpPr>
        <p:spPr>
          <a:xfrm>
            <a:off x="3303956" y="1179576"/>
            <a:ext cx="0" cy="256032"/>
          </a:xfrm>
          <a:prstGeom prst="line">
            <a:avLst/>
          </a:prstGeom>
          <a:noFill/>
          <a:ln w="12700">
            <a:solidFill>
              <a:srgbClr val="D6DBDF"/>
            </a:solidFill>
            <a:prstDash val="solid"/>
          </a:ln>
        </p:spPr>
      </p:sp>
      <p:sp>
        <p:nvSpPr>
          <p:cNvPr id="8" name="Text 6"/>
          <p:cNvSpPr txBox="1"/>
          <p:nvPr/>
        </p:nvSpPr>
        <p:spPr>
          <a:xfrm>
            <a:off x="3404540"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COMPARED WITH</a:t>
            </a:r>
            <a:endParaRPr lang="en-US" sz="750" dirty="0"/>
          </a:p>
        </p:txBody>
      </p:sp>
      <p:sp>
        <p:nvSpPr>
          <p:cNvPr id="9" name="Text 7"/>
          <p:cNvSpPr txBox="1"/>
          <p:nvPr/>
        </p:nvSpPr>
        <p:spPr>
          <a:xfrm>
            <a:off x="3404540" y="1298448"/>
            <a:ext cx="2554148" cy="173736"/>
          </a:xfrm>
          <a:prstGeom prst="rect">
            <a:avLst/>
          </a:prstGeom>
          <a:noFill/>
          <a:ln/>
        </p:spPr>
        <p:txBody>
          <a:bodyPr wrap="square" lIns="0" tIns="0" rIns="0" bIns="0" rtlCol="0" anchor="ctr"/>
          <a:lstStyle/>
          <a:p>
            <a:pPr indent="0" marL="0">
              <a:buNone/>
            </a:pPr>
            <a:r>
              <a:rPr lang="en-US" sz="1050" b="1" dirty="0">
                <a:solidFill>
                  <a:srgbClr val="A62B1F"/>
                </a:solidFill>
                <a:latin typeface="Calibri" pitchFamily="34" charset="0"/>
                <a:ea typeface="Calibri" pitchFamily="34" charset="-122"/>
                <a:cs typeface="Calibri" pitchFamily="34" charset="-120"/>
              </a:rPr>
              <a:t>Itself, read two ways</a:t>
            </a:r>
            <a:endParaRPr lang="en-US" sz="1050" dirty="0"/>
          </a:p>
        </p:txBody>
      </p:sp>
      <p:sp>
        <p:nvSpPr>
          <p:cNvPr id="10" name="Shape 8"/>
          <p:cNvSpPr/>
          <p:nvPr/>
        </p:nvSpPr>
        <p:spPr>
          <a:xfrm>
            <a:off x="5995264" y="1179576"/>
            <a:ext cx="0" cy="256032"/>
          </a:xfrm>
          <a:prstGeom prst="line">
            <a:avLst/>
          </a:prstGeom>
          <a:noFill/>
          <a:ln w="12700">
            <a:solidFill>
              <a:srgbClr val="D6DBDF"/>
            </a:solidFill>
            <a:prstDash val="solid"/>
          </a:ln>
        </p:spPr>
      </p:sp>
      <p:sp>
        <p:nvSpPr>
          <p:cNvPr id="11" name="Text 9"/>
          <p:cNvSpPr txBox="1"/>
          <p:nvPr/>
        </p:nvSpPr>
        <p:spPr>
          <a:xfrm>
            <a:off x="6095848"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PROTOCOL</a:t>
            </a:r>
            <a:endParaRPr lang="en-US" sz="750" dirty="0"/>
          </a:p>
        </p:txBody>
      </p:sp>
      <p:sp>
        <p:nvSpPr>
          <p:cNvPr id="12" name="Text 10"/>
          <p:cNvSpPr txBox="1"/>
          <p:nvPr/>
        </p:nvSpPr>
        <p:spPr>
          <a:xfrm>
            <a:off x="6095848"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Both, same probe</a:t>
            </a:r>
            <a:endParaRPr lang="en-US" sz="1050" dirty="0"/>
          </a:p>
        </p:txBody>
      </p:sp>
      <p:sp>
        <p:nvSpPr>
          <p:cNvPr id="13" name="Shape 11"/>
          <p:cNvSpPr/>
          <p:nvPr/>
        </p:nvSpPr>
        <p:spPr>
          <a:xfrm>
            <a:off x="8686571" y="1179576"/>
            <a:ext cx="0" cy="256032"/>
          </a:xfrm>
          <a:prstGeom prst="line">
            <a:avLst/>
          </a:prstGeom>
          <a:noFill/>
          <a:ln w="12700">
            <a:solidFill>
              <a:srgbClr val="D6DBDF"/>
            </a:solidFill>
            <a:prstDash val="solid"/>
          </a:ln>
        </p:spPr>
      </p:sp>
      <p:sp>
        <p:nvSpPr>
          <p:cNvPr id="14" name="Text 12"/>
          <p:cNvSpPr txBox="1"/>
          <p:nvPr/>
        </p:nvSpPr>
        <p:spPr>
          <a:xfrm>
            <a:off x="8787155" y="1161288"/>
            <a:ext cx="2554148" cy="146304"/>
          </a:xfrm>
          <a:prstGeom prst="rect">
            <a:avLst/>
          </a:prstGeom>
          <a:noFill/>
          <a:ln/>
        </p:spPr>
        <p:txBody>
          <a:bodyPr wrap="square" lIns="0" tIns="0" rIns="0" bIns="0" rtlCol="0" anchor="ctr"/>
          <a:lstStyle/>
          <a:p>
            <a:pPr indent="0" marL="0">
              <a:buNone/>
            </a:pPr>
            <a:r>
              <a:rPr lang="en-US" sz="750" b="1" spc="80" kern="0" dirty="0">
                <a:solidFill>
                  <a:srgbClr val="58626C"/>
                </a:solidFill>
                <a:latin typeface="Calibri" pitchFamily="34" charset="0"/>
                <a:ea typeface="Calibri" pitchFamily="34" charset="-122"/>
                <a:cs typeface="Calibri" pitchFamily="34" charset="-120"/>
              </a:rPr>
              <a:t>METRIC</a:t>
            </a:r>
            <a:endParaRPr lang="en-US" sz="750" dirty="0"/>
          </a:p>
        </p:txBody>
      </p:sp>
      <p:sp>
        <p:nvSpPr>
          <p:cNvPr id="15" name="Text 13"/>
          <p:cNvSpPr txBox="1"/>
          <p:nvPr/>
        </p:nvSpPr>
        <p:spPr>
          <a:xfrm>
            <a:off x="8787155" y="1298448"/>
            <a:ext cx="2554148" cy="173736"/>
          </a:xfrm>
          <a:prstGeom prst="rect">
            <a:avLst/>
          </a:prstGeom>
          <a:noFill/>
          <a:ln/>
        </p:spPr>
        <p:txBody>
          <a:bodyPr wrap="square" lIns="0" tIns="0" rIns="0" bIns="0" rtlCol="0" anchor="ctr"/>
          <a:lstStyle/>
          <a:p>
            <a:pPr indent="0" marL="0">
              <a:buNone/>
            </a:pPr>
            <a:r>
              <a:rPr lang="en-US" sz="1050" b="1" dirty="0">
                <a:solidFill>
                  <a:srgbClr val="0B3C49"/>
                </a:solidFill>
                <a:latin typeface="Calibri" pitchFamily="34" charset="0"/>
                <a:ea typeface="Calibri" pitchFamily="34" charset="-122"/>
                <a:cs typeface="Calibri" pitchFamily="34" charset="-120"/>
              </a:rPr>
              <a:t>macro-F1, validation</a:t>
            </a:r>
            <a:endParaRPr lang="en-US" sz="1050" dirty="0"/>
          </a:p>
        </p:txBody>
      </p:sp>
      <p:sp>
        <p:nvSpPr>
          <p:cNvPr id="16" name="Text 14"/>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22 / 27</a:t>
            </a:r>
            <a:endParaRPr lang="en-US" sz="1050" dirty="0"/>
          </a:p>
        </p:txBody>
      </p:sp>
      <p:sp>
        <p:nvSpPr>
          <p:cNvPr id="17" name="Text 15"/>
          <p:cNvSpPr txBox="1"/>
          <p:nvPr/>
        </p:nvSpPr>
        <p:spPr>
          <a:xfrm>
            <a:off x="566928" y="1691640"/>
            <a:ext cx="6675120" cy="594360"/>
          </a:xfrm>
          <a:prstGeom prst="rect">
            <a:avLst/>
          </a:prstGeom>
          <a:noFill/>
          <a:ln/>
        </p:spPr>
        <p:txBody>
          <a:bodyPr wrap="square" lIns="0" tIns="0" rIns="0" bIns="0" rtlCol="0" anchor="ctr"/>
          <a:lstStyle/>
          <a:p>
            <a:pPr indent="0" marL="0">
              <a:lnSpc>
                <a:spcPts val="1900"/>
              </a:lnSpc>
              <a:buNone/>
            </a:pPr>
            <a:r>
              <a:rPr lang="en-US" sz="1300" dirty="0">
                <a:solidFill>
                  <a:srgbClr val="111418"/>
                </a:solidFill>
                <a:latin typeface="Calibri" pitchFamily="34" charset="0"/>
                <a:ea typeface="Calibri" pitchFamily="34" charset="-122"/>
                <a:cs typeface="Calibri" pitchFamily="34" charset="-120"/>
              </a:rPr>
              <a:t>The same probe read both protocols every ten epochs — 28 measurements, one encoder, identical moments. This is not a comparison between models; it is a comparison between two ways of reading one model.</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2514600"/>
          <a:ext cx="6675120" cy="914400"/>
        </p:xfrm>
        <a:graphic>
          <a:graphicData uri="http://schemas.openxmlformats.org/drawingml/2006/table">
            <a:tbl>
              <a:tblPr/>
              <a:tblGrid>
                <a:gridCol w="2194560"/>
                <a:gridCol w="1325880"/>
                <a:gridCol w="960120"/>
                <a:gridCol w="109728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Series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first 10 probes</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last 10</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Δ</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Quality — fixed count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0.5406</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0.5482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+0.0075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58626C"/>
                          </a:solidFill>
                          <a:latin typeface="Calibri" pitchFamily="34" charset="0"/>
                          <a:ea typeface="Calibri" pitchFamily="34" charset="-122"/>
                          <a:cs typeface="Calibri" pitchFamily="34" charset="-120"/>
                        </a:rPr>
                        <a:t>+1.15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Shortcut — bag size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0.7539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0.7271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−0.0268</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A62B1F"/>
                          </a:solidFill>
                          <a:latin typeface="Calibri" pitchFamily="34" charset="0"/>
                          <a:ea typeface="Calibri" pitchFamily="34" charset="-122"/>
                          <a:cs typeface="Calibri" pitchFamily="34" charset="-120"/>
                        </a:rPr>
                        <a:t>−11.27</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Effective rank</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2.91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14.79</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F6F43"/>
                          </a:solidFill>
                          <a:latin typeface="Calibri" pitchFamily="34" charset="0"/>
                          <a:ea typeface="Calibri" pitchFamily="34" charset="-122"/>
                          <a:cs typeface="Calibri" pitchFamily="34" charset="-120"/>
                        </a:rPr>
                        <a:t>×5.1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19" name="Shape 16"/>
          <p:cNvSpPr/>
          <p:nvPr/>
        </p:nvSpPr>
        <p:spPr>
          <a:xfrm>
            <a:off x="566928" y="4206240"/>
            <a:ext cx="6675120" cy="1691640"/>
          </a:xfrm>
          <a:prstGeom prst="roundRect">
            <a:avLst>
              <a:gd name="adj" fmla="val 3784"/>
            </a:avLst>
          </a:prstGeom>
          <a:solidFill>
            <a:srgbClr val="F1F6F2"/>
          </a:solidFill>
          <a:ln/>
        </p:spPr>
      </p:sp>
      <p:sp>
        <p:nvSpPr>
          <p:cNvPr id="20" name="Text 17"/>
          <p:cNvSpPr txBox="1"/>
          <p:nvPr/>
        </p:nvSpPr>
        <p:spPr>
          <a:xfrm>
            <a:off x="749808" y="4334256"/>
            <a:ext cx="6309360" cy="274320"/>
          </a:xfrm>
          <a:prstGeom prst="rect">
            <a:avLst/>
          </a:prstGeom>
          <a:noFill/>
          <a:ln/>
        </p:spPr>
        <p:txBody>
          <a:bodyPr wrap="square" lIns="0" tIns="0" rIns="0" bIns="0" rtlCol="0" anchor="ctr"/>
          <a:lstStyle/>
          <a:p>
            <a:pPr indent="0" marL="0">
              <a:buNone/>
            </a:pPr>
            <a:r>
              <a:rPr lang="en-US" sz="1450" b="1" dirty="0">
                <a:solidFill>
                  <a:srgbClr val="1F6F43"/>
                </a:solidFill>
                <a:latin typeface="Cambria" pitchFamily="34" charset="0"/>
                <a:ea typeface="Cambria" pitchFamily="34" charset="-122"/>
                <a:cs typeface="Cambria" pitchFamily="34" charset="-120"/>
              </a:rPr>
              <a:t>What the three rows say together</a:t>
            </a:r>
            <a:endParaRPr lang="en-US" sz="1450" dirty="0"/>
          </a:p>
        </p:txBody>
      </p:sp>
      <p:sp>
        <p:nvSpPr>
          <p:cNvPr id="21" name="Text 18"/>
          <p:cNvSpPr txBox="1"/>
          <p:nvPr/>
        </p:nvSpPr>
        <p:spPr>
          <a:xfrm>
            <a:off x="749808" y="4663440"/>
            <a:ext cx="6309360" cy="10698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The representation keeps changing — effective rank grows fivefold. Quality holds flat. And readability of the bag-size shortcut falls at eleven standard errors.</a:t>
            </a:r>
            <a:endParaRPr lang="en-US" sz="12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7452360" y="1691640"/>
          <a:ext cx="4178808" cy="914400"/>
        </p:xfrm>
        <a:graphic>
          <a:graphicData uri="http://schemas.openxmlformats.org/drawingml/2006/table">
            <a:tbl>
              <a:tblPr/>
              <a:tblGrid>
                <a:gridCol w="1709928"/>
                <a:gridCol w="1234440"/>
                <a:gridCol w="12344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Fixed count K = 16</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epoch 69</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selected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epoch 288</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not selected</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PR-AUC PAI 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0.4713</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b="1" dirty="0">
                          <a:solidFill>
                            <a:srgbClr val="1F6F43"/>
                          </a:solidFill>
                          <a:latin typeface="Calibri" pitchFamily="34" charset="0"/>
                          <a:ea typeface="Calibri" pitchFamily="34" charset="-122"/>
                          <a:cs typeface="Calibri" pitchFamily="34" charset="-120"/>
                        </a:rPr>
                        <a:t>0.4495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gain vs random</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F6F43"/>
                          </a:solidFill>
                          <a:latin typeface="Calibri" pitchFamily="34" charset="0"/>
                          <a:ea typeface="Calibri" pitchFamily="34" charset="-122"/>
                          <a:cs typeface="Calibri" pitchFamily="34" charset="-120"/>
                        </a:rPr>
                        <a:t>+22 %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F6F43"/>
                          </a:solidFill>
                          <a:latin typeface="Calibri" pitchFamily="34" charset="0"/>
                          <a:ea typeface="Calibri" pitchFamily="34" charset="-122"/>
                          <a:cs typeface="Calibri" pitchFamily="34" charset="-120"/>
                        </a:rPr>
                        <a:t>+16 %</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+5.11</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+3.15</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macro-F1 z</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111418"/>
                          </a:solidFill>
                          <a:latin typeface="Calibri" pitchFamily="34" charset="0"/>
                          <a:ea typeface="Calibri" pitchFamily="34" charset="-122"/>
                          <a:cs typeface="Calibri" pitchFamily="34" charset="-120"/>
                        </a:rPr>
                        <a:t>+3.12</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algn="r" indent="0" marL="0">
                        <a:buNone/>
                      </a:pPr>
                      <a:r>
                        <a:rPr lang="en-US" sz="1150" dirty="0">
                          <a:solidFill>
                            <a:srgbClr val="8A5A12"/>
                          </a:solidFill>
                          <a:latin typeface="Calibri" pitchFamily="34" charset="0"/>
                          <a:ea typeface="Calibri" pitchFamily="34" charset="-122"/>
                          <a:cs typeface="Calibri" pitchFamily="34" charset="-120"/>
                        </a:rPr>
                        <a:t>+2.14</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
        <p:nvSpPr>
          <p:cNvPr id="23" name="Shape 19"/>
          <p:cNvSpPr/>
          <p:nvPr/>
        </p:nvSpPr>
        <p:spPr>
          <a:xfrm>
            <a:off x="7452360" y="3886200"/>
            <a:ext cx="4178808" cy="2148840"/>
          </a:xfrm>
          <a:prstGeom prst="roundRect">
            <a:avLst>
              <a:gd name="adj" fmla="val 2979"/>
            </a:avLst>
          </a:prstGeom>
          <a:solidFill>
            <a:srgbClr val="F4F6F7"/>
          </a:solidFill>
          <a:ln/>
        </p:spPr>
      </p:sp>
      <p:sp>
        <p:nvSpPr>
          <p:cNvPr id="24" name="Text 20"/>
          <p:cNvSpPr txBox="1"/>
          <p:nvPr/>
        </p:nvSpPr>
        <p:spPr>
          <a:xfrm>
            <a:off x="7635240" y="4014216"/>
            <a:ext cx="3813048" cy="274320"/>
          </a:xfrm>
          <a:prstGeom prst="rect">
            <a:avLst/>
          </a:prstGeom>
          <a:noFill/>
          <a:ln/>
        </p:spPr>
        <p:txBody>
          <a:bodyPr wrap="square" lIns="0" tIns="0" rIns="0" bIns="0" rtlCol="0" anchor="ctr"/>
          <a:lstStyle/>
          <a:p>
            <a:pPr indent="0" marL="0">
              <a:buNone/>
            </a:pPr>
            <a:r>
              <a:rPr lang="en-US" sz="1450" b="1" dirty="0">
                <a:solidFill>
                  <a:srgbClr val="0B3C49"/>
                </a:solidFill>
                <a:latin typeface="Cambria" pitchFamily="34" charset="0"/>
                <a:ea typeface="Cambria" pitchFamily="34" charset="-122"/>
                <a:cs typeface="Cambria" pitchFamily="34" charset="-120"/>
              </a:rPr>
              <a:t>Not an artefact of checkpoint choice</a:t>
            </a:r>
            <a:endParaRPr lang="en-US" sz="1450" dirty="0"/>
          </a:p>
        </p:txBody>
      </p:sp>
      <p:sp>
        <p:nvSpPr>
          <p:cNvPr id="25" name="Text 21"/>
          <p:cNvSpPr txBox="1"/>
          <p:nvPr/>
        </p:nvSpPr>
        <p:spPr>
          <a:xfrm>
            <a:off x="7635240" y="4343400"/>
            <a:ext cx="3813048" cy="1527048"/>
          </a:xfrm>
          <a:prstGeom prst="rect">
            <a:avLst/>
          </a:prstGeom>
          <a:noFill/>
          <a:ln/>
        </p:spPr>
        <p:txBody>
          <a:bodyPr wrap="square" lIns="0" tIns="0" rIns="0" bIns="0" rtlCol="0" anchor="ctr"/>
          <a:lstStyle/>
          <a:p>
            <a:pPr indent="0" marL="0">
              <a:lnSpc>
                <a:spcPts val="1800"/>
              </a:lnSpc>
              <a:buNone/>
            </a:pPr>
            <a:r>
              <a:rPr lang="en-US" sz="1200" dirty="0">
                <a:solidFill>
                  <a:srgbClr val="111418"/>
                </a:solidFill>
                <a:latin typeface="Calibri" pitchFamily="34" charset="0"/>
                <a:ea typeface="Calibri" pitchFamily="34" charset="-122"/>
                <a:cs typeface="Calibri" pitchFamily="34" charset="-120"/>
              </a:rPr>
              <a:t>We also measured the last-epoch encoder, which no criterion selected. It still beats the random baseline on the primary metric.</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HOW IT WAS CONFIGURED</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Experimental setup and statistical discipline</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23 / 27</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11057839" cy="914400"/>
        </p:xfrm>
        <a:graphic>
          <a:graphicData uri="http://schemas.openxmlformats.org/drawingml/2006/table">
            <a:tbl>
              <a:tblPr/>
              <a:tblGrid>
                <a:gridCol w="1737360"/>
                <a:gridCol w="93268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0B3C49"/>
                    </a:solidFill>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Pre-training</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ViT-S/16 · context + EMA target + shallow predictor (4 blocks, dim 96) · tile 224 px, batch 128, bf16</a:t>
                      </a:r>
                      <a:endParaRPr lang="en-US" sz="1150" dirty="0">
                        <a:latin typeface="Calibri" charset="0"/>
                        <a:ea typeface="Calibri" charset="0"/>
                        <a:cs typeface="Calibri" charset="0"/>
                      </a:endParaRPr>
                    </a:p>
                    <a:p>
                      <a:pPr indent="0" marL="0">
                        <a:buNone/>
                      </a:pPr>
                      <a:r>
                        <a:rPr lang="en-US" sz="1150" dirty="0">
                          <a:solidFill>
                            <a:srgbClr val="111418"/>
                          </a:solidFill>
                          <a:latin typeface="Calibri" pitchFamily="34" charset="0"/>
                          <a:ea typeface="Calibri" pitchFamily="34" charset="-122"/>
                          <a:cs typeface="Calibri" pitchFamily="34" charset="-120"/>
                        </a:rPr>
                        <a:t>lr 3e-5 · EMA τ 0.9996 → 1.0 · 289 of 300 scheduled epochs — best AND final encoder both extracted and evaluated · smooth-L1 on layer-normed target representations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Downstream</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Encoder FROZEN, as the assignment requires · attention pooling over selected tokens · layers 2, 7, 11 concatenated (1,152-d) · 5 seeds per cell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Metrics</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Primary: PR-AUC on PAI 5 — minority-specific and threshold-agnostic. Reported alongside: macro-F1, quadratic-weighted kappa. Global accuracy excluded by the assignment.</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r h="0">
                <a:tc>
                  <a:txBody>
                    <a:bodyPr/>
                    <a:lstStyle/>
                    <a:p>
                      <a:pPr indent="0" marL="0">
                        <a:buNone/>
                      </a:pPr>
                      <a:r>
                        <a:rPr lang="en-US" sz="1150" b="1" dirty="0">
                          <a:solidFill>
                            <a:srgbClr val="111418"/>
                          </a:solidFill>
                          <a:latin typeface="Calibri" pitchFamily="34" charset="0"/>
                          <a:ea typeface="Calibri" pitchFamily="34" charset="-122"/>
                          <a:cs typeface="Calibri" pitchFamily="34" charset="-120"/>
                        </a:rPr>
                        <a:t>Significance</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c>
                  <a:txBody>
                    <a:bodyPr/>
                    <a:lstStyle/>
                    <a:p>
                      <a:pPr indent="0" marL="0">
                        <a:buNone/>
                      </a:pPr>
                      <a:r>
                        <a:rPr lang="en-US" sz="1150" dirty="0">
                          <a:solidFill>
                            <a:srgbClr val="111418"/>
                          </a:solidFill>
                          <a:latin typeface="Calibri" pitchFamily="34" charset="0"/>
                          <a:ea typeface="Calibri" pitchFamily="34" charset="-122"/>
                          <a:cs typeface="Calibri" pitchFamily="34" charset="-120"/>
                        </a:rPr>
                        <a:t>|z| ≥ 2.31 — Student's t at 8 d.o.f., not 1.96: with five repetitions the normal underestimates the tail</a:t>
                      </a:r>
                      <a:endParaRPr lang="en-US" sz="1150" dirty="0">
                        <a:latin typeface="Calibri" charset="0"/>
                        <a:ea typeface="Calibri" charset="0"/>
                        <a:cs typeface="Calibri"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HOW IT WAS CONFIGURED</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Statistical discipline</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24 / 27</a:t>
            </a:r>
            <a:endParaRPr lang="en-US" sz="1050" dirty="0"/>
          </a:p>
        </p:txBody>
      </p:sp>
      <p:sp>
        <p:nvSpPr>
          <p:cNvPr id="5" name="Text 3"/>
          <p:cNvSpPr txBox="1"/>
          <p:nvPr/>
        </p:nvSpPr>
        <p:spPr>
          <a:xfrm>
            <a:off x="566928" y="1188720"/>
            <a:ext cx="11057839" cy="365760"/>
          </a:xfrm>
          <a:prstGeom prst="rect">
            <a:avLst/>
          </a:prstGeom>
          <a:noFill/>
          <a:ln/>
        </p:spPr>
        <p:txBody>
          <a:bodyPr wrap="square" lIns="0" tIns="0" rIns="0" bIns="0" rtlCol="0" anchor="ctr"/>
          <a:lstStyle/>
          <a:p>
            <a:pPr indent="0" marL="0">
              <a:buNone/>
            </a:pPr>
            <a:r>
              <a:rPr lang="en-US" sz="1400" dirty="0">
                <a:solidFill>
                  <a:srgbClr val="111418"/>
                </a:solidFill>
                <a:latin typeface="Calibri" pitchFamily="34" charset="0"/>
                <a:ea typeface="Calibri" pitchFamily="34" charset="-122"/>
                <a:cs typeface="Calibri" pitchFamily="34" charset="-120"/>
              </a:rPr>
              <a:t>Three safeguards against reporting a number we could not defend.</a:t>
            </a:r>
            <a:endParaRPr lang="en-US" sz="1400" dirty="0"/>
          </a:p>
        </p:txBody>
      </p:sp>
      <p:sp>
        <p:nvSpPr>
          <p:cNvPr id="6" name="Shape 4"/>
          <p:cNvSpPr/>
          <p:nvPr/>
        </p:nvSpPr>
        <p:spPr>
          <a:xfrm>
            <a:off x="566928" y="1837944"/>
            <a:ext cx="329184" cy="329184"/>
          </a:xfrm>
          <a:prstGeom prst="ellipse">
            <a:avLst/>
          </a:prstGeom>
          <a:solidFill>
            <a:srgbClr val="0B3C49"/>
          </a:solidFill>
          <a:ln/>
        </p:spPr>
      </p:sp>
      <p:sp>
        <p:nvSpPr>
          <p:cNvPr id="7" name="Text 5"/>
          <p:cNvSpPr txBox="1"/>
          <p:nvPr/>
        </p:nvSpPr>
        <p:spPr>
          <a:xfrm>
            <a:off x="566928" y="18379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69848" y="1783080"/>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Selection never touches the test set</a:t>
            </a:r>
            <a:endParaRPr lang="en-US" sz="1500" dirty="0"/>
          </a:p>
        </p:txBody>
      </p:sp>
      <p:sp>
        <p:nvSpPr>
          <p:cNvPr id="9" name="Text 7"/>
          <p:cNvSpPr txBox="1"/>
          <p:nvPr/>
        </p:nvSpPr>
        <p:spPr>
          <a:xfrm>
            <a:off x="1069848" y="2167128"/>
            <a:ext cx="10424160" cy="640080"/>
          </a:xfrm>
          <a:prstGeom prst="rect">
            <a:avLst/>
          </a:prstGeom>
          <a:noFill/>
          <a:ln/>
        </p:spPr>
        <p:txBody>
          <a:bodyPr wrap="square" lIns="0" tIns="0" rIns="0" bIns="0" rtlCol="0" anchor="ctr"/>
          <a:lstStyle/>
          <a:p>
            <a:pPr indent="0" marL="0">
              <a:lnSpc>
                <a:spcPts val="1700"/>
              </a:lnSpc>
              <a:buNone/>
            </a:pPr>
            <a:r>
              <a:rPr lang="en-US" sz="1250" dirty="0">
                <a:solidFill>
                  <a:srgbClr val="58626C"/>
                </a:solidFill>
                <a:latin typeface="Calibri" pitchFamily="34" charset="0"/>
                <a:ea typeface="Calibri" pitchFamily="34" charset="-122"/>
                <a:cs typeface="Calibri" pitchFamily="34" charset="-120"/>
              </a:rPr>
              <a:t>Checkpoint chosen on validation. Learning rate chosen on validation — 3e-4 measured worse there: −0.0304, z = −2.98.</a:t>
            </a:r>
            <a:endParaRPr lang="en-US" sz="1250" dirty="0"/>
          </a:p>
        </p:txBody>
      </p:sp>
      <p:sp>
        <p:nvSpPr>
          <p:cNvPr id="10" name="Shape 8"/>
          <p:cNvSpPr/>
          <p:nvPr/>
        </p:nvSpPr>
        <p:spPr>
          <a:xfrm>
            <a:off x="566928" y="3136392"/>
            <a:ext cx="329184" cy="329184"/>
          </a:xfrm>
          <a:prstGeom prst="ellipse">
            <a:avLst/>
          </a:prstGeom>
          <a:solidFill>
            <a:srgbClr val="0B3C49"/>
          </a:solidFill>
          <a:ln/>
        </p:spPr>
      </p:sp>
      <p:sp>
        <p:nvSpPr>
          <p:cNvPr id="11" name="Text 9"/>
          <p:cNvSpPr txBox="1"/>
          <p:nvPr/>
        </p:nvSpPr>
        <p:spPr>
          <a:xfrm>
            <a:off x="566928"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69848" y="3081528"/>
            <a:ext cx="10424160" cy="365760"/>
          </a:xfrm>
          <a:prstGeom prst="rect">
            <a:avLst/>
          </a:prstGeom>
          <a:noFill/>
          <a:ln/>
        </p:spPr>
        <p:txBody>
          <a:bodyPr wrap="square" lIns="0" tIns="0" rIns="0" bIns="0" rtlCol="0" anchor="ctr"/>
          <a:lstStyle/>
          <a:p>
            <a:pPr indent="0" marL="0">
              <a:buNone/>
            </a:pPr>
            <a:r>
              <a:rPr lang="en-US" sz="1500" b="1" dirty="0">
                <a:solidFill>
                  <a:srgbClr val="0B3C49"/>
                </a:solidFill>
                <a:latin typeface="Calibri" pitchFamily="34" charset="0"/>
                <a:ea typeface="Calibri" pitchFamily="34" charset="-122"/>
                <a:cs typeface="Calibri" pitchFamily="34" charset="-120"/>
              </a:rPr>
              <a:t>Disjoint seeds for the α sweep</a:t>
            </a:r>
            <a:endParaRPr lang="en-US" sz="1500" dirty="0"/>
          </a:p>
        </p:txBody>
      </p:sp>
      <p:sp>
        <p:nvSpPr>
          <p:cNvPr id="13" name="Text 11"/>
          <p:cNvSpPr txBox="1"/>
          <p:nvPr/>
        </p:nvSpPr>
        <p:spPr>
          <a:xfrm>
            <a:off x="1069848" y="3465576"/>
            <a:ext cx="10424160" cy="640080"/>
          </a:xfrm>
          <a:prstGeom prst="rect">
            <a:avLst/>
          </a:prstGeom>
          <a:noFill/>
          <a:ln/>
        </p:spPr>
        <p:txBody>
          <a:bodyPr wrap="square" lIns="0" tIns="0" rIns="0" bIns="0" rtlCol="0" anchor="ctr"/>
          <a:lstStyle/>
          <a:p>
            <a:pPr indent="0" marL="0">
              <a:lnSpc>
                <a:spcPts val="1700"/>
              </a:lnSpc>
              <a:buNone/>
            </a:pPr>
            <a:r>
              <a:rPr lang="en-US" sz="1250" dirty="0">
                <a:solidFill>
                  <a:srgbClr val="58626C"/>
                </a:solidFill>
                <a:latin typeface="Calibri" pitchFamily="34" charset="0"/>
                <a:ea typeface="Calibri" pitchFamily="34" charset="-122"/>
                <a:cs typeface="Calibri" pitchFamily="34" charset="-120"/>
              </a:rPr>
              <a:t>The two finalists were re-measured on five seeds disjoint from the screening ones. Selecting and reporting on the same seeds inflates the winner by about one standard deviation.</a:t>
            </a:r>
            <a:endParaRPr lang="en-US" sz="1250" dirty="0"/>
          </a:p>
        </p:txBody>
      </p:sp>
      <p:sp>
        <p:nvSpPr>
          <p:cNvPr id="14" name="Shape 12"/>
          <p:cNvSpPr/>
          <p:nvPr/>
        </p:nvSpPr>
        <p:spPr>
          <a:xfrm>
            <a:off x="566928" y="4434840"/>
            <a:ext cx="329184" cy="329184"/>
          </a:xfrm>
          <a:prstGeom prst="ellipse">
            <a:avLst/>
          </a:prstGeom>
          <a:solidFill>
            <a:srgbClr val="8A5A12"/>
          </a:solidFill>
          <a:ln/>
        </p:spPr>
      </p:sp>
      <p:sp>
        <p:nvSpPr>
          <p:cNvPr id="15" name="Text 13"/>
          <p:cNvSpPr txBox="1"/>
          <p:nvPr/>
        </p:nvSpPr>
        <p:spPr>
          <a:xfrm>
            <a:off x="566928" y="44348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69848" y="4379976"/>
            <a:ext cx="10424160" cy="365760"/>
          </a:xfrm>
          <a:prstGeom prst="rect">
            <a:avLst/>
          </a:prstGeom>
          <a:noFill/>
          <a:ln/>
        </p:spPr>
        <p:txBody>
          <a:bodyPr wrap="square" lIns="0" tIns="0" rIns="0" bIns="0" rtlCol="0" anchor="ctr"/>
          <a:lstStyle/>
          <a:p>
            <a:pPr indent="0" marL="0">
              <a:buNone/>
            </a:pPr>
            <a:r>
              <a:rPr lang="en-US" sz="1500" b="1" dirty="0">
                <a:solidFill>
                  <a:srgbClr val="8A5A12"/>
                </a:solidFill>
                <a:latin typeface="Calibri" pitchFamily="34" charset="0"/>
                <a:ea typeface="Calibri" pitchFamily="34" charset="-122"/>
                <a:cs typeface="Calibri" pitchFamily="34" charset="-120"/>
              </a:rPr>
              <a:t>The ± is reproducibility, not generalisation</a:t>
            </a:r>
            <a:endParaRPr lang="en-US" sz="1500" dirty="0"/>
          </a:p>
        </p:txBody>
      </p:sp>
      <p:sp>
        <p:nvSpPr>
          <p:cNvPr id="17" name="Text 15"/>
          <p:cNvSpPr txBox="1"/>
          <p:nvPr/>
        </p:nvSpPr>
        <p:spPr>
          <a:xfrm>
            <a:off x="1069848" y="4764024"/>
            <a:ext cx="10424160" cy="640080"/>
          </a:xfrm>
          <a:prstGeom prst="rect">
            <a:avLst/>
          </a:prstGeom>
          <a:noFill/>
          <a:ln/>
        </p:spPr>
        <p:txBody>
          <a:bodyPr wrap="square" lIns="0" tIns="0" rIns="0" bIns="0" rtlCol="0" anchor="ctr"/>
          <a:lstStyle/>
          <a:p>
            <a:pPr indent="0" marL="0">
              <a:lnSpc>
                <a:spcPts val="1700"/>
              </a:lnSpc>
              <a:buNone/>
            </a:pPr>
            <a:r>
              <a:rPr lang="en-US" sz="1250" dirty="0">
                <a:solidFill>
                  <a:srgbClr val="58626C"/>
                </a:solidFill>
                <a:latin typeface="Calibri" pitchFamily="34" charset="0"/>
                <a:ea typeface="Calibri" pitchFamily="34" charset="-122"/>
                <a:cs typeface="Calibri" pitchFamily="34" charset="-120"/>
              </a:rPr>
              <a:t>It is the spread across five seeds. It does NOT capture test-set sampling error, which with 112 PAI-5 lesions is roughly 0.021 — ten times larger.</a:t>
            </a:r>
            <a:endParaRPr lang="en-US" sz="1250" dirty="0"/>
          </a:p>
        </p:txBody>
      </p:sp>
      <p:sp>
        <p:nvSpPr>
          <p:cNvPr id="18" name="Text 16"/>
          <p:cNvSpPr txBox="1"/>
          <p:nvPr/>
        </p:nvSpPr>
        <p:spPr>
          <a:xfrm>
            <a:off x="566928" y="5623560"/>
            <a:ext cx="11057839" cy="411480"/>
          </a:xfrm>
          <a:prstGeom prst="rect">
            <a:avLst/>
          </a:prstGeom>
          <a:noFill/>
          <a:ln/>
        </p:spPr>
        <p:txBody>
          <a:bodyPr wrap="square" lIns="0" tIns="0" rIns="0" bIns="0" rtlCol="0" anchor="ctr"/>
          <a:lstStyle/>
          <a:p>
            <a:pPr indent="0" marL="0">
              <a:buNone/>
            </a:pPr>
            <a:r>
              <a:rPr lang="en-US" sz="1500" b="1" i="1" dirty="0">
                <a:solidFill>
                  <a:srgbClr val="0B3C49"/>
                </a:solidFill>
                <a:latin typeface="Cambria" pitchFamily="34" charset="0"/>
                <a:ea typeface="Cambria" pitchFamily="34" charset="-122"/>
                <a:cs typeface="Cambria" pitchFamily="34" charset="-120"/>
              </a:rPr>
              <a:t>Differences below 0.021 are reproducible — not proven to generalise. We say which is which.</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FINAL CONSIDERATIONS AND FUTURE WORK</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Conclusions</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25 / 27</a:t>
            </a:r>
            <a:endParaRPr lang="en-US" sz="1050" dirty="0"/>
          </a:p>
        </p:txBody>
      </p:sp>
      <p:sp>
        <p:nvSpPr>
          <p:cNvPr id="5" name="Shape 3"/>
          <p:cNvSpPr/>
          <p:nvPr/>
        </p:nvSpPr>
        <p:spPr>
          <a:xfrm>
            <a:off x="566928" y="1271016"/>
            <a:ext cx="310896" cy="310896"/>
          </a:xfrm>
          <a:prstGeom prst="ellipse">
            <a:avLst/>
          </a:prstGeom>
          <a:solidFill>
            <a:srgbClr val="A62B1F"/>
          </a:solidFill>
          <a:ln/>
        </p:spPr>
      </p:sp>
      <p:sp>
        <p:nvSpPr>
          <p:cNvPr id="6" name="Text 4"/>
          <p:cNvSpPr txBox="1"/>
          <p:nvPr/>
        </p:nvSpPr>
        <p:spPr>
          <a:xfrm>
            <a:off x="566928" y="12710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24128" y="1234440"/>
            <a:ext cx="6400800" cy="384048"/>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The task is geometric, so the prescribed protocol carries a bag-size bias.</a:t>
            </a:r>
            <a:endParaRPr lang="en-US" sz="1400" dirty="0"/>
          </a:p>
        </p:txBody>
      </p:sp>
      <p:sp>
        <p:nvSpPr>
          <p:cNvPr id="8" name="Text 6"/>
          <p:cNvSpPr txBox="1"/>
          <p:nvPr/>
        </p:nvSpPr>
        <p:spPr>
          <a:xfrm>
            <a:off x="1024128" y="1618488"/>
            <a:ext cx="6400800" cy="68580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The bounding-box mask alone gives macro-F1 0.7708; a random encoder with the full image gives 0.7705. Lesion area is the PAI criterion, so token count is nearly the label.</a:t>
            </a:r>
            <a:endParaRPr lang="en-US" sz="1150" dirty="0"/>
          </a:p>
        </p:txBody>
      </p:sp>
      <p:sp>
        <p:nvSpPr>
          <p:cNvPr id="9" name="Shape 7"/>
          <p:cNvSpPr/>
          <p:nvPr/>
        </p:nvSpPr>
        <p:spPr>
          <a:xfrm>
            <a:off x="566928" y="2505456"/>
            <a:ext cx="310896" cy="310896"/>
          </a:xfrm>
          <a:prstGeom prst="ellipse">
            <a:avLst/>
          </a:prstGeom>
          <a:solidFill>
            <a:srgbClr val="1F6F43"/>
          </a:solidFill>
          <a:ln/>
        </p:spPr>
      </p:sp>
      <p:sp>
        <p:nvSpPr>
          <p:cNvPr id="10" name="Text 8"/>
          <p:cNvSpPr txBox="1"/>
          <p:nvPr/>
        </p:nvSpPr>
        <p:spPr>
          <a:xfrm>
            <a:off x="566928" y="2505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24128" y="2468880"/>
            <a:ext cx="6400800" cy="384048"/>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Removing the bias while keeping localisation reveals the encoder.</a:t>
            </a:r>
            <a:endParaRPr lang="en-US" sz="1400" dirty="0"/>
          </a:p>
        </p:txBody>
      </p:sp>
      <p:sp>
        <p:nvSpPr>
          <p:cNvPr id="12" name="Text 10"/>
          <p:cNvSpPr txBox="1"/>
          <p:nvPr/>
        </p:nvSpPr>
        <p:spPr>
          <a:xfrm>
            <a:off x="1024128" y="2852928"/>
            <a:ext cx="6400800" cy="68580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Up to +32 % PR-AUC on the minority class (z = 8.72), on all three values of K, with the unselected checkpoint too, and +28.8 % with an instance-level MIL head.</a:t>
            </a:r>
            <a:endParaRPr lang="en-US" sz="1150" dirty="0"/>
          </a:p>
        </p:txBody>
      </p:sp>
      <p:sp>
        <p:nvSpPr>
          <p:cNvPr id="13" name="Shape 11"/>
          <p:cNvSpPr/>
          <p:nvPr/>
        </p:nvSpPr>
        <p:spPr>
          <a:xfrm>
            <a:off x="566928" y="3739896"/>
            <a:ext cx="310896" cy="310896"/>
          </a:xfrm>
          <a:prstGeom prst="ellipse">
            <a:avLst/>
          </a:prstGeom>
          <a:solidFill>
            <a:srgbClr val="1F6F43"/>
          </a:solidFill>
          <a:ln/>
        </p:spPr>
      </p:sp>
      <p:sp>
        <p:nvSpPr>
          <p:cNvPr id="14" name="Text 12"/>
          <p:cNvSpPr txBox="1"/>
          <p:nvPr/>
        </p:nvSpPr>
        <p:spPr>
          <a:xfrm>
            <a:off x="566928" y="37398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24128" y="3703320"/>
            <a:ext cx="6400800" cy="384048"/>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Our latent-space novelty beats every baseline on the primary metric.</a:t>
            </a:r>
            <a:endParaRPr lang="en-US" sz="1400" dirty="0"/>
          </a:p>
        </p:txBody>
      </p:sp>
      <p:sp>
        <p:nvSpPr>
          <p:cNvPr id="16" name="Text 14"/>
          <p:cNvSpPr txBox="1"/>
          <p:nvPr/>
        </p:nvSpPr>
        <p:spPr>
          <a:xfrm>
            <a:off x="1024128" y="4087368"/>
            <a:ext cx="6400800" cy="68580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+0.0168 over oversampling (z = 2.50), with an interior optimum at α = 0.5 that the ICC of the views explains.</a:t>
            </a:r>
            <a:endParaRPr lang="en-US" sz="1150" dirty="0"/>
          </a:p>
        </p:txBody>
      </p:sp>
      <p:sp>
        <p:nvSpPr>
          <p:cNvPr id="17" name="Text 15"/>
          <p:cNvSpPr txBox="1"/>
          <p:nvPr/>
        </p:nvSpPr>
        <p:spPr>
          <a:xfrm>
            <a:off x="566928" y="4937760"/>
            <a:ext cx="6766560" cy="777240"/>
          </a:xfrm>
          <a:prstGeom prst="rect">
            <a:avLst/>
          </a:prstGeom>
          <a:noFill/>
          <a:ln/>
        </p:spPr>
        <p:txBody>
          <a:bodyPr wrap="square" lIns="0" tIns="0" rIns="0" bIns="0" rtlCol="0" anchor="ctr"/>
          <a:lstStyle/>
          <a:p>
            <a:pPr indent="0" marL="0">
              <a:lnSpc>
                <a:spcPts val="1600"/>
              </a:lnSpc>
              <a:buNone/>
            </a:pPr>
            <a:r>
              <a:rPr lang="en-US" sz="1150" b="1" dirty="0">
                <a:solidFill>
                  <a:srgbClr val="0B3C49"/>
                </a:solidFill>
                <a:latin typeface="Calibri" pitchFamily="34" charset="0"/>
                <a:ea typeface="Calibri" pitchFamily="34" charset="-122"/>
                <a:cs typeface="Calibri" pitchFamily="34" charset="-120"/>
              </a:rPr>
              <a:t>Training schedule completed.  </a:t>
            </a:r>
            <a:pPr indent="0" marL="0">
              <a:lnSpc>
                <a:spcPts val="1600"/>
              </a:lnSpc>
              <a:buNone/>
            </a:pPr>
            <a:r>
              <a:rPr lang="en-US" sz="1150" dirty="0">
                <a:solidFill>
                  <a:srgbClr val="111418"/>
                </a:solidFill>
                <a:latin typeface="Calibri" pitchFamily="34" charset="0"/>
                <a:ea typeface="Calibri" pitchFamily="34" charset="-122"/>
                <a:cs typeface="Calibri" pitchFamily="34" charset="-120"/>
              </a:rPr>
              <a:t>289 of the 300 scheduled epochs, halted by our own power limiter. The last 11 change nothing measurable — quality had plateaued by epoch 69 (z = +1.15 across the whole run) — and we did not have to assume it: we extracted the final epoch-288 encoder and measured it. It still beats the random baseline by +16 % on the primary metric (z = 3.15).</a:t>
            </a:r>
            <a:endParaRPr lang="en-US" sz="1150" dirty="0"/>
          </a:p>
        </p:txBody>
      </p:sp>
      <p:sp>
        <p:nvSpPr>
          <p:cNvPr id="18" name="Text 16"/>
          <p:cNvSpPr txBox="1"/>
          <p:nvPr/>
        </p:nvSpPr>
        <p:spPr>
          <a:xfrm>
            <a:off x="566928" y="5806440"/>
            <a:ext cx="10515600" cy="457200"/>
          </a:xfrm>
          <a:prstGeom prst="rect">
            <a:avLst/>
          </a:prstGeom>
          <a:noFill/>
          <a:ln/>
        </p:spPr>
        <p:txBody>
          <a:bodyPr wrap="square" lIns="0" tIns="0" rIns="0" bIns="0" rtlCol="0" anchor="ctr"/>
          <a:lstStyle/>
          <a:p>
            <a:pPr indent="0" marL="0">
              <a:buNone/>
            </a:pPr>
            <a:r>
              <a:rPr lang="en-US" sz="1500" b="1" i="1" dirty="0">
                <a:solidFill>
                  <a:srgbClr val="0B3C49"/>
                </a:solidFill>
                <a:latin typeface="Cambria" pitchFamily="34" charset="0"/>
                <a:ea typeface="Cambria" pitchFamily="34" charset="-122"/>
                <a:cs typeface="Cambria" pitchFamily="34" charset="-120"/>
              </a:rPr>
              <a:t>There is no “best model” — only the best model for a given reading, and choosing that reading is the work.</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FINAL CONSIDERATIONS</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Declared limitations, and what comes next</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26 / 27</a:t>
            </a:r>
            <a:endParaRPr lang="en-US" sz="1050" dirty="0"/>
          </a:p>
        </p:txBody>
      </p:sp>
      <p:sp>
        <p:nvSpPr>
          <p:cNvPr id="5" name="Shape 3"/>
          <p:cNvSpPr/>
          <p:nvPr/>
        </p:nvSpPr>
        <p:spPr>
          <a:xfrm>
            <a:off x="566928" y="1234440"/>
            <a:ext cx="5394960" cy="457200"/>
          </a:xfrm>
          <a:prstGeom prst="roundRect">
            <a:avLst>
              <a:gd name="adj" fmla="val 12000"/>
            </a:avLst>
          </a:prstGeom>
          <a:solidFill>
            <a:srgbClr val="FDF7EC"/>
          </a:solidFill>
          <a:ln/>
        </p:spPr>
      </p:sp>
      <p:sp>
        <p:nvSpPr>
          <p:cNvPr id="6" name="Text 4"/>
          <p:cNvSpPr txBox="1"/>
          <p:nvPr/>
        </p:nvSpPr>
        <p:spPr>
          <a:xfrm>
            <a:off x="749808" y="1325880"/>
            <a:ext cx="5029200" cy="292608"/>
          </a:xfrm>
          <a:prstGeom prst="rect">
            <a:avLst/>
          </a:prstGeom>
          <a:noFill/>
          <a:ln/>
        </p:spPr>
        <p:txBody>
          <a:bodyPr wrap="square" lIns="0" tIns="0" rIns="0" bIns="0" rtlCol="0" anchor="ctr"/>
          <a:lstStyle/>
          <a:p>
            <a:pPr indent="0" marL="0">
              <a:buNone/>
            </a:pPr>
            <a:r>
              <a:rPr lang="en-US" sz="1600" b="1" dirty="0">
                <a:solidFill>
                  <a:srgbClr val="8A5A12"/>
                </a:solidFill>
                <a:latin typeface="Cambria" pitchFamily="34" charset="0"/>
                <a:ea typeface="Cambria" pitchFamily="34" charset="-122"/>
                <a:cs typeface="Cambria" pitchFamily="34" charset="-120"/>
              </a:rPr>
              <a:t>Declared limitations</a:t>
            </a:r>
            <a:endParaRPr lang="en-US" sz="1600" dirty="0"/>
          </a:p>
        </p:txBody>
      </p:sp>
      <p:sp>
        <p:nvSpPr>
          <p:cNvPr id="7" name="Shape 5"/>
          <p:cNvSpPr/>
          <p:nvPr/>
        </p:nvSpPr>
        <p:spPr>
          <a:xfrm>
            <a:off x="749808" y="1938528"/>
            <a:ext cx="137160" cy="137160"/>
          </a:xfrm>
          <a:prstGeom prst="ellipse">
            <a:avLst/>
          </a:prstGeom>
          <a:solidFill>
            <a:srgbClr val="8A5A12"/>
          </a:solidFill>
          <a:ln/>
        </p:spPr>
      </p:sp>
      <p:sp>
        <p:nvSpPr>
          <p:cNvPr id="8" name="Text 6"/>
          <p:cNvSpPr txBox="1"/>
          <p:nvPr/>
        </p:nvSpPr>
        <p:spPr>
          <a:xfrm>
            <a:off x="1024128" y="187452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Checkpoint selection</a:t>
            </a:r>
            <a:endParaRPr lang="en-US" sz="1300" dirty="0"/>
          </a:p>
        </p:txBody>
      </p:sp>
      <p:sp>
        <p:nvSpPr>
          <p:cNvPr id="9" name="Text 7"/>
          <p:cNvSpPr txBox="1"/>
          <p:nvPr/>
        </p:nvSpPr>
        <p:spPr>
          <a:xfrm>
            <a:off x="1024128" y="216712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Better on the criterion we selected it with, worse on size-blind readings — the same bias we denounce.</a:t>
            </a:r>
            <a:endParaRPr lang="en-US" sz="1150" dirty="0"/>
          </a:p>
        </p:txBody>
      </p:sp>
      <p:sp>
        <p:nvSpPr>
          <p:cNvPr id="10" name="Shape 8"/>
          <p:cNvSpPr/>
          <p:nvPr/>
        </p:nvSpPr>
        <p:spPr>
          <a:xfrm>
            <a:off x="749808" y="2944368"/>
            <a:ext cx="137160" cy="137160"/>
          </a:xfrm>
          <a:prstGeom prst="ellipse">
            <a:avLst/>
          </a:prstGeom>
          <a:solidFill>
            <a:srgbClr val="8A5A12"/>
          </a:solidFill>
          <a:ln/>
        </p:spPr>
      </p:sp>
      <p:sp>
        <p:nvSpPr>
          <p:cNvPr id="11" name="Text 9"/>
          <p:cNvSpPr txBox="1"/>
          <p:nvPr/>
        </p:nvSpPr>
        <p:spPr>
          <a:xfrm>
            <a:off x="1024128" y="288036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α sweep on a fixed encoder</a:t>
            </a:r>
            <a:endParaRPr lang="en-US" sz="1300" dirty="0"/>
          </a:p>
        </p:txBody>
      </p:sp>
      <p:sp>
        <p:nvSpPr>
          <p:cNvPr id="12" name="Text 10"/>
          <p:cNvSpPr txBox="1"/>
          <p:nvPr/>
        </p:nvSpPr>
        <p:spPr>
          <a:xfrm>
            <a:off x="1024128" y="317296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Deliberate, to isolate the parameter — but it means the sweep is not encoder-agnostic.</a:t>
            </a:r>
            <a:endParaRPr lang="en-US" sz="1150" dirty="0"/>
          </a:p>
        </p:txBody>
      </p:sp>
      <p:sp>
        <p:nvSpPr>
          <p:cNvPr id="13" name="Shape 11"/>
          <p:cNvSpPr/>
          <p:nvPr/>
        </p:nvSpPr>
        <p:spPr>
          <a:xfrm>
            <a:off x="749808" y="3950208"/>
            <a:ext cx="137160" cy="137160"/>
          </a:xfrm>
          <a:prstGeom prst="ellipse">
            <a:avLst/>
          </a:prstGeom>
          <a:solidFill>
            <a:srgbClr val="8A5A12"/>
          </a:solidFill>
          <a:ln/>
        </p:spPr>
      </p:sp>
      <p:sp>
        <p:nvSpPr>
          <p:cNvPr id="14" name="Text 12"/>
          <p:cNvSpPr txBox="1"/>
          <p:nvPr/>
        </p:nvSpPr>
        <p:spPr>
          <a:xfrm>
            <a:off x="1024128" y="388620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 is not generalisation</a:t>
            </a:r>
            <a:endParaRPr lang="en-US" sz="1300" dirty="0"/>
          </a:p>
        </p:txBody>
      </p:sp>
      <p:sp>
        <p:nvSpPr>
          <p:cNvPr id="15" name="Text 13"/>
          <p:cNvSpPr txBox="1"/>
          <p:nvPr/>
        </p:nvSpPr>
        <p:spPr>
          <a:xfrm>
            <a:off x="1024128" y="417880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Spread across seeds; test sampling error is ten times larger.</a:t>
            </a:r>
            <a:endParaRPr lang="en-US" sz="1150" dirty="0"/>
          </a:p>
        </p:txBody>
      </p:sp>
      <p:sp>
        <p:nvSpPr>
          <p:cNvPr id="16" name="Shape 14"/>
          <p:cNvSpPr/>
          <p:nvPr/>
        </p:nvSpPr>
        <p:spPr>
          <a:xfrm>
            <a:off x="749808" y="4956048"/>
            <a:ext cx="137160" cy="137160"/>
          </a:xfrm>
          <a:prstGeom prst="ellipse">
            <a:avLst/>
          </a:prstGeom>
          <a:solidFill>
            <a:srgbClr val="8A5A12"/>
          </a:solidFill>
          <a:ln/>
        </p:spPr>
      </p:sp>
      <p:sp>
        <p:nvSpPr>
          <p:cNvPr id="17" name="Text 15"/>
          <p:cNvSpPr txBox="1"/>
          <p:nvPr/>
        </p:nvSpPr>
        <p:spPr>
          <a:xfrm>
            <a:off x="1024128" y="489204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SMOTE not measured</a:t>
            </a:r>
            <a:endParaRPr lang="en-US" sz="1300" dirty="0"/>
          </a:p>
        </p:txBody>
      </p:sp>
      <p:sp>
        <p:nvSpPr>
          <p:cNvPr id="18" name="Text 16"/>
          <p:cNvSpPr txBox="1"/>
          <p:nvPr/>
        </p:nvSpPr>
        <p:spPr>
          <a:xfrm>
            <a:off x="1024128" y="518464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Not among the baselines of the final grid.</a:t>
            </a:r>
            <a:endParaRPr lang="en-US" sz="1150" dirty="0"/>
          </a:p>
        </p:txBody>
      </p:sp>
      <p:sp>
        <p:nvSpPr>
          <p:cNvPr id="19" name="Shape 17"/>
          <p:cNvSpPr/>
          <p:nvPr/>
        </p:nvSpPr>
        <p:spPr>
          <a:xfrm>
            <a:off x="6263640" y="1234440"/>
            <a:ext cx="5394960" cy="457200"/>
          </a:xfrm>
          <a:prstGeom prst="roundRect">
            <a:avLst>
              <a:gd name="adj" fmla="val 12000"/>
            </a:avLst>
          </a:prstGeom>
          <a:solidFill>
            <a:srgbClr val="F1F6F2"/>
          </a:solidFill>
          <a:ln/>
        </p:spPr>
      </p:sp>
      <p:sp>
        <p:nvSpPr>
          <p:cNvPr id="20" name="Text 18"/>
          <p:cNvSpPr txBox="1"/>
          <p:nvPr/>
        </p:nvSpPr>
        <p:spPr>
          <a:xfrm>
            <a:off x="6446520" y="1325880"/>
            <a:ext cx="5029200" cy="292608"/>
          </a:xfrm>
          <a:prstGeom prst="rect">
            <a:avLst/>
          </a:prstGeom>
          <a:noFill/>
          <a:ln/>
        </p:spPr>
        <p:txBody>
          <a:bodyPr wrap="square" lIns="0" tIns="0" rIns="0" bIns="0" rtlCol="0" anchor="ctr"/>
          <a:lstStyle/>
          <a:p>
            <a:pPr indent="0" marL="0">
              <a:buNone/>
            </a:pPr>
            <a:r>
              <a:rPr lang="en-US" sz="1600" b="1" dirty="0">
                <a:solidFill>
                  <a:srgbClr val="1F6F43"/>
                </a:solidFill>
                <a:latin typeface="Cambria" pitchFamily="34" charset="0"/>
                <a:ea typeface="Cambria" pitchFamily="34" charset="-122"/>
                <a:cs typeface="Cambria" pitchFamily="34" charset="-120"/>
              </a:rPr>
              <a:t>Future work</a:t>
            </a:r>
            <a:endParaRPr lang="en-US" sz="1600" dirty="0"/>
          </a:p>
        </p:txBody>
      </p:sp>
      <p:sp>
        <p:nvSpPr>
          <p:cNvPr id="21" name="Shape 19"/>
          <p:cNvSpPr/>
          <p:nvPr/>
        </p:nvSpPr>
        <p:spPr>
          <a:xfrm>
            <a:off x="6446520" y="1938528"/>
            <a:ext cx="137160" cy="137160"/>
          </a:xfrm>
          <a:prstGeom prst="ellipse">
            <a:avLst/>
          </a:prstGeom>
          <a:solidFill>
            <a:srgbClr val="1F6F43"/>
          </a:solidFill>
          <a:ln/>
        </p:spPr>
      </p:sp>
      <p:sp>
        <p:nvSpPr>
          <p:cNvPr id="22" name="Text 20"/>
          <p:cNvSpPr txBox="1"/>
          <p:nvPr/>
        </p:nvSpPr>
        <p:spPr>
          <a:xfrm>
            <a:off x="6720840" y="187452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Remove the box from inference</a:t>
            </a:r>
            <a:endParaRPr lang="en-US" sz="1300" dirty="0"/>
          </a:p>
        </p:txBody>
      </p:sp>
      <p:sp>
        <p:nvSpPr>
          <p:cNvPr id="23" name="Text 21"/>
          <p:cNvSpPr txBox="1"/>
          <p:nvPr/>
        </p:nvSpPr>
        <p:spPr>
          <a:xfrm>
            <a:off x="6720840" y="216712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Detection and grading end to end. In real use nobody draws the bounding box — drawing it is already the diagnosis.</a:t>
            </a:r>
            <a:endParaRPr lang="en-US" sz="1150" dirty="0"/>
          </a:p>
        </p:txBody>
      </p:sp>
      <p:sp>
        <p:nvSpPr>
          <p:cNvPr id="24" name="Shape 22"/>
          <p:cNvSpPr/>
          <p:nvPr/>
        </p:nvSpPr>
        <p:spPr>
          <a:xfrm>
            <a:off x="6446520" y="2944368"/>
            <a:ext cx="137160" cy="137160"/>
          </a:xfrm>
          <a:prstGeom prst="ellipse">
            <a:avLst/>
          </a:prstGeom>
          <a:solidFill>
            <a:srgbClr val="1F6F43"/>
          </a:solidFill>
          <a:ln/>
        </p:spPr>
      </p:sp>
      <p:sp>
        <p:nvSpPr>
          <p:cNvPr id="25" name="Text 23"/>
          <p:cNvSpPr txBox="1"/>
          <p:nvPr/>
        </p:nvSpPr>
        <p:spPr>
          <a:xfrm>
            <a:off x="6720840" y="288036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Per-token MIL as the default head</a:t>
            </a:r>
            <a:endParaRPr lang="en-US" sz="1300" dirty="0"/>
          </a:p>
        </p:txBody>
      </p:sp>
      <p:sp>
        <p:nvSpPr>
          <p:cNvPr id="26" name="Text 24"/>
          <p:cNvSpPr txBox="1"/>
          <p:nvPr/>
        </p:nvSpPr>
        <p:spPr>
          <a:xfrm>
            <a:off x="6720840" y="317296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It gives the largest margin we measured: +28.8 % on fixed count.</a:t>
            </a:r>
            <a:endParaRPr lang="en-US" sz="1150" dirty="0"/>
          </a:p>
        </p:txBody>
      </p:sp>
      <p:sp>
        <p:nvSpPr>
          <p:cNvPr id="27" name="Shape 25"/>
          <p:cNvSpPr/>
          <p:nvPr/>
        </p:nvSpPr>
        <p:spPr>
          <a:xfrm>
            <a:off x="6446520" y="3950208"/>
            <a:ext cx="137160" cy="137160"/>
          </a:xfrm>
          <a:prstGeom prst="ellipse">
            <a:avLst/>
          </a:prstGeom>
          <a:solidFill>
            <a:srgbClr val="1F6F43"/>
          </a:solidFill>
          <a:ln/>
        </p:spPr>
      </p:sp>
      <p:sp>
        <p:nvSpPr>
          <p:cNvPr id="28" name="Text 26"/>
          <p:cNvSpPr txBox="1"/>
          <p:nvPr/>
        </p:nvSpPr>
        <p:spPr>
          <a:xfrm>
            <a:off x="6720840" y="3886200"/>
            <a:ext cx="4754880" cy="292608"/>
          </a:xfrm>
          <a:prstGeom prst="rect">
            <a:avLst/>
          </a:prstGeom>
          <a:noFill/>
          <a:ln/>
        </p:spPr>
        <p:txBody>
          <a:bodyPr wrap="square" lIns="0" tIns="0" rIns="0" bIns="0" rtlCol="0" anchor="ctr"/>
          <a:lstStyle/>
          <a:p>
            <a:pPr indent="0" marL="0">
              <a:buNone/>
            </a:pPr>
            <a:r>
              <a:rPr lang="en-US" sz="1300" b="1" dirty="0">
                <a:solidFill>
                  <a:srgbClr val="111418"/>
                </a:solidFill>
                <a:latin typeface="Calibri" pitchFamily="34" charset="0"/>
                <a:ea typeface="Calibri" pitchFamily="34" charset="-122"/>
                <a:cs typeface="Calibri" pitchFamily="34" charset="-120"/>
              </a:rPr>
              <a:t>Explicit anti-collapse term</a:t>
            </a:r>
            <a:endParaRPr lang="en-US" sz="1300" dirty="0"/>
          </a:p>
        </p:txBody>
      </p:sp>
      <p:sp>
        <p:nvSpPr>
          <p:cNvPr id="29" name="Text 27"/>
          <p:cNvSpPr txBox="1"/>
          <p:nvPr/>
        </p:nvSpPr>
        <p:spPr>
          <a:xfrm>
            <a:off x="6720840" y="4178808"/>
            <a:ext cx="4754880" cy="548640"/>
          </a:xfrm>
          <a:prstGeom prst="rect">
            <a:avLst/>
          </a:prstGeom>
          <a:noFill/>
          <a:ln/>
        </p:spPr>
        <p:txBody>
          <a:bodyPr wrap="square" lIns="0" tIns="0" rIns="0" bIns="0" rtlCol="0" anchor="ctr"/>
          <a:lstStyle/>
          <a:p>
            <a:pPr indent="0" marL="0">
              <a:lnSpc>
                <a:spcPts val="1600"/>
              </a:lnSpc>
              <a:buNone/>
            </a:pPr>
            <a:r>
              <a:rPr lang="en-US" sz="1150" dirty="0">
                <a:solidFill>
                  <a:srgbClr val="58626C"/>
                </a:solidFill>
                <a:latin typeface="Calibri" pitchFamily="34" charset="0"/>
                <a:ea typeface="Calibri" pitchFamily="34" charset="-122"/>
                <a:cs typeface="Calibri" pitchFamily="34" charset="-120"/>
              </a:rPr>
              <a:t>Variance-covariance regularisation, instead of relying on the EMA alone.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9601200" cy="219456"/>
          </a:xfrm>
          <a:prstGeom prst="rect">
            <a:avLst/>
          </a:prstGeom>
          <a:noFill/>
          <a:ln/>
        </p:spPr>
        <p:txBody>
          <a:bodyPr wrap="square" lIns="0" tIns="0" rIns="0" bIns="0" rtlCol="0" anchor="ctr"/>
          <a:lstStyle/>
          <a:p>
            <a:pPr indent="0" marL="0">
              <a:buNone/>
            </a:pPr>
            <a:r>
              <a:rPr lang="en-US" sz="1050" b="1" spc="140" kern="0" dirty="0">
                <a:solidFill>
                  <a:srgbClr val="1C7293"/>
                </a:solidFill>
                <a:latin typeface="Calibri" pitchFamily="34" charset="0"/>
                <a:ea typeface="Calibri" pitchFamily="34" charset="-122"/>
                <a:cs typeface="Calibri" pitchFamily="34" charset="-120"/>
              </a:rPr>
              <a:t>WHERE WE DREW INSPIRATION FROM</a:t>
            </a:r>
            <a:endParaRPr lang="en-US" sz="1050" dirty="0"/>
          </a:p>
        </p:txBody>
      </p:sp>
      <p:sp>
        <p:nvSpPr>
          <p:cNvPr id="3" name="Text 1"/>
          <p:cNvSpPr txBox="1"/>
          <p:nvPr/>
        </p:nvSpPr>
        <p:spPr>
          <a:xfrm>
            <a:off x="566928" y="493776"/>
            <a:ext cx="11057839" cy="566928"/>
          </a:xfrm>
          <a:prstGeom prst="rect">
            <a:avLst/>
          </a:prstGeom>
          <a:noFill/>
          <a:ln/>
        </p:spPr>
        <p:txBody>
          <a:bodyPr wrap="square" lIns="0" tIns="0" rIns="0" bIns="0" rtlCol="0" anchor="ctr"/>
          <a:lstStyle/>
          <a:p>
            <a:pPr indent="0" marL="0">
              <a:buNone/>
            </a:pPr>
            <a:r>
              <a:rPr lang="en-US" sz="2700" b="1" dirty="0">
                <a:solidFill>
                  <a:srgbClr val="0B3C49"/>
                </a:solidFill>
                <a:latin typeface="Cambria" pitchFamily="34" charset="0"/>
                <a:ea typeface="Cambria" pitchFamily="34" charset="-122"/>
                <a:cs typeface="Cambria" pitchFamily="34" charset="-120"/>
              </a:rPr>
              <a:t>References</a:t>
            </a:r>
            <a:endParaRPr lang="en-US" sz="2700" dirty="0"/>
          </a:p>
        </p:txBody>
      </p:sp>
      <p:sp>
        <p:nvSpPr>
          <p:cNvPr id="4" name="Text 2"/>
          <p:cNvSpPr txBox="1"/>
          <p:nvPr/>
        </p:nvSpPr>
        <p:spPr>
          <a:xfrm>
            <a:off x="10618927" y="6400800"/>
            <a:ext cx="1005840" cy="237744"/>
          </a:xfrm>
          <a:prstGeom prst="rect">
            <a:avLst/>
          </a:prstGeom>
          <a:noFill/>
          <a:ln/>
        </p:spPr>
        <p:txBody>
          <a:bodyPr wrap="square" lIns="0" tIns="0" rIns="0" bIns="0" rtlCol="0" anchor="ctr"/>
          <a:lstStyle/>
          <a:p>
            <a:pPr algn="r" indent="0" marL="0">
              <a:buNone/>
            </a:pPr>
            <a:r>
              <a:rPr lang="en-US" sz="1050" dirty="0">
                <a:solidFill>
                  <a:srgbClr val="58626C"/>
                </a:solidFill>
                <a:latin typeface="Calibri" pitchFamily="34" charset="0"/>
                <a:ea typeface="Calibri" pitchFamily="34" charset="-122"/>
                <a:cs typeface="Calibri" pitchFamily="34" charset="-120"/>
              </a:rPr>
              <a:t>27 / 27</a:t>
            </a:r>
            <a:endParaRPr lang="en-US" sz="1050" dirty="0"/>
          </a:p>
        </p:txBody>
      </p:sp>
      <p:sp>
        <p:nvSpPr>
          <p:cNvPr id="5" name="Text 3"/>
          <p:cNvSpPr txBox="1"/>
          <p:nvPr/>
        </p:nvSpPr>
        <p:spPr>
          <a:xfrm>
            <a:off x="566928" y="1188720"/>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Assran, M.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Self-Supervised Learning from Images with a Joint-Embedding Predictive Architecture (I-JEPA). CVPR 2023.</a:t>
            </a:r>
            <a:endParaRPr lang="en-US" sz="1100" dirty="0"/>
          </a:p>
        </p:txBody>
      </p:sp>
      <p:sp>
        <p:nvSpPr>
          <p:cNvPr id="6" name="Text 4"/>
          <p:cNvSpPr txBox="1"/>
          <p:nvPr/>
        </p:nvSpPr>
        <p:spPr>
          <a:xfrm>
            <a:off x="8321040" y="1188720"/>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The architecture the assignment prescribes</a:t>
            </a:r>
            <a:endParaRPr lang="en-US" sz="1000" dirty="0"/>
          </a:p>
        </p:txBody>
      </p:sp>
      <p:sp>
        <p:nvSpPr>
          <p:cNvPr id="7" name="Text 5"/>
          <p:cNvSpPr txBox="1"/>
          <p:nvPr/>
        </p:nvSpPr>
        <p:spPr>
          <a:xfrm>
            <a:off x="566928" y="1764792"/>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Ilse, M., Tomczak, J., Welling, M.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Attention-based Deep Multiple Instance Learning. ICML 2018.</a:t>
            </a:r>
            <a:endParaRPr lang="en-US" sz="1100" dirty="0"/>
          </a:p>
        </p:txBody>
      </p:sp>
      <p:sp>
        <p:nvSpPr>
          <p:cNvPr id="8" name="Text 6"/>
          <p:cNvSpPr txBox="1"/>
          <p:nvPr/>
        </p:nvSpPr>
        <p:spPr>
          <a:xfrm>
            <a:off x="8321040" y="1764792"/>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MIL framing, attention pooling, bag-size bias</a:t>
            </a:r>
            <a:endParaRPr lang="en-US" sz="1000" dirty="0"/>
          </a:p>
        </p:txBody>
      </p:sp>
      <p:sp>
        <p:nvSpPr>
          <p:cNvPr id="9" name="Text 7"/>
          <p:cNvSpPr txBox="1"/>
          <p:nvPr/>
        </p:nvSpPr>
        <p:spPr>
          <a:xfrm>
            <a:off x="566928" y="2340864"/>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Do, H. V.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A Dataset of apical periodontitis lesions in panoramic radiographs. Data in Brief 54:110486, 2024.</a:t>
            </a:r>
            <a:endParaRPr lang="en-US" sz="1100" dirty="0"/>
          </a:p>
        </p:txBody>
      </p:sp>
      <p:sp>
        <p:nvSpPr>
          <p:cNvPr id="10" name="Text 8"/>
          <p:cNvSpPr txBox="1"/>
          <p:nvPr/>
        </p:nvSpPr>
        <p:spPr>
          <a:xfrm>
            <a:off x="8321040" y="2340864"/>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Dataset — Mendeley DOI 10.17632/kx52tk2ddj.3</a:t>
            </a:r>
            <a:endParaRPr lang="en-US" sz="1000" dirty="0"/>
          </a:p>
        </p:txBody>
      </p:sp>
      <p:sp>
        <p:nvSpPr>
          <p:cNvPr id="11" name="Text 9"/>
          <p:cNvSpPr txBox="1"/>
          <p:nvPr/>
        </p:nvSpPr>
        <p:spPr>
          <a:xfrm>
            <a:off x="566928" y="2916936"/>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He, K.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Masked Autoencoders Are Scalable Vision Learners. CVPR 2022.</a:t>
            </a:r>
            <a:endParaRPr lang="en-US" sz="1100" dirty="0"/>
          </a:p>
        </p:txBody>
      </p:sp>
      <p:sp>
        <p:nvSpPr>
          <p:cNvPr id="12" name="Text 10"/>
          <p:cNvSpPr txBox="1"/>
          <p:nvPr/>
        </p:nvSpPr>
        <p:spPr>
          <a:xfrm>
            <a:off x="8321040" y="2916936"/>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Pixel-reconstruction alternative we argue against</a:t>
            </a:r>
            <a:endParaRPr lang="en-US" sz="1000" dirty="0"/>
          </a:p>
        </p:txBody>
      </p:sp>
      <p:sp>
        <p:nvSpPr>
          <p:cNvPr id="13" name="Text 11"/>
          <p:cNvSpPr txBox="1"/>
          <p:nvPr/>
        </p:nvSpPr>
        <p:spPr>
          <a:xfrm>
            <a:off x="566928" y="3493008"/>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Grill, J.-B.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Bootstrap Your Own Latent (BYOL). NeurIPS 2020.</a:t>
            </a:r>
            <a:endParaRPr lang="en-US" sz="1100" dirty="0"/>
          </a:p>
        </p:txBody>
      </p:sp>
      <p:sp>
        <p:nvSpPr>
          <p:cNvPr id="14" name="Text 12"/>
          <p:cNvSpPr txBox="1"/>
          <p:nvPr/>
        </p:nvSpPr>
        <p:spPr>
          <a:xfrm>
            <a:off x="8321040" y="3493008"/>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EMA target networks and collapse avoidance</a:t>
            </a:r>
            <a:endParaRPr lang="en-US" sz="1000" dirty="0"/>
          </a:p>
        </p:txBody>
      </p:sp>
      <p:sp>
        <p:nvSpPr>
          <p:cNvPr id="15" name="Text 13"/>
          <p:cNvSpPr txBox="1"/>
          <p:nvPr/>
        </p:nvSpPr>
        <p:spPr>
          <a:xfrm>
            <a:off x="566928" y="4069080"/>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Lin, T.-Y.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Focal Loss for Dense Object Detection. ICCV 2017.</a:t>
            </a:r>
            <a:endParaRPr lang="en-US" sz="1100" dirty="0"/>
          </a:p>
        </p:txBody>
      </p:sp>
      <p:sp>
        <p:nvSpPr>
          <p:cNvPr id="16" name="Text 14"/>
          <p:cNvSpPr txBox="1"/>
          <p:nvPr/>
        </p:nvSpPr>
        <p:spPr>
          <a:xfrm>
            <a:off x="8321040" y="4069080"/>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Imbalance baseline</a:t>
            </a:r>
            <a:endParaRPr lang="en-US" sz="1000" dirty="0"/>
          </a:p>
        </p:txBody>
      </p:sp>
      <p:sp>
        <p:nvSpPr>
          <p:cNvPr id="17" name="Text 15"/>
          <p:cNvSpPr txBox="1"/>
          <p:nvPr/>
        </p:nvSpPr>
        <p:spPr>
          <a:xfrm>
            <a:off x="566928" y="4645152"/>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Chawla, N. V. et al.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SMOTE: Synthetic Minority Over-sampling Technique. JAIR 16, 2002.</a:t>
            </a:r>
            <a:endParaRPr lang="en-US" sz="1100" dirty="0"/>
          </a:p>
        </p:txBody>
      </p:sp>
      <p:sp>
        <p:nvSpPr>
          <p:cNvPr id="18" name="Text 16"/>
          <p:cNvSpPr txBox="1"/>
          <p:nvPr/>
        </p:nvSpPr>
        <p:spPr>
          <a:xfrm>
            <a:off x="8321040" y="4645152"/>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Imbalance baseline in feature space</a:t>
            </a:r>
            <a:endParaRPr lang="en-US" sz="1000" dirty="0"/>
          </a:p>
        </p:txBody>
      </p:sp>
      <p:sp>
        <p:nvSpPr>
          <p:cNvPr id="19" name="Text 17"/>
          <p:cNvSpPr txBox="1"/>
          <p:nvPr/>
        </p:nvSpPr>
        <p:spPr>
          <a:xfrm>
            <a:off x="566928" y="5221224"/>
            <a:ext cx="7589520" cy="402336"/>
          </a:xfrm>
          <a:prstGeom prst="rect">
            <a:avLst/>
          </a:prstGeom>
          <a:noFill/>
          <a:ln/>
        </p:spPr>
        <p:txBody>
          <a:bodyPr wrap="square" lIns="0" tIns="0" rIns="0" bIns="0" rtlCol="0" anchor="ctr"/>
          <a:lstStyle/>
          <a:p>
            <a:pPr indent="0" marL="0">
              <a:lnSpc>
                <a:spcPts val="1400"/>
              </a:lnSpc>
              <a:buNone/>
            </a:pPr>
            <a:r>
              <a:rPr lang="en-US" sz="1100" b="1" dirty="0">
                <a:solidFill>
                  <a:srgbClr val="0B3C49"/>
                </a:solidFill>
                <a:latin typeface="Calibri" pitchFamily="34" charset="0"/>
                <a:ea typeface="Calibri" pitchFamily="34" charset="-122"/>
                <a:cs typeface="Calibri" pitchFamily="34" charset="-120"/>
              </a:rPr>
              <a:t>Saito, T., Rehmsmeier, M.  </a:t>
            </a:r>
            <a:pPr indent="0" marL="0">
              <a:lnSpc>
                <a:spcPts val="1400"/>
              </a:lnSpc>
              <a:buNone/>
            </a:pPr>
            <a:r>
              <a:rPr lang="en-US" sz="1100" dirty="0">
                <a:solidFill>
                  <a:srgbClr val="111418"/>
                </a:solidFill>
                <a:latin typeface="Calibri" pitchFamily="34" charset="0"/>
                <a:ea typeface="Calibri" pitchFamily="34" charset="-122"/>
                <a:cs typeface="Calibri" pitchFamily="34" charset="-120"/>
              </a:rPr>
              <a:t>The precision-recall plot is more informative than the ROC plot on imbalanced datasets. PLoS ONE 10(3), 2015.</a:t>
            </a:r>
            <a:endParaRPr lang="en-US" sz="1100" dirty="0"/>
          </a:p>
        </p:txBody>
      </p:sp>
      <p:sp>
        <p:nvSpPr>
          <p:cNvPr id="20" name="Text 18"/>
          <p:cNvSpPr txBox="1"/>
          <p:nvPr/>
        </p:nvSpPr>
        <p:spPr>
          <a:xfrm>
            <a:off x="8321040" y="5221224"/>
            <a:ext cx="3310128" cy="402336"/>
          </a:xfrm>
          <a:prstGeom prst="rect">
            <a:avLst/>
          </a:prstGeom>
          <a:noFill/>
          <a:ln/>
        </p:spPr>
        <p:txBody>
          <a:bodyPr wrap="square" lIns="0" tIns="0" rIns="0" bIns="0" rtlCol="0" anchor="ctr"/>
          <a:lstStyle/>
          <a:p>
            <a:pPr indent="0" marL="0">
              <a:lnSpc>
                <a:spcPts val="1300"/>
              </a:lnSpc>
              <a:buNone/>
            </a:pPr>
            <a:r>
              <a:rPr lang="en-US" sz="1000" i="1" dirty="0">
                <a:solidFill>
                  <a:srgbClr val="58626C"/>
                </a:solidFill>
                <a:latin typeface="Calibri" pitchFamily="34" charset="0"/>
                <a:ea typeface="Calibri" pitchFamily="34" charset="-122"/>
                <a:cs typeface="Calibri" pitchFamily="34" charset="-120"/>
              </a:rPr>
              <a:t>Justifies PR-AUC as the primary metric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Self-Supervised Latent Representations for Imbalanced Apical Periodontitis Grading</dc:title>
  <dc:subject>PptxGenJS Presentation</dc:subject>
  <dc:creator>Progetto 8 - Computer Vision 2025-2026</dc:creator>
  <cp:lastModifiedBy>Progetto 8 - Computer Vision 2025-2026</cp:lastModifiedBy>
  <cp:revision>1</cp:revision>
  <dcterms:created xsi:type="dcterms:W3CDTF">2026-09-02T12:46:49Z</dcterms:created>
  <dcterms:modified xsi:type="dcterms:W3CDTF">2026-09-02T12:46:49Z</dcterms:modified>
</cp:coreProperties>
</file>